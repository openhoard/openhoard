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OpenHoard is an open-source 'AI filesystem': a governed layer that indexes, tags, summarizes and access-controls files wherever they live, and exposes them to any AI assistant over MCP. This deck is for IT: what it is, how data flows, where things are stored, how security works, and where the project 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come from the sources cited on the slide (also in the project README). The point: files sprawl across SharePoint, Teams, OneDrive, Dropbox and shares; folders give each file one path that only the filer remembers; and access drifts. AI assistants make that drift visible and dangerous, which is why many security teams say no to connecting AI to company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OpenHoard doesn't replace SharePoint or your file servers. It sits over them as an index and control plane: it knows every file, its versions, tags, summary and who may see it. People reach files through the AI assistants they already use (over MCP, the open protocol for connecting tools to AI), and later a web app. Each assistant connects as the signed-in person, so it only ever sees that person's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connectors read sources through one versioned SDK. The sync runner schedules crawls, resumes from checkpoints, and refuses to mass-delete if a source suddenly looks empty (a common failure when a share unmounts). Everything that makes a trust decision lives in a small 'trusted core': catalog, blob store, enrichment jobs, the Cedar policy engine, search and audit. Plugins extend what OpenHoard can reach and understand, but never decide who gets access. Identity comes from your IdP.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file goes through the same pipeline. Sync uses delta queries after the first crawl. Ingest creates a new version only when content changes (checked by eTag and a BLAKE3 hash). Extraction runs in a restricted child process because document parsers are a classic attack surface. The injection screen catches files written to manipulate AI (e.g., 'ignore previous instructions'); flagged files are exposed to AI as metadata only. Summaries treat file text as untrusted data. Rules tag deterministically; AI tag suggestions that could loosen access go to a review inbox. Until all of that finishes, the new version is hidden: the system fails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places. Postgres is the brain: every file record, version, source pointer, tag, grant, AI summary card, extracted text (capped at 1 MiB by default), embedding vector, activity event and audit record, isolated per tenant by forced row-level security. The blob store holds bytes only when OpenHoard owns or copies a file; blobs are named by content hash, so duplicates cost nothing. For indexed sources like SharePoint, the file stays where it is and OpenHoard keeps a pointer. Zones decide which behavior applies; ingest modes are index, copy or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file, everything OpenHoard keeps about it. Versions point to content hashes. The source pointer records where it came from and the change tag used to detect edits. Content is the extracted text, the AI summary card and embeddings. Tags: exactly one 'home' tag (like a primary folder), trusted tags set by people or rules, and a pending AI suggestion (dashed) that has no effect on access until reviewed. Access comes from grants on tags plus per-tag AI exposure. History is the activity trail; every AI read is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Folders force one location per file and bury permissions in per-folder ACLs. Here, tags are the organizing unit and grants attach to tags, so permissions stay understandable: 'who can see this, and why' is answerable. AI and rules help tag, but AI suggestions are untrusted: they can only make access tighter until reviewed. Each tag sets a visibility level and an AI exposure level, and each AI client is approved by an admin with a trust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filtering happens inside the query, not after: candidates are chosen in SQL from what the person is allowed to see, then keyword (Postgres full-text) and vector (pgvector) channels are merged with reciprocal rank fusion and a recent-activity boost. Every result is then re-checked by the policy engine before it leaves. No LLM is called per search, so search cost is flat. The 312 ms figure is the vector-search benchmark at 1M versions; end-to-end latency on very large tenants (100k+ files) is still being tuned.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Highlights. Isolation is enforced by the database, not just the app. The policy engine (Cedar, from AWS) denies on any error. Offboarding: when SCIM deactivates a user, sessions and AI tokens stop working on the next request; we measured 3–60 ms. AI clients use OAuth 2.1 and need admin approval. Prompt injection is in the threat model from day one: the detector flagged 48 of 50 attack files with zero false positives on 20 benign ones. The design rule: text in a file can inform an agent, never authorize anything. Every PR also got an independent code review before merging.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everyday users OpenHoard is invisible: they ask Claude, ChatGPT or Copilot, which call OpenHoard's MCP tools. Tools return compact cards with hard token budgets; flagged files never get a clickable link; tag suggestions are rate-limited. Skills package common workflows like 'catch me up' and 'who can see this'. The chat on the left is illustrative, not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boring to operate. No containers anywhere: dev, CI and self-hosting all run native Node and Postgres; a single box can use embedded Postgres (PGlite). Installs via npm or an install script and runs as a service. Identity comes from your IdP; admins are granted through an IdP group. The AI model is pluggable, including fully local models via Ollama, and every tenant has a daily token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status: pre-alpha, but a lot of foundation is built and tested. 48 PRs are merged; each was reviewed by an independent reviewer before merge, and every review found and fixed real bugs. CI runs on all three operating systems. What's left for the first milestone is mostly live validation (a real Entra tenant, real AI clients through a public URL) plus SharePoint and the admin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 term: dogfood on local folders through Claude, then the SharePoint/OneDrive connector (index in place, import permissions as grants), then the admin console, a health report and a one-command install, which together complete milestone 1. Milestone 2 brings 'open in native app' through a small local agent, so 'open the Acme deck' launches PowerPoint on your machine. Later: compliance policy packs and hosted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a small pilot candidate (one team share, one assistant), and the questions your security review would raise; those shape the roadmap. The code is public on GitHub under Apache-2.0.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806440" y="1051560"/>
            <a:ext cx="2834640" cy="2834640"/>
          </a:xfrm>
          <a:prstGeom prst="rect">
            <a:avLst/>
          </a:prstGeom>
        </p:spPr>
      </p:pic>
      <p:sp>
        <p:nvSpPr>
          <p:cNvPr id="3" name="Text 0"/>
          <p:cNvSpPr txBox="1"/>
          <p:nvPr/>
        </p:nvSpPr>
        <p:spPr>
          <a:xfrm>
            <a:off x="457200" y="1005840"/>
            <a:ext cx="5120640" cy="274320"/>
          </a:xfrm>
          <a:prstGeom prst="rect">
            <a:avLst/>
          </a:prstGeom>
          <a:noFill/>
          <a:ln/>
        </p:spPr>
        <p:txBody>
          <a:bodyPr wrap="square" lIns="0" tIns="0" rIns="0" bIns="0" rtlCol="0" anchor="t"/>
          <a:lstStyle/>
          <a:p>
            <a:pPr indent="0" marL="0">
              <a:buNone/>
            </a:pPr>
            <a:r>
              <a:rPr lang="en-US" sz="1100" b="1" spc="400" kern="0" dirty="0">
                <a:solidFill>
                  <a:srgbClr val="F2A93B"/>
                </a:solidFill>
                <a:latin typeface="Calibri" pitchFamily="34" charset="0"/>
                <a:ea typeface="Calibri" pitchFamily="34" charset="-122"/>
                <a:cs typeface="Calibri" pitchFamily="34" charset="-120"/>
              </a:rPr>
              <a:t>OPENHOARD  ·  IT OVERVIEW</a:t>
            </a:r>
            <a:endParaRPr lang="en-US" sz="1100" dirty="0"/>
          </a:p>
        </p:txBody>
      </p:sp>
      <p:sp>
        <p:nvSpPr>
          <p:cNvPr id="4" name="Text 1"/>
          <p:cNvSpPr txBox="1"/>
          <p:nvPr/>
        </p:nvSpPr>
        <p:spPr>
          <a:xfrm>
            <a:off x="457200" y="1325880"/>
            <a:ext cx="5303520" cy="822960"/>
          </a:xfrm>
          <a:prstGeom prst="rect">
            <a:avLst/>
          </a:prstGeom>
          <a:noFill/>
          <a:ln/>
        </p:spPr>
        <p:txBody>
          <a:bodyPr wrap="square" lIns="0" tIns="0" rIns="0" bIns="0" rtlCol="0" anchor="t"/>
          <a:lstStyle/>
          <a:p>
            <a:pPr indent="0" marL="0">
              <a:buNone/>
            </a:pPr>
            <a:r>
              <a:rPr lang="en-US" sz="4400" b="1" dirty="0">
                <a:solidFill>
                  <a:srgbClr val="F5EEE3"/>
                </a:solidFill>
                <a:latin typeface="Cambria" pitchFamily="34" charset="0"/>
                <a:ea typeface="Cambria" pitchFamily="34" charset="-122"/>
                <a:cs typeface="Cambria" pitchFamily="34" charset="-120"/>
              </a:rPr>
              <a:t>The AI filesystem</a:t>
            </a:r>
            <a:endParaRPr lang="en-US" sz="4400" dirty="0"/>
          </a:p>
        </p:txBody>
      </p:sp>
      <p:sp>
        <p:nvSpPr>
          <p:cNvPr id="5" name="Text 2"/>
          <p:cNvSpPr txBox="1"/>
          <p:nvPr/>
        </p:nvSpPr>
        <p:spPr>
          <a:xfrm>
            <a:off x="457200" y="2148840"/>
            <a:ext cx="5303520" cy="457200"/>
          </a:xfrm>
          <a:prstGeom prst="rect">
            <a:avLst/>
          </a:prstGeom>
          <a:noFill/>
          <a:ln/>
        </p:spPr>
        <p:txBody>
          <a:bodyPr wrap="square" lIns="0" tIns="0" rIns="0" bIns="0" rtlCol="0" anchor="t"/>
          <a:lstStyle/>
          <a:p>
            <a:pPr indent="0" marL="0">
              <a:buNone/>
            </a:pPr>
            <a:r>
              <a:rPr lang="en-US" sz="2000" i="1" dirty="0">
                <a:solidFill>
                  <a:srgbClr val="F2A93B"/>
                </a:solidFill>
                <a:latin typeface="Cambria" pitchFamily="34" charset="0"/>
                <a:ea typeface="Cambria" pitchFamily="34" charset="-122"/>
                <a:cs typeface="Cambria" pitchFamily="34" charset="-120"/>
              </a:rPr>
              <a:t>Remembers everything. Guards it all.</a:t>
            </a:r>
            <a:endParaRPr lang="en-US" sz="2000" dirty="0"/>
          </a:p>
        </p:txBody>
      </p:sp>
      <p:sp>
        <p:nvSpPr>
          <p:cNvPr id="6" name="Text 3"/>
          <p:cNvSpPr txBox="1"/>
          <p:nvPr/>
        </p:nvSpPr>
        <p:spPr>
          <a:xfrm>
            <a:off x="457200" y="2743200"/>
            <a:ext cx="4937760" cy="914400"/>
          </a:xfrm>
          <a:prstGeom prst="rect">
            <a:avLst/>
          </a:prstGeom>
          <a:noFill/>
          <a:ln/>
        </p:spPr>
        <p:txBody>
          <a:bodyPr wrap="square" lIns="0" tIns="0" rIns="0" bIns="0" rtlCol="0" anchor="t"/>
          <a:lstStyle/>
          <a:p>
            <a:pPr indent="0" marL="0">
              <a:buNone/>
            </a:pPr>
            <a:r>
              <a:rPr lang="en-US" sz="1400" dirty="0">
                <a:solidFill>
                  <a:srgbClr val="B5A994"/>
                </a:solidFill>
                <a:latin typeface="Calibri" pitchFamily="34" charset="0"/>
                <a:ea typeface="Calibri" pitchFamily="34" charset="-122"/>
                <a:cs typeface="Calibri" pitchFamily="34" charset="-120"/>
              </a:rPr>
              <a:t>One governed index over SharePoint, file shares and cloud buckets, so people and their AI assistants find files by meaning, with permissions enforced on every request.</a:t>
            </a:r>
            <a:endParaRPr lang="en-US" sz="1400" dirty="0"/>
          </a:p>
        </p:txBody>
      </p:sp>
      <p:sp>
        <p:nvSpPr>
          <p:cNvPr id="7" name="Text 4"/>
          <p:cNvSpPr txBox="1"/>
          <p:nvPr/>
        </p:nvSpPr>
        <p:spPr>
          <a:xfrm>
            <a:off x="457200" y="4434840"/>
            <a:ext cx="5486400" cy="274320"/>
          </a:xfrm>
          <a:prstGeom prst="rect">
            <a:avLst/>
          </a:prstGeom>
          <a:noFill/>
          <a:ln/>
        </p:spPr>
        <p:txBody>
          <a:bodyPr wrap="square" lIns="0" tIns="0" rIns="0" bIns="0" rtlCol="0" anchor="t"/>
          <a:lstStyle/>
          <a:p>
            <a:pPr indent="0" marL="0">
              <a:buNone/>
            </a:pPr>
            <a:r>
              <a:rPr lang="en-US" sz="1000" dirty="0">
                <a:solidFill>
                  <a:srgbClr val="B5A994"/>
                </a:solidFill>
                <a:latin typeface="Calibri" pitchFamily="34" charset="0"/>
                <a:ea typeface="Calibri" pitchFamily="34" charset="-122"/>
                <a:cs typeface="Calibri" pitchFamily="34" charset="-120"/>
              </a:rPr>
              <a:t>Open source (Apache-2.0)  ·  Self-hosted  ·  Pre-alpha  ·  September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5110D"/>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indent="0" marL="0">
              <a:buNone/>
            </a:pPr>
            <a:r>
              <a:rPr lang="en-US" sz="1000" b="1" spc="400" kern="0" dirty="0">
                <a:solidFill>
                  <a:srgbClr val="F2A93B"/>
                </a:solidFill>
                <a:latin typeface="Calibri" pitchFamily="34" charset="0"/>
                <a:ea typeface="Calibri" pitchFamily="34" charset="-122"/>
                <a:cs typeface="Calibri" pitchFamily="34" charset="-120"/>
              </a:rPr>
              <a:t>THE PROBLEM</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800" b="1" dirty="0">
                <a:solidFill>
                  <a:srgbClr val="F5EEE3"/>
                </a:solidFill>
                <a:latin typeface="Cambria" pitchFamily="34" charset="0"/>
                <a:ea typeface="Cambria" pitchFamily="34" charset="-122"/>
                <a:cs typeface="Cambria" pitchFamily="34" charset="-120"/>
              </a:rPr>
              <a:t>Folders were built for filing cabinets</a:t>
            </a:r>
            <a:endParaRPr lang="en-US" sz="2800" dirty="0"/>
          </a:p>
        </p:txBody>
      </p:sp>
      <p:sp>
        <p:nvSpPr>
          <p:cNvPr id="4" name="Shape 2"/>
          <p:cNvSpPr/>
          <p:nvPr/>
        </p:nvSpPr>
        <p:spPr>
          <a:xfrm>
            <a:off x="457200" y="1325880"/>
            <a:ext cx="2651760" cy="2057400"/>
          </a:xfrm>
          <a:prstGeom prst="roundRect">
            <a:avLst>
              <a:gd name="adj" fmla="val 3556"/>
            </a:avLst>
          </a:prstGeom>
          <a:solidFill>
            <a:srgbClr val="221B14"/>
          </a:solidFill>
          <a:ln w="9525">
            <a:solidFill>
              <a:srgbClr val="4A3C2C"/>
            </a:solidFill>
            <a:prstDash val="solid"/>
          </a:ln>
        </p:spPr>
      </p:sp>
      <p:sp>
        <p:nvSpPr>
          <p:cNvPr id="5" name="Text 3"/>
          <p:cNvSpPr txBox="1"/>
          <p:nvPr/>
        </p:nvSpPr>
        <p:spPr>
          <a:xfrm>
            <a:off x="685800" y="1463040"/>
            <a:ext cx="2194560" cy="777240"/>
          </a:xfrm>
          <a:prstGeom prst="rect">
            <a:avLst/>
          </a:prstGeom>
          <a:noFill/>
          <a:ln/>
        </p:spPr>
        <p:txBody>
          <a:bodyPr wrap="square" lIns="0" tIns="0" rIns="0" bIns="0" rtlCol="0" anchor="t"/>
          <a:lstStyle/>
          <a:p>
            <a:pPr indent="0" marL="0">
              <a:buNone/>
            </a:pPr>
            <a:r>
              <a:rPr lang="en-US" sz="4800" b="1" dirty="0">
                <a:solidFill>
                  <a:srgbClr val="F2A93B"/>
                </a:solidFill>
                <a:latin typeface="Cambria" pitchFamily="34" charset="0"/>
                <a:ea typeface="Cambria" pitchFamily="34" charset="-122"/>
                <a:cs typeface="Cambria" pitchFamily="34" charset="-120"/>
              </a:rPr>
              <a:t>54%</a:t>
            </a:r>
            <a:endParaRPr lang="en-US" sz="4800" dirty="0"/>
          </a:p>
        </p:txBody>
      </p:sp>
      <p:sp>
        <p:nvSpPr>
          <p:cNvPr id="6" name="Text 4"/>
          <p:cNvSpPr txBox="1"/>
          <p:nvPr/>
        </p:nvSpPr>
        <p:spPr>
          <a:xfrm>
            <a:off x="685800" y="2286000"/>
            <a:ext cx="2240280" cy="731520"/>
          </a:xfrm>
          <a:prstGeom prst="rect">
            <a:avLst/>
          </a:prstGeom>
          <a:noFill/>
          <a:ln/>
        </p:spPr>
        <p:txBody>
          <a:bodyPr wrap="square" lIns="0" tIns="0" rIns="0" bIns="0" rtlCol="0" anchor="t"/>
          <a:lstStyle/>
          <a:p>
            <a:pPr indent="0" marL="0">
              <a:buNone/>
            </a:pPr>
            <a:r>
              <a:rPr lang="en-US" sz="1250" dirty="0">
                <a:solidFill>
                  <a:srgbClr val="F5EEE3"/>
                </a:solidFill>
                <a:latin typeface="Calibri" pitchFamily="34" charset="0"/>
                <a:ea typeface="Calibri" pitchFamily="34" charset="-122"/>
                <a:cs typeface="Calibri" pitchFamily="34" charset="-120"/>
              </a:rPr>
              <a:t>of US office workers waste time searching for files in disorganized systems</a:t>
            </a:r>
            <a:endParaRPr lang="en-US" sz="1250" dirty="0"/>
          </a:p>
        </p:txBody>
      </p:sp>
      <p:sp>
        <p:nvSpPr>
          <p:cNvPr id="7" name="Text 5"/>
          <p:cNvSpPr txBox="1"/>
          <p:nvPr/>
        </p:nvSpPr>
        <p:spPr>
          <a:xfrm>
            <a:off x="685800" y="3063240"/>
            <a:ext cx="2240280" cy="201168"/>
          </a:xfrm>
          <a:prstGeom prst="rect">
            <a:avLst/>
          </a:prstGeom>
          <a:noFill/>
          <a:ln/>
        </p:spPr>
        <p:txBody>
          <a:bodyPr wrap="square" lIns="0" tIns="0" rIns="0" bIns="0" rtlCol="0" anchor="t"/>
          <a:lstStyle/>
          <a:p>
            <a:pPr indent="0" marL="0">
              <a:buNone/>
            </a:pPr>
            <a:r>
              <a:rPr lang="en-US" sz="900" i="1" dirty="0">
                <a:solidFill>
                  <a:srgbClr val="B5A994"/>
                </a:solidFill>
                <a:latin typeface="Calibri" pitchFamily="34" charset="0"/>
                <a:ea typeface="Calibri" pitchFamily="34" charset="-122"/>
                <a:cs typeface="Calibri" pitchFamily="34" charset="-120"/>
              </a:rPr>
              <a:t>Source: Elastic / Wakefield Research</a:t>
            </a:r>
            <a:endParaRPr lang="en-US" sz="900" dirty="0"/>
          </a:p>
        </p:txBody>
      </p:sp>
      <p:sp>
        <p:nvSpPr>
          <p:cNvPr id="8" name="Shape 6"/>
          <p:cNvSpPr/>
          <p:nvPr/>
        </p:nvSpPr>
        <p:spPr>
          <a:xfrm>
            <a:off x="3291840" y="1325880"/>
            <a:ext cx="2651760" cy="2057400"/>
          </a:xfrm>
          <a:prstGeom prst="roundRect">
            <a:avLst>
              <a:gd name="adj" fmla="val 3556"/>
            </a:avLst>
          </a:prstGeom>
          <a:solidFill>
            <a:srgbClr val="221B14"/>
          </a:solidFill>
          <a:ln w="9525">
            <a:solidFill>
              <a:srgbClr val="4A3C2C"/>
            </a:solidFill>
            <a:prstDash val="solid"/>
          </a:ln>
        </p:spPr>
      </p:sp>
      <p:sp>
        <p:nvSpPr>
          <p:cNvPr id="9" name="Text 7"/>
          <p:cNvSpPr txBox="1"/>
          <p:nvPr/>
        </p:nvSpPr>
        <p:spPr>
          <a:xfrm>
            <a:off x="3520440" y="1463040"/>
            <a:ext cx="2194560" cy="777240"/>
          </a:xfrm>
          <a:prstGeom prst="rect">
            <a:avLst/>
          </a:prstGeom>
          <a:noFill/>
          <a:ln/>
        </p:spPr>
        <p:txBody>
          <a:bodyPr wrap="square" lIns="0" tIns="0" rIns="0" bIns="0" rtlCol="0" anchor="t"/>
          <a:lstStyle/>
          <a:p>
            <a:pPr indent="0" marL="0">
              <a:buNone/>
            </a:pPr>
            <a:r>
              <a:rPr lang="en-US" sz="4800" b="1" dirty="0">
                <a:solidFill>
                  <a:srgbClr val="F2A93B"/>
                </a:solidFill>
                <a:latin typeface="Cambria" pitchFamily="34" charset="0"/>
                <a:ea typeface="Cambria" pitchFamily="34" charset="-122"/>
                <a:cs typeface="Cambria" pitchFamily="34" charset="-120"/>
              </a:rPr>
              <a:t>77%</a:t>
            </a:r>
            <a:endParaRPr lang="en-US" sz="4800" dirty="0"/>
          </a:p>
        </p:txBody>
      </p:sp>
      <p:sp>
        <p:nvSpPr>
          <p:cNvPr id="10" name="Text 8"/>
          <p:cNvSpPr txBox="1"/>
          <p:nvPr/>
        </p:nvSpPr>
        <p:spPr>
          <a:xfrm>
            <a:off x="3520440" y="2286000"/>
            <a:ext cx="2240280" cy="731520"/>
          </a:xfrm>
          <a:prstGeom prst="rect">
            <a:avLst/>
          </a:prstGeom>
          <a:noFill/>
          <a:ln/>
        </p:spPr>
        <p:txBody>
          <a:bodyPr wrap="square" lIns="0" tIns="0" rIns="0" bIns="0" rtlCol="0" anchor="t"/>
          <a:lstStyle/>
          <a:p>
            <a:pPr indent="0" marL="0">
              <a:buNone/>
            </a:pPr>
            <a:r>
              <a:rPr lang="en-US" sz="1250" dirty="0">
                <a:solidFill>
                  <a:srgbClr val="F5EEE3"/>
                </a:solidFill>
                <a:latin typeface="Calibri" pitchFamily="34" charset="0"/>
                <a:ea typeface="Calibri" pitchFamily="34" charset="-122"/>
                <a:cs typeface="Calibri" pitchFamily="34" charset="-120"/>
              </a:rPr>
              <a:t>of organizations had a Microsoft 365 governance incident in the past year</a:t>
            </a:r>
            <a:endParaRPr lang="en-US" sz="1250" dirty="0"/>
          </a:p>
        </p:txBody>
      </p:sp>
      <p:sp>
        <p:nvSpPr>
          <p:cNvPr id="11" name="Text 9"/>
          <p:cNvSpPr txBox="1"/>
          <p:nvPr/>
        </p:nvSpPr>
        <p:spPr>
          <a:xfrm>
            <a:off x="3520440" y="3063240"/>
            <a:ext cx="2240280" cy="201168"/>
          </a:xfrm>
          <a:prstGeom prst="rect">
            <a:avLst/>
          </a:prstGeom>
          <a:noFill/>
          <a:ln/>
        </p:spPr>
        <p:txBody>
          <a:bodyPr wrap="square" lIns="0" tIns="0" rIns="0" bIns="0" rtlCol="0" anchor="t"/>
          <a:lstStyle/>
          <a:p>
            <a:pPr indent="0" marL="0">
              <a:buNone/>
            </a:pPr>
            <a:r>
              <a:rPr lang="en-US" sz="900" i="1" dirty="0">
                <a:solidFill>
                  <a:srgbClr val="B5A994"/>
                </a:solidFill>
                <a:latin typeface="Calibri" pitchFamily="34" charset="0"/>
                <a:ea typeface="Calibri" pitchFamily="34" charset="-122"/>
                <a:cs typeface="Calibri" pitchFamily="34" charset="-120"/>
              </a:rPr>
              <a:t>Source: ShareGate survey</a:t>
            </a:r>
            <a:endParaRPr lang="en-US" sz="900" dirty="0"/>
          </a:p>
        </p:txBody>
      </p:sp>
      <p:sp>
        <p:nvSpPr>
          <p:cNvPr id="12" name="Shape 10"/>
          <p:cNvSpPr/>
          <p:nvPr/>
        </p:nvSpPr>
        <p:spPr>
          <a:xfrm>
            <a:off x="6126480" y="1325880"/>
            <a:ext cx="2651760" cy="2057400"/>
          </a:xfrm>
          <a:prstGeom prst="roundRect">
            <a:avLst>
              <a:gd name="adj" fmla="val 3556"/>
            </a:avLst>
          </a:prstGeom>
          <a:solidFill>
            <a:srgbClr val="221B14"/>
          </a:solidFill>
          <a:ln w="9525">
            <a:solidFill>
              <a:srgbClr val="4A3C2C"/>
            </a:solidFill>
            <a:prstDash val="solid"/>
          </a:ln>
        </p:spPr>
      </p:sp>
      <p:sp>
        <p:nvSpPr>
          <p:cNvPr id="13" name="Text 11"/>
          <p:cNvSpPr txBox="1"/>
          <p:nvPr/>
        </p:nvSpPr>
        <p:spPr>
          <a:xfrm>
            <a:off x="6355080" y="1463040"/>
            <a:ext cx="2194560" cy="777240"/>
          </a:xfrm>
          <a:prstGeom prst="rect">
            <a:avLst/>
          </a:prstGeom>
          <a:noFill/>
          <a:ln/>
        </p:spPr>
        <p:txBody>
          <a:bodyPr wrap="square" lIns="0" tIns="0" rIns="0" bIns="0" rtlCol="0" anchor="t"/>
          <a:lstStyle/>
          <a:p>
            <a:pPr indent="0" marL="0">
              <a:buNone/>
            </a:pPr>
            <a:r>
              <a:rPr lang="en-US" sz="4800" b="1" dirty="0">
                <a:solidFill>
                  <a:srgbClr val="F2A93B"/>
                </a:solidFill>
                <a:latin typeface="Cambria" pitchFamily="34" charset="0"/>
                <a:ea typeface="Cambria" pitchFamily="34" charset="-122"/>
                <a:cs typeface="Cambria" pitchFamily="34" charset="-120"/>
              </a:rPr>
              <a:t>38%</a:t>
            </a:r>
            <a:endParaRPr lang="en-US" sz="4800" dirty="0"/>
          </a:p>
        </p:txBody>
      </p:sp>
      <p:sp>
        <p:nvSpPr>
          <p:cNvPr id="14" name="Text 12"/>
          <p:cNvSpPr txBox="1"/>
          <p:nvPr/>
        </p:nvSpPr>
        <p:spPr>
          <a:xfrm>
            <a:off x="6355080" y="2286000"/>
            <a:ext cx="2240280" cy="731520"/>
          </a:xfrm>
          <a:prstGeom prst="rect">
            <a:avLst/>
          </a:prstGeom>
          <a:noFill/>
          <a:ln/>
        </p:spPr>
        <p:txBody>
          <a:bodyPr wrap="square" lIns="0" tIns="0" rIns="0" bIns="0" rtlCol="0" anchor="t"/>
          <a:lstStyle/>
          <a:p>
            <a:pPr indent="0" marL="0">
              <a:buNone/>
            </a:pPr>
            <a:r>
              <a:rPr lang="en-US" sz="1250" dirty="0">
                <a:solidFill>
                  <a:srgbClr val="F5EEE3"/>
                </a:solidFill>
                <a:latin typeface="Calibri" pitchFamily="34" charset="0"/>
                <a:ea typeface="Calibri" pitchFamily="34" charset="-122"/>
                <a:cs typeface="Calibri" pitchFamily="34" charset="-120"/>
              </a:rPr>
              <a:t>had former employees or guests keep access they should have lost</a:t>
            </a:r>
            <a:endParaRPr lang="en-US" sz="1250" dirty="0"/>
          </a:p>
        </p:txBody>
      </p:sp>
      <p:sp>
        <p:nvSpPr>
          <p:cNvPr id="15" name="Text 13"/>
          <p:cNvSpPr txBox="1"/>
          <p:nvPr/>
        </p:nvSpPr>
        <p:spPr>
          <a:xfrm>
            <a:off x="6355080" y="3063240"/>
            <a:ext cx="2240280" cy="201168"/>
          </a:xfrm>
          <a:prstGeom prst="rect">
            <a:avLst/>
          </a:prstGeom>
          <a:noFill/>
          <a:ln/>
        </p:spPr>
        <p:txBody>
          <a:bodyPr wrap="square" lIns="0" tIns="0" rIns="0" bIns="0" rtlCol="0" anchor="t"/>
          <a:lstStyle/>
          <a:p>
            <a:pPr indent="0" marL="0">
              <a:buNone/>
            </a:pPr>
            <a:r>
              <a:rPr lang="en-US" sz="900" i="1" dirty="0">
                <a:solidFill>
                  <a:srgbClr val="B5A994"/>
                </a:solidFill>
                <a:latin typeface="Calibri" pitchFamily="34" charset="0"/>
                <a:ea typeface="Calibri" pitchFamily="34" charset="-122"/>
                <a:cs typeface="Calibri" pitchFamily="34" charset="-120"/>
              </a:rPr>
              <a:t>Source: ShareGate survey</a:t>
            </a:r>
            <a:endParaRPr lang="en-US" sz="900" dirty="0"/>
          </a:p>
        </p:txBody>
      </p:sp>
      <p:sp>
        <p:nvSpPr>
          <p:cNvPr id="16" name="Shape 14"/>
          <p:cNvSpPr/>
          <p:nvPr/>
        </p:nvSpPr>
        <p:spPr>
          <a:xfrm>
            <a:off x="457200" y="3611880"/>
            <a:ext cx="8321040" cy="914400"/>
          </a:xfrm>
          <a:prstGeom prst="roundRect">
            <a:avLst>
              <a:gd name="adj" fmla="val 8000"/>
            </a:avLst>
          </a:prstGeom>
          <a:solidFill>
            <a:srgbClr val="2D241B"/>
          </a:solidFill>
          <a:ln w="9525">
            <a:solidFill>
              <a:srgbClr val="B23A1F"/>
            </a:solidFill>
            <a:prstDash val="solid"/>
          </a:ln>
        </p:spPr>
      </p:sp>
      <p:pic>
        <p:nvPicPr>
          <p:cNvPr id="17" name="Image 0" descr="preencoded.png">    </p:cNvPr>
          <p:cNvPicPr>
            <a:picLocks noChangeAspect="1"/>
          </p:cNvPicPr>
          <p:nvPr/>
        </p:nvPicPr>
        <p:blipFill>
          <a:blip r:embed="rId1"/>
          <a:stretch>
            <a:fillRect/>
          </a:stretch>
        </p:blipFill>
        <p:spPr>
          <a:xfrm>
            <a:off x="658368" y="3767328"/>
            <a:ext cx="603504" cy="603504"/>
          </a:xfrm>
          <a:prstGeom prst="rect">
            <a:avLst/>
          </a:prstGeom>
        </p:spPr>
      </p:pic>
      <p:sp>
        <p:nvSpPr>
          <p:cNvPr id="18" name="Text 15"/>
          <p:cNvSpPr txBox="1"/>
          <p:nvPr/>
        </p:nvSpPr>
        <p:spPr>
          <a:xfrm>
            <a:off x="1463040" y="3749040"/>
            <a:ext cx="7132320" cy="274320"/>
          </a:xfrm>
          <a:prstGeom prst="rect">
            <a:avLst/>
          </a:prstGeom>
          <a:noFill/>
          <a:ln/>
        </p:spPr>
        <p:txBody>
          <a:bodyPr wrap="square" lIns="0" tIns="0" rIns="0" bIns="0" rtlCol="0" anchor="t"/>
          <a:lstStyle/>
          <a:p>
            <a:pPr indent="0" marL="0">
              <a:buNone/>
            </a:pPr>
            <a:r>
              <a:rPr lang="en-US" sz="1400" b="1" dirty="0">
                <a:solidFill>
                  <a:srgbClr val="E2603F"/>
                </a:solidFill>
                <a:latin typeface="Calibri" pitchFamily="34" charset="0"/>
                <a:ea typeface="Calibri" pitchFamily="34" charset="-122"/>
                <a:cs typeface="Calibri" pitchFamily="34" charset="-120"/>
              </a:rPr>
              <a:t>The AI multiplier</a:t>
            </a:r>
            <a:endParaRPr lang="en-US" sz="1400" dirty="0"/>
          </a:p>
        </p:txBody>
      </p:sp>
      <p:sp>
        <p:nvSpPr>
          <p:cNvPr id="19" name="Text 16"/>
          <p:cNvSpPr txBox="1"/>
          <p:nvPr/>
        </p:nvSpPr>
        <p:spPr>
          <a:xfrm>
            <a:off x="1463040" y="4023360"/>
            <a:ext cx="7132320" cy="457200"/>
          </a:xfrm>
          <a:prstGeom prst="rect">
            <a:avLst/>
          </a:prstGeom>
          <a:noFill/>
          <a:ln/>
        </p:spPr>
        <p:txBody>
          <a:bodyPr wrap="square" lIns="0" tIns="0" rIns="0" bIns="0" rtlCol="0" anchor="t"/>
          <a:lstStyle/>
          <a:p>
            <a:pPr indent="0" marL="0">
              <a:buNone/>
            </a:pPr>
            <a:r>
              <a:rPr lang="en-US" sz="1200" dirty="0">
                <a:solidFill>
                  <a:srgbClr val="F5EEE3"/>
                </a:solidFill>
                <a:latin typeface="Calibri" pitchFamily="34" charset="0"/>
                <a:ea typeface="Calibri" pitchFamily="34" charset="-122"/>
                <a:cs typeface="Calibri" pitchFamily="34" charset="-120"/>
              </a:rPr>
              <a:t>AI assistants read everything a user can access. Oversharing that used to be hidden is now one prompt away, so security teams block AI instead.</a:t>
            </a:r>
            <a:endParaRPr lang="en-US" sz="1200" dirty="0"/>
          </a:p>
        </p:txBody>
      </p:sp>
      <p:pic>
        <p:nvPicPr>
          <p:cNvPr id="20" name="Image 1" descr="preencoded.png">    </p:cNvPr>
          <p:cNvPicPr>
            <a:picLocks noChangeAspect="1"/>
          </p:cNvPicPr>
          <p:nvPr/>
        </p:nvPicPr>
        <p:blipFill>
          <a:blip r:embed="rId2"/>
          <a:stretch>
            <a:fillRect/>
          </a:stretch>
        </p:blipFill>
        <p:spPr>
          <a:xfrm>
            <a:off x="457200" y="4754880"/>
            <a:ext cx="182880" cy="182880"/>
          </a:xfrm>
          <a:prstGeom prst="rect">
            <a:avLst/>
          </a:prstGeom>
        </p:spPr>
      </p:pic>
      <p:sp>
        <p:nvSpPr>
          <p:cNvPr id="21" name="Text 17"/>
          <p:cNvSpPr txBox="1"/>
          <p:nvPr/>
        </p:nvSpPr>
        <p:spPr>
          <a:xfrm>
            <a:off x="694944" y="4754880"/>
            <a:ext cx="1828800" cy="182880"/>
          </a:xfrm>
          <a:prstGeom prst="rect">
            <a:avLst/>
          </a:prstGeom>
          <a:noFill/>
          <a:ln/>
        </p:spPr>
        <p:txBody>
          <a:bodyPr wrap="square" lIns="0" tIns="0" rIns="0" bIns="0" rtlCol="0" anchor="ctr"/>
          <a:lstStyle/>
          <a:p>
            <a:pPr indent="0" marL="0">
              <a:buNone/>
            </a:pPr>
            <a:r>
              <a:rPr lang="en-US" sz="900" dirty="0">
                <a:solidFill>
                  <a:srgbClr val="B5A994"/>
                </a:solidFill>
                <a:latin typeface="Calibri" pitchFamily="34" charset="0"/>
                <a:ea typeface="Calibri" pitchFamily="34" charset="-122"/>
                <a:cs typeface="Calibri" pitchFamily="34" charset="-120"/>
              </a:rPr>
              <a:t>OpenHoard</a:t>
            </a:r>
            <a:endParaRPr lang="en-US" sz="900" dirty="0"/>
          </a:p>
        </p:txBody>
      </p:sp>
      <p:sp>
        <p:nvSpPr>
          <p:cNvPr id="22" name="Text 18"/>
          <p:cNvSpPr txBox="1"/>
          <p:nvPr/>
        </p:nvSpPr>
        <p:spPr>
          <a:xfrm>
            <a:off x="7772400" y="4754880"/>
            <a:ext cx="914400" cy="182880"/>
          </a:xfrm>
          <a:prstGeom prst="rect">
            <a:avLst/>
          </a:prstGeom>
          <a:noFill/>
          <a:ln/>
        </p:spPr>
        <p:txBody>
          <a:bodyPr wrap="square" lIns="0" tIns="0" rIns="0" bIns="0" rtlCol="0" anchor="ctr"/>
          <a:lstStyle/>
          <a:p>
            <a:pPr algn="r" indent="0" marL="0">
              <a:buNone/>
            </a:pPr>
            <a:r>
              <a:rPr lang="en-US" sz="900" dirty="0">
                <a:solidFill>
                  <a:srgbClr val="B5A99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110D"/>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indent="0" marL="0">
              <a:buNone/>
            </a:pPr>
            <a:r>
              <a:rPr lang="en-US" sz="1000" b="1" spc="400" kern="0" dirty="0">
                <a:solidFill>
                  <a:srgbClr val="F2A93B"/>
                </a:solidFill>
                <a:latin typeface="Calibri" pitchFamily="34" charset="0"/>
                <a:ea typeface="Calibri" pitchFamily="34" charset="-122"/>
                <a:cs typeface="Calibri" pitchFamily="34" charset="-120"/>
              </a:rPr>
              <a:t>WHAT IT IS</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800" b="1" dirty="0">
                <a:solidFill>
                  <a:srgbClr val="F5EEE3"/>
                </a:solidFill>
                <a:latin typeface="Cambria" pitchFamily="34" charset="0"/>
                <a:ea typeface="Cambria" pitchFamily="34" charset="-122"/>
                <a:cs typeface="Cambria" pitchFamily="34" charset="-120"/>
              </a:rPr>
              <a:t>One governed layer over your existing storage</a:t>
            </a:r>
            <a:endParaRPr lang="en-US" sz="2800" dirty="0"/>
          </a:p>
        </p:txBody>
      </p:sp>
      <p:sp>
        <p:nvSpPr>
          <p:cNvPr id="4" name="Text 2"/>
          <p:cNvSpPr txBox="1"/>
          <p:nvPr/>
        </p:nvSpPr>
        <p:spPr>
          <a:xfrm>
            <a:off x="457200" y="1234440"/>
            <a:ext cx="2286000" cy="182880"/>
          </a:xfrm>
          <a:prstGeom prst="rect">
            <a:avLst/>
          </a:prstGeom>
          <a:noFill/>
          <a:ln/>
        </p:spPr>
        <p:txBody>
          <a:bodyPr wrap="square" lIns="0" tIns="0" rIns="0" bIns="0" rtlCol="0" anchor="t"/>
          <a:lstStyle/>
          <a:p>
            <a:pPr indent="0" marL="0">
              <a:buNone/>
            </a:pPr>
            <a:r>
              <a:rPr lang="en-US" sz="900" b="1" spc="200" kern="0" dirty="0">
                <a:solidFill>
                  <a:srgbClr val="B5A994"/>
                </a:solidFill>
                <a:latin typeface="Calibri" pitchFamily="34" charset="0"/>
                <a:ea typeface="Calibri" pitchFamily="34" charset="-122"/>
                <a:cs typeface="Calibri" pitchFamily="34" charset="-120"/>
              </a:rPr>
              <a:t>WHERE FILES LIVE</a:t>
            </a:r>
            <a:endParaRPr lang="en-US" sz="900" dirty="0"/>
          </a:p>
        </p:txBody>
      </p:sp>
      <p:sp>
        <p:nvSpPr>
          <p:cNvPr id="5" name="Text 3"/>
          <p:cNvSpPr txBox="1"/>
          <p:nvPr/>
        </p:nvSpPr>
        <p:spPr>
          <a:xfrm>
            <a:off x="6492240" y="1234440"/>
            <a:ext cx="2286000" cy="182880"/>
          </a:xfrm>
          <a:prstGeom prst="rect">
            <a:avLst/>
          </a:prstGeom>
          <a:noFill/>
          <a:ln/>
        </p:spPr>
        <p:txBody>
          <a:bodyPr wrap="square" lIns="0" tIns="0" rIns="0" bIns="0" rtlCol="0" anchor="t"/>
          <a:lstStyle/>
          <a:p>
            <a:pPr indent="0" marL="0">
              <a:buNone/>
            </a:pPr>
            <a:r>
              <a:rPr lang="en-US" sz="900" b="1" spc="200" kern="0" dirty="0">
                <a:solidFill>
                  <a:srgbClr val="B5A994"/>
                </a:solidFill>
                <a:latin typeface="Calibri" pitchFamily="34" charset="0"/>
                <a:ea typeface="Calibri" pitchFamily="34" charset="-122"/>
                <a:cs typeface="Calibri" pitchFamily="34" charset="-120"/>
              </a:rPr>
              <a:t>HOW PEOPLE REACH THEM</a:t>
            </a:r>
            <a:endParaRPr lang="en-US" sz="900" dirty="0"/>
          </a:p>
        </p:txBody>
      </p:sp>
      <p:sp>
        <p:nvSpPr>
          <p:cNvPr id="6" name="Shape 4"/>
          <p:cNvSpPr/>
          <p:nvPr/>
        </p:nvSpPr>
        <p:spPr>
          <a:xfrm>
            <a:off x="457200" y="1508760"/>
            <a:ext cx="2240280" cy="457200"/>
          </a:xfrm>
          <a:prstGeom prst="roundRect">
            <a:avLst>
              <a:gd name="adj" fmla="val 16000"/>
            </a:avLst>
          </a:prstGeom>
          <a:solidFill>
            <a:srgbClr val="2D241B"/>
          </a:solidFill>
          <a:ln w="9525">
            <a:solidFill>
              <a:srgbClr val="4A3C2C"/>
            </a:solidFill>
            <a:prstDash val="solid"/>
          </a:ln>
        </p:spPr>
      </p:sp>
      <p:pic>
        <p:nvPicPr>
          <p:cNvPr id="7" name="Image 0" descr="preencoded.png">    </p:cNvPr>
          <p:cNvPicPr>
            <a:picLocks noChangeAspect="1"/>
          </p:cNvPicPr>
          <p:nvPr/>
        </p:nvPicPr>
        <p:blipFill>
          <a:blip r:embed="rId1"/>
          <a:stretch>
            <a:fillRect/>
          </a:stretch>
        </p:blipFill>
        <p:spPr>
          <a:xfrm>
            <a:off x="530352" y="1572768"/>
            <a:ext cx="329184" cy="329184"/>
          </a:xfrm>
          <a:prstGeom prst="rect">
            <a:avLst/>
          </a:prstGeom>
        </p:spPr>
      </p:pic>
      <p:sp>
        <p:nvSpPr>
          <p:cNvPr id="8" name="Text 5"/>
          <p:cNvSpPr txBox="1"/>
          <p:nvPr/>
        </p:nvSpPr>
        <p:spPr>
          <a:xfrm>
            <a:off x="932688" y="1508760"/>
            <a:ext cx="1737360" cy="457200"/>
          </a:xfrm>
          <a:prstGeom prst="rect">
            <a:avLst/>
          </a:prstGeom>
          <a:noFill/>
          <a:ln/>
        </p:spPr>
        <p:txBody>
          <a:bodyPr wrap="square" lIns="0" tIns="0" rIns="0" bIns="0" rtlCol="0" anchor="ctr"/>
          <a:lstStyle/>
          <a:p>
            <a:pPr indent="0" marL="0">
              <a:buNone/>
            </a:pPr>
            <a:r>
              <a:rPr lang="en-US" sz="1100" dirty="0">
                <a:solidFill>
                  <a:srgbClr val="F5EEE3"/>
                </a:solidFill>
                <a:latin typeface="Calibri" pitchFamily="34" charset="0"/>
                <a:ea typeface="Calibri" pitchFamily="34" charset="-122"/>
                <a:cs typeface="Calibri" pitchFamily="34" charset="-120"/>
              </a:rPr>
              <a:t>SharePoint &amp; OneDrive</a:t>
            </a:r>
            <a:endParaRPr lang="en-US" sz="1100" dirty="0"/>
          </a:p>
        </p:txBody>
      </p:sp>
      <p:sp>
        <p:nvSpPr>
          <p:cNvPr id="9" name="Shape 6"/>
          <p:cNvSpPr/>
          <p:nvPr/>
        </p:nvSpPr>
        <p:spPr>
          <a:xfrm>
            <a:off x="2697480" y="1737360"/>
            <a:ext cx="1188720" cy="548640"/>
          </a:xfrm>
          <a:prstGeom prst="line">
            <a:avLst/>
          </a:prstGeom>
          <a:noFill/>
          <a:ln w="15875">
            <a:solidFill>
              <a:srgbClr val="F2A93B">
                <a:alpha val="60000"/>
              </a:srgbClr>
            </a:solidFill>
            <a:prstDash val="solid"/>
            <a:tailEnd type="triangle"/>
          </a:ln>
        </p:spPr>
      </p:sp>
      <p:sp>
        <p:nvSpPr>
          <p:cNvPr id="10" name="Shape 7"/>
          <p:cNvSpPr/>
          <p:nvPr/>
        </p:nvSpPr>
        <p:spPr>
          <a:xfrm>
            <a:off x="457200" y="2075688"/>
            <a:ext cx="2240280" cy="457200"/>
          </a:xfrm>
          <a:prstGeom prst="roundRect">
            <a:avLst>
              <a:gd name="adj" fmla="val 16000"/>
            </a:avLst>
          </a:prstGeom>
          <a:solidFill>
            <a:srgbClr val="2D241B"/>
          </a:solidFill>
          <a:ln w="9525">
            <a:solidFill>
              <a:srgbClr val="4A3C2C"/>
            </a:solidFill>
            <a:prstDash val="solid"/>
          </a:ln>
        </p:spPr>
      </p:sp>
      <p:pic>
        <p:nvPicPr>
          <p:cNvPr id="11" name="Image 1" descr="preencoded.png">    </p:cNvPr>
          <p:cNvPicPr>
            <a:picLocks noChangeAspect="1"/>
          </p:cNvPicPr>
          <p:nvPr/>
        </p:nvPicPr>
        <p:blipFill>
          <a:blip r:embed="rId2"/>
          <a:stretch>
            <a:fillRect/>
          </a:stretch>
        </p:blipFill>
        <p:spPr>
          <a:xfrm>
            <a:off x="530352" y="2139696"/>
            <a:ext cx="329184" cy="329184"/>
          </a:xfrm>
          <a:prstGeom prst="rect">
            <a:avLst/>
          </a:prstGeom>
        </p:spPr>
      </p:pic>
      <p:sp>
        <p:nvSpPr>
          <p:cNvPr id="12" name="Text 8"/>
          <p:cNvSpPr txBox="1"/>
          <p:nvPr/>
        </p:nvSpPr>
        <p:spPr>
          <a:xfrm>
            <a:off x="932688" y="2075688"/>
            <a:ext cx="1737360" cy="457200"/>
          </a:xfrm>
          <a:prstGeom prst="rect">
            <a:avLst/>
          </a:prstGeom>
          <a:noFill/>
          <a:ln/>
        </p:spPr>
        <p:txBody>
          <a:bodyPr wrap="square" lIns="0" tIns="0" rIns="0" bIns="0" rtlCol="0" anchor="ctr"/>
          <a:lstStyle/>
          <a:p>
            <a:pPr indent="0" marL="0">
              <a:buNone/>
            </a:pPr>
            <a:r>
              <a:rPr lang="en-US" sz="1100" dirty="0">
                <a:solidFill>
                  <a:srgbClr val="F5EEE3"/>
                </a:solidFill>
                <a:latin typeface="Calibri" pitchFamily="34" charset="0"/>
                <a:ea typeface="Calibri" pitchFamily="34" charset="-122"/>
                <a:cs typeface="Calibri" pitchFamily="34" charset="-120"/>
              </a:rPr>
              <a:t>File shares &amp; local folders</a:t>
            </a:r>
            <a:endParaRPr lang="en-US" sz="1100" dirty="0"/>
          </a:p>
        </p:txBody>
      </p:sp>
      <p:sp>
        <p:nvSpPr>
          <p:cNvPr id="13" name="Shape 9"/>
          <p:cNvSpPr/>
          <p:nvPr/>
        </p:nvSpPr>
        <p:spPr>
          <a:xfrm flipV="1">
            <a:off x="2697480" y="2286000"/>
            <a:ext cx="1188720" cy="18288"/>
          </a:xfrm>
          <a:prstGeom prst="line">
            <a:avLst/>
          </a:prstGeom>
          <a:noFill/>
          <a:ln w="15875">
            <a:solidFill>
              <a:srgbClr val="F2A93B">
                <a:alpha val="60000"/>
              </a:srgbClr>
            </a:solidFill>
            <a:prstDash val="solid"/>
            <a:tailEnd type="triangle"/>
          </a:ln>
        </p:spPr>
      </p:sp>
      <p:sp>
        <p:nvSpPr>
          <p:cNvPr id="14" name="Shape 10"/>
          <p:cNvSpPr/>
          <p:nvPr/>
        </p:nvSpPr>
        <p:spPr>
          <a:xfrm>
            <a:off x="457200" y="2642616"/>
            <a:ext cx="2240280" cy="457200"/>
          </a:xfrm>
          <a:prstGeom prst="roundRect">
            <a:avLst>
              <a:gd name="adj" fmla="val 16000"/>
            </a:avLst>
          </a:prstGeom>
          <a:solidFill>
            <a:srgbClr val="2D241B"/>
          </a:solidFill>
          <a:ln w="9525">
            <a:solidFill>
              <a:srgbClr val="4A3C2C"/>
            </a:solidFill>
            <a:prstDash val="solid"/>
          </a:ln>
        </p:spPr>
      </p:sp>
      <p:pic>
        <p:nvPicPr>
          <p:cNvPr id="15" name="Image 2" descr="preencoded.png">    </p:cNvPr>
          <p:cNvPicPr>
            <a:picLocks noChangeAspect="1"/>
          </p:cNvPicPr>
          <p:nvPr/>
        </p:nvPicPr>
        <p:blipFill>
          <a:blip r:embed="rId3"/>
          <a:stretch>
            <a:fillRect/>
          </a:stretch>
        </p:blipFill>
        <p:spPr>
          <a:xfrm>
            <a:off x="530352" y="2706624"/>
            <a:ext cx="329184" cy="329184"/>
          </a:xfrm>
          <a:prstGeom prst="rect">
            <a:avLst/>
          </a:prstGeom>
        </p:spPr>
      </p:pic>
      <p:sp>
        <p:nvSpPr>
          <p:cNvPr id="16" name="Text 11"/>
          <p:cNvSpPr txBox="1"/>
          <p:nvPr/>
        </p:nvSpPr>
        <p:spPr>
          <a:xfrm>
            <a:off x="932688" y="2642616"/>
            <a:ext cx="1737360" cy="457200"/>
          </a:xfrm>
          <a:prstGeom prst="rect">
            <a:avLst/>
          </a:prstGeom>
          <a:noFill/>
          <a:ln/>
        </p:spPr>
        <p:txBody>
          <a:bodyPr wrap="square" lIns="0" tIns="0" rIns="0" bIns="0" rtlCol="0" anchor="ctr"/>
          <a:lstStyle/>
          <a:p>
            <a:pPr indent="0" marL="0">
              <a:buNone/>
            </a:pPr>
            <a:r>
              <a:rPr lang="en-US" sz="1100" dirty="0">
                <a:solidFill>
                  <a:srgbClr val="F5EEE3"/>
                </a:solidFill>
                <a:latin typeface="Calibri" pitchFamily="34" charset="0"/>
                <a:ea typeface="Calibri" pitchFamily="34" charset="-122"/>
                <a:cs typeface="Calibri" pitchFamily="34" charset="-120"/>
              </a:rPr>
              <a:t>S3 &amp; Azure Blob buckets</a:t>
            </a:r>
            <a:endParaRPr lang="en-US" sz="1100" dirty="0"/>
          </a:p>
        </p:txBody>
      </p:sp>
      <p:sp>
        <p:nvSpPr>
          <p:cNvPr id="17" name="Shape 12"/>
          <p:cNvSpPr/>
          <p:nvPr/>
        </p:nvSpPr>
        <p:spPr>
          <a:xfrm flipV="1">
            <a:off x="2697480" y="2286000"/>
            <a:ext cx="1188720" cy="585216"/>
          </a:xfrm>
          <a:prstGeom prst="line">
            <a:avLst/>
          </a:prstGeom>
          <a:noFill/>
          <a:ln w="15875">
            <a:solidFill>
              <a:srgbClr val="F2A93B">
                <a:alpha val="60000"/>
              </a:srgbClr>
            </a:solidFill>
            <a:prstDash val="solid"/>
            <a:tailEnd type="triangle"/>
          </a:ln>
        </p:spPr>
      </p:sp>
      <p:sp>
        <p:nvSpPr>
          <p:cNvPr id="18" name="Shape 13"/>
          <p:cNvSpPr/>
          <p:nvPr/>
        </p:nvSpPr>
        <p:spPr>
          <a:xfrm>
            <a:off x="6492240" y="1463040"/>
            <a:ext cx="2240280" cy="384048"/>
          </a:xfrm>
          <a:prstGeom prst="roundRect">
            <a:avLst>
              <a:gd name="adj" fmla="val 19048"/>
            </a:avLst>
          </a:prstGeom>
          <a:solidFill>
            <a:srgbClr val="2D241B"/>
          </a:solidFill>
          <a:ln w="9525">
            <a:solidFill>
              <a:srgbClr val="4A3C2C"/>
            </a:solidFill>
            <a:prstDash val="solid"/>
          </a:ln>
        </p:spPr>
      </p:sp>
      <p:pic>
        <p:nvPicPr>
          <p:cNvPr id="19" name="Image 3" descr="preencoded.png">    </p:cNvPr>
          <p:cNvPicPr>
            <a:picLocks noChangeAspect="1"/>
          </p:cNvPicPr>
          <p:nvPr/>
        </p:nvPicPr>
        <p:blipFill>
          <a:blip r:embed="rId4"/>
          <a:stretch>
            <a:fillRect/>
          </a:stretch>
        </p:blipFill>
        <p:spPr>
          <a:xfrm>
            <a:off x="6556248" y="1508760"/>
            <a:ext cx="292608" cy="292608"/>
          </a:xfrm>
          <a:prstGeom prst="rect">
            <a:avLst/>
          </a:prstGeom>
        </p:spPr>
      </p:pic>
      <p:sp>
        <p:nvSpPr>
          <p:cNvPr id="20" name="Text 14"/>
          <p:cNvSpPr txBox="1"/>
          <p:nvPr/>
        </p:nvSpPr>
        <p:spPr>
          <a:xfrm>
            <a:off x="6912864" y="1463040"/>
            <a:ext cx="1783080" cy="384048"/>
          </a:xfrm>
          <a:prstGeom prst="rect">
            <a:avLst/>
          </a:prstGeom>
          <a:noFill/>
          <a:ln/>
        </p:spPr>
        <p:txBody>
          <a:bodyPr wrap="square" lIns="0" tIns="0" rIns="0" bIns="0" rtlCol="0" anchor="ctr"/>
          <a:lstStyle/>
          <a:p>
            <a:pPr indent="0" marL="0">
              <a:buNone/>
            </a:pPr>
            <a:r>
              <a:rPr lang="en-US" sz="1100" dirty="0">
                <a:solidFill>
                  <a:srgbClr val="F5EEE3"/>
                </a:solidFill>
                <a:latin typeface="Calibri" pitchFamily="34" charset="0"/>
                <a:ea typeface="Calibri" pitchFamily="34" charset="-122"/>
                <a:cs typeface="Calibri" pitchFamily="34" charset="-120"/>
              </a:rPr>
              <a:t>Claude</a:t>
            </a:r>
            <a:endParaRPr lang="en-US" sz="1100" dirty="0"/>
          </a:p>
        </p:txBody>
      </p:sp>
      <p:sp>
        <p:nvSpPr>
          <p:cNvPr id="21" name="Shape 15"/>
          <p:cNvSpPr/>
          <p:nvPr/>
        </p:nvSpPr>
        <p:spPr>
          <a:xfrm flipV="1">
            <a:off x="5257800" y="1655064"/>
            <a:ext cx="1234440" cy="630936"/>
          </a:xfrm>
          <a:prstGeom prst="line">
            <a:avLst/>
          </a:prstGeom>
          <a:noFill/>
          <a:ln w="15875">
            <a:solidFill>
              <a:srgbClr val="F2A93B">
                <a:alpha val="60000"/>
              </a:srgbClr>
            </a:solidFill>
            <a:prstDash val="solid"/>
            <a:tailEnd type="triangle"/>
          </a:ln>
        </p:spPr>
      </p:sp>
      <p:sp>
        <p:nvSpPr>
          <p:cNvPr id="22" name="Shape 16"/>
          <p:cNvSpPr/>
          <p:nvPr/>
        </p:nvSpPr>
        <p:spPr>
          <a:xfrm>
            <a:off x="6492240" y="1938528"/>
            <a:ext cx="2240280" cy="384048"/>
          </a:xfrm>
          <a:prstGeom prst="roundRect">
            <a:avLst>
              <a:gd name="adj" fmla="val 19048"/>
            </a:avLst>
          </a:prstGeom>
          <a:solidFill>
            <a:srgbClr val="2D241B"/>
          </a:solidFill>
          <a:ln w="9525">
            <a:solidFill>
              <a:srgbClr val="4A3C2C"/>
            </a:solidFill>
            <a:prstDash val="solid"/>
          </a:ln>
        </p:spPr>
      </p:sp>
      <p:pic>
        <p:nvPicPr>
          <p:cNvPr id="23" name="Image 4" descr="preencoded.png">    </p:cNvPr>
          <p:cNvPicPr>
            <a:picLocks noChangeAspect="1"/>
          </p:cNvPicPr>
          <p:nvPr/>
        </p:nvPicPr>
        <p:blipFill>
          <a:blip r:embed="rId5"/>
          <a:stretch>
            <a:fillRect/>
          </a:stretch>
        </p:blipFill>
        <p:spPr>
          <a:xfrm>
            <a:off x="6556248" y="1984248"/>
            <a:ext cx="292608" cy="292608"/>
          </a:xfrm>
          <a:prstGeom prst="rect">
            <a:avLst/>
          </a:prstGeom>
        </p:spPr>
      </p:pic>
      <p:sp>
        <p:nvSpPr>
          <p:cNvPr id="24" name="Text 17"/>
          <p:cNvSpPr txBox="1"/>
          <p:nvPr/>
        </p:nvSpPr>
        <p:spPr>
          <a:xfrm>
            <a:off x="6912864" y="1938528"/>
            <a:ext cx="1783080" cy="384048"/>
          </a:xfrm>
          <a:prstGeom prst="rect">
            <a:avLst/>
          </a:prstGeom>
          <a:noFill/>
          <a:ln/>
        </p:spPr>
        <p:txBody>
          <a:bodyPr wrap="square" lIns="0" tIns="0" rIns="0" bIns="0" rtlCol="0" anchor="ctr"/>
          <a:lstStyle/>
          <a:p>
            <a:pPr indent="0" marL="0">
              <a:buNone/>
            </a:pPr>
            <a:r>
              <a:rPr lang="en-US" sz="1100" dirty="0">
                <a:solidFill>
                  <a:srgbClr val="F5EEE3"/>
                </a:solidFill>
                <a:latin typeface="Calibri" pitchFamily="34" charset="0"/>
                <a:ea typeface="Calibri" pitchFamily="34" charset="-122"/>
                <a:cs typeface="Calibri" pitchFamily="34" charset="-120"/>
              </a:rPr>
              <a:t>ChatGPT</a:t>
            </a:r>
            <a:endParaRPr lang="en-US" sz="1100" dirty="0"/>
          </a:p>
        </p:txBody>
      </p:sp>
      <p:sp>
        <p:nvSpPr>
          <p:cNvPr id="25" name="Shape 18"/>
          <p:cNvSpPr/>
          <p:nvPr/>
        </p:nvSpPr>
        <p:spPr>
          <a:xfrm flipV="1">
            <a:off x="5257800" y="2130552"/>
            <a:ext cx="1234440" cy="155448"/>
          </a:xfrm>
          <a:prstGeom prst="line">
            <a:avLst/>
          </a:prstGeom>
          <a:noFill/>
          <a:ln w="15875">
            <a:solidFill>
              <a:srgbClr val="F2A93B">
                <a:alpha val="60000"/>
              </a:srgbClr>
            </a:solidFill>
            <a:prstDash val="solid"/>
            <a:tailEnd type="triangle"/>
          </a:ln>
        </p:spPr>
      </p:sp>
      <p:sp>
        <p:nvSpPr>
          <p:cNvPr id="26" name="Shape 19"/>
          <p:cNvSpPr/>
          <p:nvPr/>
        </p:nvSpPr>
        <p:spPr>
          <a:xfrm>
            <a:off x="6492240" y="2414016"/>
            <a:ext cx="2240280" cy="384048"/>
          </a:xfrm>
          <a:prstGeom prst="roundRect">
            <a:avLst>
              <a:gd name="adj" fmla="val 19048"/>
            </a:avLst>
          </a:prstGeom>
          <a:solidFill>
            <a:srgbClr val="2D241B"/>
          </a:solidFill>
          <a:ln w="9525">
            <a:solidFill>
              <a:srgbClr val="4A3C2C"/>
            </a:solidFill>
            <a:prstDash val="solid"/>
          </a:ln>
        </p:spPr>
      </p:sp>
      <p:pic>
        <p:nvPicPr>
          <p:cNvPr id="27" name="Image 5" descr="preencoded.png">    </p:cNvPr>
          <p:cNvPicPr>
            <a:picLocks noChangeAspect="1"/>
          </p:cNvPicPr>
          <p:nvPr/>
        </p:nvPicPr>
        <p:blipFill>
          <a:blip r:embed="rId6"/>
          <a:stretch>
            <a:fillRect/>
          </a:stretch>
        </p:blipFill>
        <p:spPr>
          <a:xfrm>
            <a:off x="6556248" y="2459736"/>
            <a:ext cx="292608" cy="292608"/>
          </a:xfrm>
          <a:prstGeom prst="rect">
            <a:avLst/>
          </a:prstGeom>
        </p:spPr>
      </p:pic>
      <p:sp>
        <p:nvSpPr>
          <p:cNvPr id="28" name="Text 20"/>
          <p:cNvSpPr txBox="1"/>
          <p:nvPr/>
        </p:nvSpPr>
        <p:spPr>
          <a:xfrm>
            <a:off x="6912864" y="2414016"/>
            <a:ext cx="1783080" cy="384048"/>
          </a:xfrm>
          <a:prstGeom prst="rect">
            <a:avLst/>
          </a:prstGeom>
          <a:noFill/>
          <a:ln/>
        </p:spPr>
        <p:txBody>
          <a:bodyPr wrap="square" lIns="0" tIns="0" rIns="0" bIns="0" rtlCol="0" anchor="ctr"/>
          <a:lstStyle/>
          <a:p>
            <a:pPr indent="0" marL="0">
              <a:buNone/>
            </a:pPr>
            <a:r>
              <a:rPr lang="en-US" sz="1100" dirty="0">
                <a:solidFill>
                  <a:srgbClr val="F5EEE3"/>
                </a:solidFill>
                <a:latin typeface="Calibri" pitchFamily="34" charset="0"/>
                <a:ea typeface="Calibri" pitchFamily="34" charset="-122"/>
                <a:cs typeface="Calibri" pitchFamily="34" charset="-120"/>
              </a:rPr>
              <a:t>Microsoft Copilot</a:t>
            </a:r>
            <a:endParaRPr lang="en-US" sz="1100" dirty="0"/>
          </a:p>
        </p:txBody>
      </p:sp>
      <p:sp>
        <p:nvSpPr>
          <p:cNvPr id="29" name="Shape 21"/>
          <p:cNvSpPr/>
          <p:nvPr/>
        </p:nvSpPr>
        <p:spPr>
          <a:xfrm>
            <a:off x="5257800" y="2286000"/>
            <a:ext cx="1234440" cy="320040"/>
          </a:xfrm>
          <a:prstGeom prst="line">
            <a:avLst/>
          </a:prstGeom>
          <a:noFill/>
          <a:ln w="15875">
            <a:solidFill>
              <a:srgbClr val="F2A93B">
                <a:alpha val="60000"/>
              </a:srgbClr>
            </a:solidFill>
            <a:prstDash val="solid"/>
            <a:tailEnd type="triangle"/>
          </a:ln>
        </p:spPr>
      </p:sp>
      <p:sp>
        <p:nvSpPr>
          <p:cNvPr id="30" name="Shape 22"/>
          <p:cNvSpPr/>
          <p:nvPr/>
        </p:nvSpPr>
        <p:spPr>
          <a:xfrm>
            <a:off x="6492240" y="2889504"/>
            <a:ext cx="2240280" cy="384048"/>
          </a:xfrm>
          <a:prstGeom prst="roundRect">
            <a:avLst>
              <a:gd name="adj" fmla="val 19048"/>
            </a:avLst>
          </a:prstGeom>
          <a:solidFill>
            <a:srgbClr val="2D241B"/>
          </a:solidFill>
          <a:ln w="9525">
            <a:solidFill>
              <a:srgbClr val="4A3C2C"/>
            </a:solidFill>
            <a:prstDash val="dash"/>
          </a:ln>
        </p:spPr>
      </p:sp>
      <p:pic>
        <p:nvPicPr>
          <p:cNvPr id="31" name="Image 6" descr="preencoded.png">    </p:cNvPr>
          <p:cNvPicPr>
            <a:picLocks noChangeAspect="1"/>
          </p:cNvPicPr>
          <p:nvPr/>
        </p:nvPicPr>
        <p:blipFill>
          <a:blip r:embed="rId7"/>
          <a:stretch>
            <a:fillRect/>
          </a:stretch>
        </p:blipFill>
        <p:spPr>
          <a:xfrm>
            <a:off x="6556248" y="2935224"/>
            <a:ext cx="292608" cy="292608"/>
          </a:xfrm>
          <a:prstGeom prst="rect">
            <a:avLst/>
          </a:prstGeom>
        </p:spPr>
      </p:pic>
      <p:sp>
        <p:nvSpPr>
          <p:cNvPr id="32" name="Text 23"/>
          <p:cNvSpPr txBox="1"/>
          <p:nvPr/>
        </p:nvSpPr>
        <p:spPr>
          <a:xfrm>
            <a:off x="6912864" y="2889504"/>
            <a:ext cx="1783080" cy="384048"/>
          </a:xfrm>
          <a:prstGeom prst="rect">
            <a:avLst/>
          </a:prstGeom>
          <a:noFill/>
          <a:ln/>
        </p:spPr>
        <p:txBody>
          <a:bodyPr wrap="square" lIns="0" tIns="0" rIns="0" bIns="0" rtlCol="0" anchor="ctr"/>
          <a:lstStyle/>
          <a:p>
            <a:pPr indent="0" marL="0">
              <a:buNone/>
            </a:pPr>
            <a:r>
              <a:rPr lang="en-US" sz="1100" dirty="0">
                <a:solidFill>
                  <a:srgbClr val="F5EEE3"/>
                </a:solidFill>
                <a:latin typeface="Calibri" pitchFamily="34" charset="0"/>
                <a:ea typeface="Calibri" pitchFamily="34" charset="-122"/>
                <a:cs typeface="Calibri" pitchFamily="34" charset="-120"/>
              </a:rPr>
              <a:t>Web app (planned)</a:t>
            </a:r>
            <a:endParaRPr lang="en-US" sz="1100" dirty="0"/>
          </a:p>
        </p:txBody>
      </p:sp>
      <p:sp>
        <p:nvSpPr>
          <p:cNvPr id="33" name="Shape 24"/>
          <p:cNvSpPr/>
          <p:nvPr/>
        </p:nvSpPr>
        <p:spPr>
          <a:xfrm>
            <a:off x="5257800" y="2286000"/>
            <a:ext cx="1234440" cy="795528"/>
          </a:xfrm>
          <a:prstGeom prst="line">
            <a:avLst/>
          </a:prstGeom>
          <a:noFill/>
          <a:ln w="15875">
            <a:solidFill>
              <a:srgbClr val="F2A93B">
                <a:alpha val="60000"/>
              </a:srgbClr>
            </a:solidFill>
            <a:prstDash val="solid"/>
            <a:tailEnd type="triangle"/>
          </a:ln>
        </p:spPr>
      </p:sp>
      <p:pic>
        <p:nvPicPr>
          <p:cNvPr id="34" name="Image 7" descr="preencoded.png">    </p:cNvPr>
          <p:cNvPicPr>
            <a:picLocks noChangeAspect="1"/>
          </p:cNvPicPr>
          <p:nvPr/>
        </p:nvPicPr>
        <p:blipFill>
          <a:blip r:embed="rId8"/>
          <a:stretch>
            <a:fillRect/>
          </a:stretch>
        </p:blipFill>
        <p:spPr>
          <a:xfrm>
            <a:off x="3840480" y="1463040"/>
            <a:ext cx="1463040" cy="1463040"/>
          </a:xfrm>
          <a:prstGeom prst="rect">
            <a:avLst/>
          </a:prstGeom>
        </p:spPr>
      </p:pic>
      <p:sp>
        <p:nvSpPr>
          <p:cNvPr id="35" name="Text 25"/>
          <p:cNvSpPr txBox="1"/>
          <p:nvPr/>
        </p:nvSpPr>
        <p:spPr>
          <a:xfrm>
            <a:off x="3200400" y="2926080"/>
            <a:ext cx="2743200" cy="274320"/>
          </a:xfrm>
          <a:prstGeom prst="rect">
            <a:avLst/>
          </a:prstGeom>
          <a:noFill/>
          <a:ln/>
        </p:spPr>
        <p:txBody>
          <a:bodyPr wrap="square" lIns="0" tIns="0" rIns="0" bIns="0" rtlCol="0" anchor="t"/>
          <a:lstStyle/>
          <a:p>
            <a:pPr algn="ctr" indent="0" marL="0">
              <a:buNone/>
            </a:pPr>
            <a:r>
              <a:rPr lang="en-US" sz="1600" b="1" dirty="0">
                <a:solidFill>
                  <a:srgbClr val="F5EEE3"/>
                </a:solidFill>
                <a:latin typeface="Cambria" pitchFamily="34" charset="0"/>
                <a:ea typeface="Cambria" pitchFamily="34" charset="-122"/>
                <a:cs typeface="Cambria" pitchFamily="34" charset="-120"/>
              </a:rPr>
              <a:t>OpenHoard</a:t>
            </a:r>
            <a:endParaRPr lang="en-US" sz="1600" dirty="0"/>
          </a:p>
        </p:txBody>
      </p:sp>
      <p:sp>
        <p:nvSpPr>
          <p:cNvPr id="36" name="Text 26"/>
          <p:cNvSpPr txBox="1"/>
          <p:nvPr/>
        </p:nvSpPr>
        <p:spPr>
          <a:xfrm>
            <a:off x="3200400" y="3200400"/>
            <a:ext cx="2743200" cy="228600"/>
          </a:xfrm>
          <a:prstGeom prst="rect">
            <a:avLst/>
          </a:prstGeom>
          <a:noFill/>
          <a:ln/>
        </p:spPr>
        <p:txBody>
          <a:bodyPr wrap="square" lIns="0" tIns="0" rIns="0" bIns="0" rtlCol="0" anchor="t"/>
          <a:lstStyle/>
          <a:p>
            <a:pPr algn="ctr" indent="0" marL="0">
              <a:buNone/>
            </a:pPr>
            <a:r>
              <a:rPr lang="en-US" sz="1050" dirty="0">
                <a:solidFill>
                  <a:srgbClr val="B5A994"/>
                </a:solidFill>
                <a:latin typeface="Calibri" pitchFamily="34" charset="0"/>
                <a:ea typeface="Calibri" pitchFamily="34" charset="-122"/>
                <a:cs typeface="Calibri" pitchFamily="34" charset="-120"/>
              </a:rPr>
              <a:t>index · tags · policy · search · audit</a:t>
            </a:r>
            <a:endParaRPr lang="en-US" sz="1050" dirty="0"/>
          </a:p>
        </p:txBody>
      </p:sp>
      <p:sp>
        <p:nvSpPr>
          <p:cNvPr id="37" name="Shape 27"/>
          <p:cNvSpPr/>
          <p:nvPr/>
        </p:nvSpPr>
        <p:spPr>
          <a:xfrm>
            <a:off x="457200" y="3657600"/>
            <a:ext cx="2697480" cy="914400"/>
          </a:xfrm>
          <a:prstGeom prst="roundRect">
            <a:avLst>
              <a:gd name="adj" fmla="val 8000"/>
            </a:avLst>
          </a:prstGeom>
          <a:solidFill>
            <a:srgbClr val="221B14"/>
          </a:solidFill>
          <a:ln w="9525">
            <a:solidFill>
              <a:srgbClr val="4A3C2C"/>
            </a:solidFill>
            <a:prstDash val="solid"/>
          </a:ln>
        </p:spPr>
      </p:sp>
      <p:sp>
        <p:nvSpPr>
          <p:cNvPr id="38" name="Text 28"/>
          <p:cNvSpPr txBox="1"/>
          <p:nvPr/>
        </p:nvSpPr>
        <p:spPr>
          <a:xfrm>
            <a:off x="621792" y="3749040"/>
            <a:ext cx="2377440" cy="256032"/>
          </a:xfrm>
          <a:prstGeom prst="rect">
            <a:avLst/>
          </a:prstGeom>
          <a:noFill/>
          <a:ln/>
        </p:spPr>
        <p:txBody>
          <a:bodyPr wrap="square" lIns="0" tIns="0" rIns="0" bIns="0" rtlCol="0" anchor="t"/>
          <a:lstStyle/>
          <a:p>
            <a:pPr indent="0" marL="0">
              <a:buNone/>
            </a:pPr>
            <a:r>
              <a:rPr lang="en-US" sz="1250" b="1" dirty="0">
                <a:solidFill>
                  <a:srgbClr val="F2A93B"/>
                </a:solidFill>
                <a:latin typeface="Calibri" pitchFamily="34" charset="0"/>
                <a:ea typeface="Calibri" pitchFamily="34" charset="-122"/>
                <a:cs typeface="Calibri" pitchFamily="34" charset="-120"/>
              </a:rPr>
              <a:t>Leave files in place</a:t>
            </a:r>
            <a:endParaRPr lang="en-US" sz="1250" dirty="0"/>
          </a:p>
        </p:txBody>
      </p:sp>
      <p:sp>
        <p:nvSpPr>
          <p:cNvPr id="39" name="Text 29"/>
          <p:cNvSpPr txBox="1"/>
          <p:nvPr/>
        </p:nvSpPr>
        <p:spPr>
          <a:xfrm>
            <a:off x="621792" y="4023360"/>
            <a:ext cx="2423160" cy="502920"/>
          </a:xfrm>
          <a:prstGeom prst="rect">
            <a:avLst/>
          </a:prstGeom>
          <a:noFill/>
          <a:ln/>
        </p:spPr>
        <p:txBody>
          <a:bodyPr wrap="square" lIns="0" tIns="0" rIns="0" bIns="0" rtlCol="0" anchor="t"/>
          <a:lstStyle/>
          <a:p>
            <a:pPr indent="0" marL="0">
              <a:buNone/>
            </a:pPr>
            <a:r>
              <a:rPr lang="en-US" sz="1050" dirty="0">
                <a:solidFill>
                  <a:srgbClr val="F5EEE3"/>
                </a:solidFill>
                <a:latin typeface="Calibri" pitchFamily="34" charset="0"/>
                <a:ea typeface="Calibri" pitchFamily="34" charset="-122"/>
                <a:cs typeface="Calibri" pitchFamily="34" charset="-120"/>
              </a:rPr>
              <a:t>Index SharePoint and shares where they are. Move files into buckets only when you're ready.</a:t>
            </a:r>
            <a:endParaRPr lang="en-US" sz="1050" dirty="0"/>
          </a:p>
        </p:txBody>
      </p:sp>
      <p:sp>
        <p:nvSpPr>
          <p:cNvPr id="40" name="Shape 30"/>
          <p:cNvSpPr/>
          <p:nvPr/>
        </p:nvSpPr>
        <p:spPr>
          <a:xfrm>
            <a:off x="3264408" y="3657600"/>
            <a:ext cx="2697480" cy="914400"/>
          </a:xfrm>
          <a:prstGeom prst="roundRect">
            <a:avLst>
              <a:gd name="adj" fmla="val 8000"/>
            </a:avLst>
          </a:prstGeom>
          <a:solidFill>
            <a:srgbClr val="221B14"/>
          </a:solidFill>
          <a:ln w="9525">
            <a:solidFill>
              <a:srgbClr val="4A3C2C"/>
            </a:solidFill>
            <a:prstDash val="solid"/>
          </a:ln>
        </p:spPr>
      </p:sp>
      <p:sp>
        <p:nvSpPr>
          <p:cNvPr id="41" name="Text 31"/>
          <p:cNvSpPr txBox="1"/>
          <p:nvPr/>
        </p:nvSpPr>
        <p:spPr>
          <a:xfrm>
            <a:off x="3429000" y="3749040"/>
            <a:ext cx="2377440" cy="256032"/>
          </a:xfrm>
          <a:prstGeom prst="rect">
            <a:avLst/>
          </a:prstGeom>
          <a:noFill/>
          <a:ln/>
        </p:spPr>
        <p:txBody>
          <a:bodyPr wrap="square" lIns="0" tIns="0" rIns="0" bIns="0" rtlCol="0" anchor="t"/>
          <a:lstStyle/>
          <a:p>
            <a:pPr indent="0" marL="0">
              <a:buNone/>
            </a:pPr>
            <a:r>
              <a:rPr lang="en-US" sz="1250" b="1" dirty="0">
                <a:solidFill>
                  <a:srgbClr val="F2A93B"/>
                </a:solidFill>
                <a:latin typeface="Calibri" pitchFamily="34" charset="0"/>
                <a:ea typeface="Calibri" pitchFamily="34" charset="-122"/>
                <a:cs typeface="Calibri" pitchFamily="34" charset="-120"/>
              </a:rPr>
              <a:t>Your identity, your rules</a:t>
            </a:r>
            <a:endParaRPr lang="en-US" sz="1250" dirty="0"/>
          </a:p>
        </p:txBody>
      </p:sp>
      <p:sp>
        <p:nvSpPr>
          <p:cNvPr id="42" name="Text 32"/>
          <p:cNvSpPr txBox="1"/>
          <p:nvPr/>
        </p:nvSpPr>
        <p:spPr>
          <a:xfrm>
            <a:off x="3429000" y="4023360"/>
            <a:ext cx="2423160" cy="502920"/>
          </a:xfrm>
          <a:prstGeom prst="rect">
            <a:avLst/>
          </a:prstGeom>
          <a:noFill/>
          <a:ln/>
        </p:spPr>
        <p:txBody>
          <a:bodyPr wrap="square" lIns="0" tIns="0" rIns="0" bIns="0" rtlCol="0" anchor="t"/>
          <a:lstStyle/>
          <a:p>
            <a:pPr indent="0" marL="0">
              <a:buNone/>
            </a:pPr>
            <a:r>
              <a:rPr lang="en-US" sz="1050" dirty="0">
                <a:solidFill>
                  <a:srgbClr val="F5EEE3"/>
                </a:solidFill>
                <a:latin typeface="Calibri" pitchFamily="34" charset="0"/>
                <a:ea typeface="Calibri" pitchFamily="34" charset="-122"/>
                <a:cs typeface="Calibri" pitchFamily="34" charset="-120"/>
              </a:rPr>
              <a:t>Entra ID / OIDC sign-in, SCIM groups, and access that follows tags.</a:t>
            </a:r>
            <a:endParaRPr lang="en-US" sz="1050" dirty="0"/>
          </a:p>
        </p:txBody>
      </p:sp>
      <p:sp>
        <p:nvSpPr>
          <p:cNvPr id="43" name="Shape 33"/>
          <p:cNvSpPr/>
          <p:nvPr/>
        </p:nvSpPr>
        <p:spPr>
          <a:xfrm>
            <a:off x="6071616" y="3657600"/>
            <a:ext cx="2697480" cy="914400"/>
          </a:xfrm>
          <a:prstGeom prst="roundRect">
            <a:avLst>
              <a:gd name="adj" fmla="val 8000"/>
            </a:avLst>
          </a:prstGeom>
          <a:solidFill>
            <a:srgbClr val="221B14"/>
          </a:solidFill>
          <a:ln w="9525">
            <a:solidFill>
              <a:srgbClr val="4A3C2C"/>
            </a:solidFill>
            <a:prstDash val="solid"/>
          </a:ln>
        </p:spPr>
      </p:sp>
      <p:sp>
        <p:nvSpPr>
          <p:cNvPr id="44" name="Text 34"/>
          <p:cNvSpPr txBox="1"/>
          <p:nvPr/>
        </p:nvSpPr>
        <p:spPr>
          <a:xfrm>
            <a:off x="6236208" y="3749040"/>
            <a:ext cx="2377440" cy="256032"/>
          </a:xfrm>
          <a:prstGeom prst="rect">
            <a:avLst/>
          </a:prstGeom>
          <a:noFill/>
          <a:ln/>
        </p:spPr>
        <p:txBody>
          <a:bodyPr wrap="square" lIns="0" tIns="0" rIns="0" bIns="0" rtlCol="0" anchor="t"/>
          <a:lstStyle/>
          <a:p>
            <a:pPr indent="0" marL="0">
              <a:buNone/>
            </a:pPr>
            <a:r>
              <a:rPr lang="en-US" sz="1250" b="1" dirty="0">
                <a:solidFill>
                  <a:srgbClr val="F2A93B"/>
                </a:solidFill>
                <a:latin typeface="Calibri" pitchFamily="34" charset="0"/>
                <a:ea typeface="Calibri" pitchFamily="34" charset="-122"/>
                <a:cs typeface="Calibri" pitchFamily="34" charset="-120"/>
              </a:rPr>
              <a:t>Bring any AI</a:t>
            </a:r>
            <a:endParaRPr lang="en-US" sz="1250" dirty="0"/>
          </a:p>
        </p:txBody>
      </p:sp>
      <p:sp>
        <p:nvSpPr>
          <p:cNvPr id="45" name="Text 35"/>
          <p:cNvSpPr txBox="1"/>
          <p:nvPr/>
        </p:nvSpPr>
        <p:spPr>
          <a:xfrm>
            <a:off x="6236208" y="4023360"/>
            <a:ext cx="2423160" cy="502920"/>
          </a:xfrm>
          <a:prstGeom prst="rect">
            <a:avLst/>
          </a:prstGeom>
          <a:noFill/>
          <a:ln/>
        </p:spPr>
        <p:txBody>
          <a:bodyPr wrap="square" lIns="0" tIns="0" rIns="0" bIns="0" rtlCol="0" anchor="t"/>
          <a:lstStyle/>
          <a:p>
            <a:pPr indent="0" marL="0">
              <a:buNone/>
            </a:pPr>
            <a:r>
              <a:rPr lang="en-US" sz="1050" dirty="0">
                <a:solidFill>
                  <a:srgbClr val="F5EEE3"/>
                </a:solidFill>
                <a:latin typeface="Calibri" pitchFamily="34" charset="0"/>
                <a:ea typeface="Calibri" pitchFamily="34" charset="-122"/>
                <a:cs typeface="Calibri" pitchFamily="34" charset="-120"/>
              </a:rPr>
              <a:t>No custom model or agent. Any assistant that speaks MCP connects as the signed-in person.</a:t>
            </a:r>
            <a:endParaRPr lang="en-US" sz="1050" dirty="0"/>
          </a:p>
        </p:txBody>
      </p:sp>
      <p:pic>
        <p:nvPicPr>
          <p:cNvPr id="46" name="Image 8" descr="preencoded.png">    </p:cNvPr>
          <p:cNvPicPr>
            <a:picLocks noChangeAspect="1"/>
          </p:cNvPicPr>
          <p:nvPr/>
        </p:nvPicPr>
        <p:blipFill>
          <a:blip r:embed="rId9"/>
          <a:stretch>
            <a:fillRect/>
          </a:stretch>
        </p:blipFill>
        <p:spPr>
          <a:xfrm>
            <a:off x="457200" y="4754880"/>
            <a:ext cx="182880" cy="182880"/>
          </a:xfrm>
          <a:prstGeom prst="rect">
            <a:avLst/>
          </a:prstGeom>
        </p:spPr>
      </p:pic>
      <p:sp>
        <p:nvSpPr>
          <p:cNvPr id="47" name="Text 36"/>
          <p:cNvSpPr txBox="1"/>
          <p:nvPr/>
        </p:nvSpPr>
        <p:spPr>
          <a:xfrm>
            <a:off x="694944" y="4754880"/>
            <a:ext cx="1828800" cy="182880"/>
          </a:xfrm>
          <a:prstGeom prst="rect">
            <a:avLst/>
          </a:prstGeom>
          <a:noFill/>
          <a:ln/>
        </p:spPr>
        <p:txBody>
          <a:bodyPr wrap="square" lIns="0" tIns="0" rIns="0" bIns="0" rtlCol="0" anchor="ctr"/>
          <a:lstStyle/>
          <a:p>
            <a:pPr indent="0" marL="0">
              <a:buNone/>
            </a:pPr>
            <a:r>
              <a:rPr lang="en-US" sz="900" dirty="0">
                <a:solidFill>
                  <a:srgbClr val="B5A994"/>
                </a:solidFill>
                <a:latin typeface="Calibri" pitchFamily="34" charset="0"/>
                <a:ea typeface="Calibri" pitchFamily="34" charset="-122"/>
                <a:cs typeface="Calibri" pitchFamily="34" charset="-120"/>
              </a:rPr>
              <a:t>OpenHoard</a:t>
            </a:r>
            <a:endParaRPr lang="en-US" sz="900" dirty="0"/>
          </a:p>
        </p:txBody>
      </p:sp>
      <p:sp>
        <p:nvSpPr>
          <p:cNvPr id="48" name="Text 37"/>
          <p:cNvSpPr txBox="1"/>
          <p:nvPr/>
        </p:nvSpPr>
        <p:spPr>
          <a:xfrm>
            <a:off x="7772400" y="4754880"/>
            <a:ext cx="914400" cy="182880"/>
          </a:xfrm>
          <a:prstGeom prst="rect">
            <a:avLst/>
          </a:prstGeom>
          <a:noFill/>
          <a:ln/>
        </p:spPr>
        <p:txBody>
          <a:bodyPr wrap="square" lIns="0" tIns="0" rIns="0" bIns="0" rtlCol="0" anchor="ctr"/>
          <a:lstStyle/>
          <a:p>
            <a:pPr algn="r" indent="0" marL="0">
              <a:buNone/>
            </a:pPr>
            <a:r>
              <a:rPr lang="en-US" sz="900" dirty="0">
                <a:solidFill>
                  <a:srgbClr val="B5A99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110D"/>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indent="0" marL="0">
              <a:buNone/>
            </a:pPr>
            <a:r>
              <a:rPr lang="en-US" sz="1000" b="1" spc="400" kern="0" dirty="0">
                <a:solidFill>
                  <a:srgbClr val="F2A93B"/>
                </a:solidFill>
                <a:latin typeface="Calibri" pitchFamily="34" charset="0"/>
                <a:ea typeface="Calibri" pitchFamily="34" charset="-122"/>
                <a:cs typeface="Calibri" pitchFamily="34" charset="-120"/>
              </a:rPr>
              <a:t>ARCHITECTURE</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800" b="1" dirty="0">
                <a:solidFill>
                  <a:srgbClr val="F5EEE3"/>
                </a:solidFill>
                <a:latin typeface="Cambria" pitchFamily="34" charset="0"/>
                <a:ea typeface="Cambria" pitchFamily="34" charset="-122"/>
                <a:cs typeface="Cambria" pitchFamily="34" charset="-120"/>
              </a:rPr>
              <a:t>Architecture at a glance</a:t>
            </a:r>
            <a:endParaRPr lang="en-US" sz="2800" dirty="0"/>
          </a:p>
        </p:txBody>
      </p:sp>
      <p:sp>
        <p:nvSpPr>
          <p:cNvPr id="4" name="Text 2"/>
          <p:cNvSpPr txBox="1"/>
          <p:nvPr/>
        </p:nvSpPr>
        <p:spPr>
          <a:xfrm>
            <a:off x="457200" y="1188720"/>
            <a:ext cx="1463040" cy="182880"/>
          </a:xfrm>
          <a:prstGeom prst="rect">
            <a:avLst/>
          </a:prstGeom>
          <a:noFill/>
          <a:ln/>
        </p:spPr>
        <p:txBody>
          <a:bodyPr wrap="square" lIns="0" tIns="0" rIns="0" bIns="0" rtlCol="0" anchor="t"/>
          <a:lstStyle/>
          <a:p>
            <a:pPr indent="0" marL="0">
              <a:buNone/>
            </a:pPr>
            <a:r>
              <a:rPr lang="en-US" sz="900" b="1" spc="200" kern="0" dirty="0">
                <a:solidFill>
                  <a:srgbClr val="B5A994"/>
                </a:solidFill>
                <a:latin typeface="Calibri" pitchFamily="34" charset="0"/>
                <a:ea typeface="Calibri" pitchFamily="34" charset="-122"/>
                <a:cs typeface="Calibri" pitchFamily="34" charset="-120"/>
              </a:rPr>
              <a:t>SOURCES</a:t>
            </a:r>
            <a:endParaRPr lang="en-US" sz="900" dirty="0"/>
          </a:p>
        </p:txBody>
      </p:sp>
      <p:sp>
        <p:nvSpPr>
          <p:cNvPr id="5" name="Text 3"/>
          <p:cNvSpPr txBox="1"/>
          <p:nvPr/>
        </p:nvSpPr>
        <p:spPr>
          <a:xfrm>
            <a:off x="2103120" y="1188720"/>
            <a:ext cx="1463040" cy="182880"/>
          </a:xfrm>
          <a:prstGeom prst="rect">
            <a:avLst/>
          </a:prstGeom>
          <a:noFill/>
          <a:ln/>
        </p:spPr>
        <p:txBody>
          <a:bodyPr wrap="square" lIns="0" tIns="0" rIns="0" bIns="0" rtlCol="0" anchor="t"/>
          <a:lstStyle/>
          <a:p>
            <a:pPr indent="0" marL="0">
              <a:buNone/>
            </a:pPr>
            <a:r>
              <a:rPr lang="en-US" sz="900" b="1" spc="200" kern="0" dirty="0">
                <a:solidFill>
                  <a:srgbClr val="B5A994"/>
                </a:solidFill>
                <a:latin typeface="Calibri" pitchFamily="34" charset="0"/>
                <a:ea typeface="Calibri" pitchFamily="34" charset="-122"/>
                <a:cs typeface="Calibri" pitchFamily="34" charset="-120"/>
              </a:rPr>
              <a:t>INGEST</a:t>
            </a:r>
            <a:endParaRPr lang="en-US" sz="900" dirty="0"/>
          </a:p>
        </p:txBody>
      </p:sp>
      <p:sp>
        <p:nvSpPr>
          <p:cNvPr id="6" name="Text 4"/>
          <p:cNvSpPr txBox="1"/>
          <p:nvPr/>
        </p:nvSpPr>
        <p:spPr>
          <a:xfrm>
            <a:off x="6903720" y="1188720"/>
            <a:ext cx="1737360" cy="182880"/>
          </a:xfrm>
          <a:prstGeom prst="rect">
            <a:avLst/>
          </a:prstGeom>
          <a:noFill/>
          <a:ln/>
        </p:spPr>
        <p:txBody>
          <a:bodyPr wrap="square" lIns="0" tIns="0" rIns="0" bIns="0" rtlCol="0" anchor="t"/>
          <a:lstStyle/>
          <a:p>
            <a:pPr indent="0" marL="0">
              <a:buNone/>
            </a:pPr>
            <a:r>
              <a:rPr lang="en-US" sz="900" b="1" spc="200" kern="0" dirty="0">
                <a:solidFill>
                  <a:srgbClr val="B5A994"/>
                </a:solidFill>
                <a:latin typeface="Calibri" pitchFamily="34" charset="0"/>
                <a:ea typeface="Calibri" pitchFamily="34" charset="-122"/>
                <a:cs typeface="Calibri" pitchFamily="34" charset="-120"/>
              </a:rPr>
              <a:t>ACCESS</a:t>
            </a:r>
            <a:endParaRPr lang="en-US" sz="900" dirty="0"/>
          </a:p>
        </p:txBody>
      </p:sp>
      <p:sp>
        <p:nvSpPr>
          <p:cNvPr id="7" name="Shape 5"/>
          <p:cNvSpPr/>
          <p:nvPr/>
        </p:nvSpPr>
        <p:spPr>
          <a:xfrm>
            <a:off x="457200" y="1463040"/>
            <a:ext cx="1463040" cy="621792"/>
          </a:xfrm>
          <a:prstGeom prst="roundRect">
            <a:avLst>
              <a:gd name="adj" fmla="val 11765"/>
            </a:avLst>
          </a:prstGeom>
          <a:solidFill>
            <a:srgbClr val="221B14"/>
          </a:solidFill>
          <a:ln w="9525">
            <a:solidFill>
              <a:srgbClr val="4A3C2C"/>
            </a:solidFill>
            <a:prstDash val="dash"/>
          </a:ln>
        </p:spPr>
      </p:sp>
      <p:sp>
        <p:nvSpPr>
          <p:cNvPr id="8" name="Text 6"/>
          <p:cNvSpPr txBox="1"/>
          <p:nvPr/>
        </p:nvSpPr>
        <p:spPr>
          <a:xfrm>
            <a:off x="548640" y="1527048"/>
            <a:ext cx="1280160" cy="237744"/>
          </a:xfrm>
          <a:prstGeom prst="rect">
            <a:avLst/>
          </a:prstGeom>
          <a:noFill/>
          <a:ln/>
        </p:spPr>
        <p:txBody>
          <a:bodyPr wrap="square" lIns="0" tIns="0" rIns="0" bIns="0" rtlCol="0" anchor="t"/>
          <a:lstStyle/>
          <a:p>
            <a:pPr indent="0" marL="0">
              <a:buNone/>
            </a:pPr>
            <a:r>
              <a:rPr lang="en-US" sz="1100" b="1" dirty="0">
                <a:solidFill>
                  <a:srgbClr val="F5EEE3"/>
                </a:solidFill>
                <a:latin typeface="Calibri" pitchFamily="34" charset="0"/>
                <a:ea typeface="Calibri" pitchFamily="34" charset="-122"/>
                <a:cs typeface="Calibri" pitchFamily="34" charset="-120"/>
              </a:rPr>
              <a:t>SharePoint</a:t>
            </a:r>
            <a:endParaRPr lang="en-US" sz="1100" dirty="0"/>
          </a:p>
        </p:txBody>
      </p:sp>
      <p:sp>
        <p:nvSpPr>
          <p:cNvPr id="9" name="Text 7"/>
          <p:cNvSpPr txBox="1"/>
          <p:nvPr/>
        </p:nvSpPr>
        <p:spPr>
          <a:xfrm>
            <a:off x="548640" y="1764792"/>
            <a:ext cx="1280160" cy="274320"/>
          </a:xfrm>
          <a:prstGeom prst="rect">
            <a:avLst/>
          </a:prstGeom>
          <a:noFill/>
          <a:ln/>
        </p:spPr>
        <p:txBody>
          <a:bodyPr wrap="square" lIns="0" tIns="0" rIns="0" bIns="0" rtlCol="0" anchor="t"/>
          <a:lstStyle/>
          <a:p>
            <a:pPr indent="0" marL="0">
              <a:buNone/>
            </a:pPr>
            <a:r>
              <a:rPr lang="en-US" sz="900" dirty="0">
                <a:solidFill>
                  <a:srgbClr val="B5A994"/>
                </a:solidFill>
                <a:latin typeface="Calibri" pitchFamily="34" charset="0"/>
                <a:ea typeface="Calibri" pitchFamily="34" charset="-122"/>
                <a:cs typeface="Calibri" pitchFamily="34" charset="-120"/>
              </a:rPr>
              <a:t>OneDrive too · next up</a:t>
            </a:r>
            <a:endParaRPr lang="en-US" sz="900" dirty="0"/>
          </a:p>
        </p:txBody>
      </p:sp>
      <p:sp>
        <p:nvSpPr>
          <p:cNvPr id="10" name="Shape 8"/>
          <p:cNvSpPr/>
          <p:nvPr/>
        </p:nvSpPr>
        <p:spPr>
          <a:xfrm>
            <a:off x="1920240" y="1773936"/>
            <a:ext cx="182880" cy="146304"/>
          </a:xfrm>
          <a:prstGeom prst="line">
            <a:avLst/>
          </a:prstGeom>
          <a:noFill/>
          <a:ln w="15875">
            <a:solidFill>
              <a:srgbClr val="F2A93B">
                <a:alpha val="70000"/>
              </a:srgbClr>
            </a:solidFill>
            <a:prstDash val="solid"/>
            <a:tailEnd type="triangle"/>
          </a:ln>
        </p:spPr>
      </p:sp>
      <p:sp>
        <p:nvSpPr>
          <p:cNvPr id="11" name="Shape 9"/>
          <p:cNvSpPr/>
          <p:nvPr/>
        </p:nvSpPr>
        <p:spPr>
          <a:xfrm>
            <a:off x="457200" y="2240280"/>
            <a:ext cx="1463040" cy="621792"/>
          </a:xfrm>
          <a:prstGeom prst="roundRect">
            <a:avLst>
              <a:gd name="adj" fmla="val 11765"/>
            </a:avLst>
          </a:prstGeom>
          <a:solidFill>
            <a:srgbClr val="221B14"/>
          </a:solidFill>
          <a:ln w="9525">
            <a:solidFill>
              <a:srgbClr val="4A3C2C"/>
            </a:solidFill>
            <a:prstDash val="solid"/>
          </a:ln>
        </p:spPr>
      </p:sp>
      <p:sp>
        <p:nvSpPr>
          <p:cNvPr id="12" name="Text 10"/>
          <p:cNvSpPr txBox="1"/>
          <p:nvPr/>
        </p:nvSpPr>
        <p:spPr>
          <a:xfrm>
            <a:off x="548640" y="2304288"/>
            <a:ext cx="1280160" cy="237744"/>
          </a:xfrm>
          <a:prstGeom prst="rect">
            <a:avLst/>
          </a:prstGeom>
          <a:noFill/>
          <a:ln/>
        </p:spPr>
        <p:txBody>
          <a:bodyPr wrap="square" lIns="0" tIns="0" rIns="0" bIns="0" rtlCol="0" anchor="t"/>
          <a:lstStyle/>
          <a:p>
            <a:pPr indent="0" marL="0">
              <a:buNone/>
            </a:pPr>
            <a:r>
              <a:rPr lang="en-US" sz="1100" b="1" dirty="0">
                <a:solidFill>
                  <a:srgbClr val="F5EEE3"/>
                </a:solidFill>
                <a:latin typeface="Calibri" pitchFamily="34" charset="0"/>
                <a:ea typeface="Calibri" pitchFamily="34" charset="-122"/>
                <a:cs typeface="Calibri" pitchFamily="34" charset="-120"/>
              </a:rPr>
              <a:t>File folders</a:t>
            </a:r>
            <a:endParaRPr lang="en-US" sz="1100" dirty="0"/>
          </a:p>
        </p:txBody>
      </p:sp>
      <p:sp>
        <p:nvSpPr>
          <p:cNvPr id="13" name="Text 11"/>
          <p:cNvSpPr txBox="1"/>
          <p:nvPr/>
        </p:nvSpPr>
        <p:spPr>
          <a:xfrm>
            <a:off x="548640" y="2542032"/>
            <a:ext cx="1280160" cy="274320"/>
          </a:xfrm>
          <a:prstGeom prst="rect">
            <a:avLst/>
          </a:prstGeom>
          <a:noFill/>
          <a:ln/>
        </p:spPr>
        <p:txBody>
          <a:bodyPr wrap="square" lIns="0" tIns="0" rIns="0" bIns="0" rtlCol="0" anchor="t"/>
          <a:lstStyle/>
          <a:p>
            <a:pPr indent="0" marL="0">
              <a:buNone/>
            </a:pPr>
            <a:r>
              <a:rPr lang="en-US" sz="900" dirty="0">
                <a:solidFill>
                  <a:srgbClr val="B5A994"/>
                </a:solidFill>
                <a:latin typeface="Calibri" pitchFamily="34" charset="0"/>
                <a:ea typeface="Calibri" pitchFamily="34" charset="-122"/>
                <a:cs typeface="Calibri" pitchFamily="34" charset="-120"/>
              </a:rPr>
              <a:t>local &amp; network · today</a:t>
            </a:r>
            <a:endParaRPr lang="en-US" sz="900" dirty="0"/>
          </a:p>
        </p:txBody>
      </p:sp>
      <p:sp>
        <p:nvSpPr>
          <p:cNvPr id="14" name="Shape 12"/>
          <p:cNvSpPr/>
          <p:nvPr/>
        </p:nvSpPr>
        <p:spPr>
          <a:xfrm flipV="1">
            <a:off x="1920240" y="1920240"/>
            <a:ext cx="182880" cy="630936"/>
          </a:xfrm>
          <a:prstGeom prst="line">
            <a:avLst/>
          </a:prstGeom>
          <a:noFill/>
          <a:ln w="15875">
            <a:solidFill>
              <a:srgbClr val="F2A93B">
                <a:alpha val="70000"/>
              </a:srgbClr>
            </a:solidFill>
            <a:prstDash val="solid"/>
            <a:tailEnd type="triangle"/>
          </a:ln>
        </p:spPr>
      </p:sp>
      <p:sp>
        <p:nvSpPr>
          <p:cNvPr id="15" name="Shape 13"/>
          <p:cNvSpPr/>
          <p:nvPr/>
        </p:nvSpPr>
        <p:spPr>
          <a:xfrm>
            <a:off x="457200" y="3017520"/>
            <a:ext cx="1463040" cy="621792"/>
          </a:xfrm>
          <a:prstGeom prst="roundRect">
            <a:avLst>
              <a:gd name="adj" fmla="val 11765"/>
            </a:avLst>
          </a:prstGeom>
          <a:solidFill>
            <a:srgbClr val="221B14"/>
          </a:solidFill>
          <a:ln w="9525">
            <a:solidFill>
              <a:srgbClr val="4A3C2C"/>
            </a:solidFill>
            <a:prstDash val="solid"/>
          </a:ln>
        </p:spPr>
      </p:sp>
      <p:sp>
        <p:nvSpPr>
          <p:cNvPr id="16" name="Text 14"/>
          <p:cNvSpPr txBox="1"/>
          <p:nvPr/>
        </p:nvSpPr>
        <p:spPr>
          <a:xfrm>
            <a:off x="548640" y="3081528"/>
            <a:ext cx="1280160" cy="237744"/>
          </a:xfrm>
          <a:prstGeom prst="rect">
            <a:avLst/>
          </a:prstGeom>
          <a:noFill/>
          <a:ln/>
        </p:spPr>
        <p:txBody>
          <a:bodyPr wrap="square" lIns="0" tIns="0" rIns="0" bIns="0" rtlCol="0" anchor="t"/>
          <a:lstStyle/>
          <a:p>
            <a:pPr indent="0" marL="0">
              <a:buNone/>
            </a:pPr>
            <a:r>
              <a:rPr lang="en-US" sz="1100" b="1" dirty="0">
                <a:solidFill>
                  <a:srgbClr val="F5EEE3"/>
                </a:solidFill>
                <a:latin typeface="Calibri" pitchFamily="34" charset="0"/>
                <a:ea typeface="Calibri" pitchFamily="34" charset="-122"/>
                <a:cs typeface="Calibri" pitchFamily="34" charset="-120"/>
              </a:rPr>
              <a:t>S3 · Azure</a:t>
            </a:r>
            <a:endParaRPr lang="en-US" sz="1100" dirty="0"/>
          </a:p>
        </p:txBody>
      </p:sp>
      <p:sp>
        <p:nvSpPr>
          <p:cNvPr id="17" name="Text 15"/>
          <p:cNvSpPr txBox="1"/>
          <p:nvPr/>
        </p:nvSpPr>
        <p:spPr>
          <a:xfrm>
            <a:off x="548640" y="3319272"/>
            <a:ext cx="1280160" cy="274320"/>
          </a:xfrm>
          <a:prstGeom prst="rect">
            <a:avLst/>
          </a:prstGeom>
          <a:noFill/>
          <a:ln/>
        </p:spPr>
        <p:txBody>
          <a:bodyPr wrap="square" lIns="0" tIns="0" rIns="0" bIns="0" rtlCol="0" anchor="t"/>
          <a:lstStyle/>
          <a:p>
            <a:pPr indent="0" marL="0">
              <a:buNone/>
            </a:pPr>
            <a:r>
              <a:rPr lang="en-US" sz="900" dirty="0">
                <a:solidFill>
                  <a:srgbClr val="B5A994"/>
                </a:solidFill>
                <a:latin typeface="Calibri" pitchFamily="34" charset="0"/>
                <a:ea typeface="Calibri" pitchFamily="34" charset="-122"/>
                <a:cs typeface="Calibri" pitchFamily="34" charset="-120"/>
              </a:rPr>
              <a:t>blob storage</a:t>
            </a:r>
            <a:endParaRPr lang="en-US" sz="900" dirty="0"/>
          </a:p>
        </p:txBody>
      </p:sp>
      <p:sp>
        <p:nvSpPr>
          <p:cNvPr id="18" name="Shape 16"/>
          <p:cNvSpPr/>
          <p:nvPr/>
        </p:nvSpPr>
        <p:spPr>
          <a:xfrm flipV="1">
            <a:off x="1920240" y="1920240"/>
            <a:ext cx="182880" cy="1408176"/>
          </a:xfrm>
          <a:prstGeom prst="line">
            <a:avLst/>
          </a:prstGeom>
          <a:noFill/>
          <a:ln w="15875">
            <a:solidFill>
              <a:srgbClr val="F2A93B">
                <a:alpha val="70000"/>
              </a:srgbClr>
            </a:solidFill>
            <a:prstDash val="solid"/>
            <a:tailEnd type="triangle"/>
          </a:ln>
        </p:spPr>
      </p:sp>
      <p:sp>
        <p:nvSpPr>
          <p:cNvPr id="19" name="Shape 17"/>
          <p:cNvSpPr/>
          <p:nvPr/>
        </p:nvSpPr>
        <p:spPr>
          <a:xfrm>
            <a:off x="2103120" y="1463040"/>
            <a:ext cx="1463040" cy="914400"/>
          </a:xfrm>
          <a:prstGeom prst="roundRect">
            <a:avLst>
              <a:gd name="adj" fmla="val 8000"/>
            </a:avLst>
          </a:prstGeom>
          <a:solidFill>
            <a:srgbClr val="221B14"/>
          </a:solidFill>
          <a:ln w="9525">
            <a:solidFill>
              <a:srgbClr val="4A3C2C"/>
            </a:solidFill>
            <a:prstDash val="solid"/>
          </a:ln>
        </p:spPr>
      </p:sp>
      <p:sp>
        <p:nvSpPr>
          <p:cNvPr id="20" name="Text 18"/>
          <p:cNvSpPr txBox="1"/>
          <p:nvPr/>
        </p:nvSpPr>
        <p:spPr>
          <a:xfrm>
            <a:off x="2194560" y="1527048"/>
            <a:ext cx="1280160" cy="237744"/>
          </a:xfrm>
          <a:prstGeom prst="rect">
            <a:avLst/>
          </a:prstGeom>
          <a:noFill/>
          <a:ln/>
        </p:spPr>
        <p:txBody>
          <a:bodyPr wrap="square" lIns="0" tIns="0" rIns="0" bIns="0" rtlCol="0" anchor="t"/>
          <a:lstStyle/>
          <a:p>
            <a:pPr indent="0" marL="0">
              <a:buNone/>
            </a:pPr>
            <a:r>
              <a:rPr lang="en-US" sz="1100" b="1" dirty="0">
                <a:solidFill>
                  <a:srgbClr val="F5EEE3"/>
                </a:solidFill>
                <a:latin typeface="Calibri" pitchFamily="34" charset="0"/>
                <a:ea typeface="Calibri" pitchFamily="34" charset="-122"/>
                <a:cs typeface="Calibri" pitchFamily="34" charset="-120"/>
              </a:rPr>
              <a:t>Connectors</a:t>
            </a:r>
            <a:endParaRPr lang="en-US" sz="1100" dirty="0"/>
          </a:p>
        </p:txBody>
      </p:sp>
      <p:sp>
        <p:nvSpPr>
          <p:cNvPr id="21" name="Text 19"/>
          <p:cNvSpPr txBox="1"/>
          <p:nvPr/>
        </p:nvSpPr>
        <p:spPr>
          <a:xfrm>
            <a:off x="2194560" y="1764792"/>
            <a:ext cx="1280160" cy="566928"/>
          </a:xfrm>
          <a:prstGeom prst="rect">
            <a:avLst/>
          </a:prstGeom>
          <a:noFill/>
          <a:ln/>
        </p:spPr>
        <p:txBody>
          <a:bodyPr wrap="square" lIns="0" tIns="0" rIns="0" bIns="0" rtlCol="0" anchor="t"/>
          <a:lstStyle/>
          <a:p>
            <a:pPr indent="0" marL="0">
              <a:buNone/>
            </a:pPr>
            <a:r>
              <a:rPr lang="en-US" sz="900" dirty="0">
                <a:solidFill>
                  <a:srgbClr val="B5A994"/>
                </a:solidFill>
                <a:latin typeface="Calibri" pitchFamily="34" charset="0"/>
                <a:ea typeface="Calibri" pitchFamily="34" charset="-122"/>
                <a:cs typeface="Calibri" pitchFamily="34" charset="-120"/>
              </a:rPr>
              <a:t>SDK v1: crawl, delta, ACL import</a:t>
            </a:r>
            <a:endParaRPr lang="en-US" sz="900" dirty="0"/>
          </a:p>
        </p:txBody>
      </p:sp>
      <p:sp>
        <p:nvSpPr>
          <p:cNvPr id="22" name="Shape 20"/>
          <p:cNvSpPr/>
          <p:nvPr/>
        </p:nvSpPr>
        <p:spPr>
          <a:xfrm>
            <a:off x="2103120" y="2697480"/>
            <a:ext cx="1463040" cy="1005840"/>
          </a:xfrm>
          <a:prstGeom prst="roundRect">
            <a:avLst>
              <a:gd name="adj" fmla="val 7273"/>
            </a:avLst>
          </a:prstGeom>
          <a:solidFill>
            <a:srgbClr val="221B14"/>
          </a:solidFill>
          <a:ln w="9525">
            <a:solidFill>
              <a:srgbClr val="4A3C2C"/>
            </a:solidFill>
            <a:prstDash val="solid"/>
          </a:ln>
        </p:spPr>
      </p:sp>
      <p:sp>
        <p:nvSpPr>
          <p:cNvPr id="23" name="Text 21"/>
          <p:cNvSpPr txBox="1"/>
          <p:nvPr/>
        </p:nvSpPr>
        <p:spPr>
          <a:xfrm>
            <a:off x="2194560" y="2761488"/>
            <a:ext cx="1280160" cy="237744"/>
          </a:xfrm>
          <a:prstGeom prst="rect">
            <a:avLst/>
          </a:prstGeom>
          <a:noFill/>
          <a:ln/>
        </p:spPr>
        <p:txBody>
          <a:bodyPr wrap="square" lIns="0" tIns="0" rIns="0" bIns="0" rtlCol="0" anchor="t"/>
          <a:lstStyle/>
          <a:p>
            <a:pPr indent="0" marL="0">
              <a:buNone/>
            </a:pPr>
            <a:r>
              <a:rPr lang="en-US" sz="1100" b="1" dirty="0">
                <a:solidFill>
                  <a:srgbClr val="F5EEE3"/>
                </a:solidFill>
                <a:latin typeface="Calibri" pitchFamily="34" charset="0"/>
                <a:ea typeface="Calibri" pitchFamily="34" charset="-122"/>
                <a:cs typeface="Calibri" pitchFamily="34" charset="-120"/>
              </a:rPr>
              <a:t>Sync runner</a:t>
            </a:r>
            <a:endParaRPr lang="en-US" sz="1100" dirty="0"/>
          </a:p>
        </p:txBody>
      </p:sp>
      <p:sp>
        <p:nvSpPr>
          <p:cNvPr id="24" name="Text 22"/>
          <p:cNvSpPr txBox="1"/>
          <p:nvPr/>
        </p:nvSpPr>
        <p:spPr>
          <a:xfrm>
            <a:off x="2194560" y="2999232"/>
            <a:ext cx="1280160" cy="658368"/>
          </a:xfrm>
          <a:prstGeom prst="rect">
            <a:avLst/>
          </a:prstGeom>
          <a:noFill/>
          <a:ln/>
        </p:spPr>
        <p:txBody>
          <a:bodyPr wrap="square" lIns="0" tIns="0" rIns="0" bIns="0" rtlCol="0" anchor="t"/>
          <a:lstStyle/>
          <a:p>
            <a:pPr indent="0" marL="0">
              <a:buNone/>
            </a:pPr>
            <a:r>
              <a:rPr lang="en-US" sz="900" dirty="0">
                <a:solidFill>
                  <a:srgbClr val="B5A994"/>
                </a:solidFill>
                <a:latin typeface="Calibri" pitchFamily="34" charset="0"/>
                <a:ea typeface="Calibri" pitchFamily="34" charset="-122"/>
                <a:cs typeface="Calibri" pitchFamily="34" charset="-120"/>
              </a:rPr>
              <a:t>schedules, checkpoints, mass-delete guard</a:t>
            </a:r>
            <a:endParaRPr lang="en-US" sz="900" dirty="0"/>
          </a:p>
        </p:txBody>
      </p:sp>
      <p:sp>
        <p:nvSpPr>
          <p:cNvPr id="25" name="Shape 23"/>
          <p:cNvSpPr/>
          <p:nvPr/>
        </p:nvSpPr>
        <p:spPr>
          <a:xfrm>
            <a:off x="2834640" y="2377440"/>
            <a:ext cx="914" cy="320040"/>
          </a:xfrm>
          <a:prstGeom prst="line">
            <a:avLst/>
          </a:prstGeom>
          <a:noFill/>
          <a:ln w="15875">
            <a:solidFill>
              <a:srgbClr val="F2A93B"/>
            </a:solidFill>
            <a:prstDash val="solid"/>
            <a:tailEnd type="triangle"/>
          </a:ln>
        </p:spPr>
      </p:sp>
      <p:sp>
        <p:nvSpPr>
          <p:cNvPr id="26" name="Shape 24"/>
          <p:cNvSpPr/>
          <p:nvPr/>
        </p:nvSpPr>
        <p:spPr>
          <a:xfrm>
            <a:off x="3794760" y="1188720"/>
            <a:ext cx="2880360" cy="2697480"/>
          </a:xfrm>
          <a:prstGeom prst="roundRect">
            <a:avLst>
              <a:gd name="adj" fmla="val 2712"/>
            </a:avLst>
          </a:prstGeom>
          <a:solidFill>
            <a:srgbClr val="221B14"/>
          </a:solidFill>
          <a:ln w="12700">
            <a:solidFill>
              <a:srgbClr val="F2A93B"/>
            </a:solidFill>
            <a:prstDash val="solid"/>
          </a:ln>
        </p:spPr>
      </p:sp>
      <p:sp>
        <p:nvSpPr>
          <p:cNvPr id="27" name="Text 25"/>
          <p:cNvSpPr txBox="1"/>
          <p:nvPr/>
        </p:nvSpPr>
        <p:spPr>
          <a:xfrm>
            <a:off x="3931920" y="1261872"/>
            <a:ext cx="2560320" cy="182880"/>
          </a:xfrm>
          <a:prstGeom prst="rect">
            <a:avLst/>
          </a:prstGeom>
          <a:noFill/>
          <a:ln/>
        </p:spPr>
        <p:txBody>
          <a:bodyPr wrap="square" lIns="0" tIns="0" rIns="0" bIns="0" rtlCol="0" anchor="t"/>
          <a:lstStyle/>
          <a:p>
            <a:pPr indent="0" marL="0">
              <a:buNone/>
            </a:pPr>
            <a:r>
              <a:rPr lang="en-US" sz="900" b="1" spc="200" kern="0" dirty="0">
                <a:solidFill>
                  <a:srgbClr val="F2A93B"/>
                </a:solidFill>
                <a:latin typeface="Calibri" pitchFamily="34" charset="0"/>
                <a:ea typeface="Calibri" pitchFamily="34" charset="-122"/>
                <a:cs typeface="Calibri" pitchFamily="34" charset="-120"/>
              </a:rPr>
              <a:t>TRUSTED CORE</a:t>
            </a:r>
            <a:endParaRPr lang="en-US" sz="900" dirty="0"/>
          </a:p>
        </p:txBody>
      </p:sp>
      <p:sp>
        <p:nvSpPr>
          <p:cNvPr id="28" name="Shape 26"/>
          <p:cNvSpPr/>
          <p:nvPr/>
        </p:nvSpPr>
        <p:spPr>
          <a:xfrm>
            <a:off x="3566160" y="3200400"/>
            <a:ext cx="228600" cy="914"/>
          </a:xfrm>
          <a:prstGeom prst="line">
            <a:avLst/>
          </a:prstGeom>
          <a:noFill/>
          <a:ln w="15875">
            <a:solidFill>
              <a:srgbClr val="F2A93B"/>
            </a:solidFill>
            <a:prstDash val="solid"/>
            <a:tailEnd type="triangle"/>
          </a:ln>
        </p:spPr>
      </p:sp>
      <p:sp>
        <p:nvSpPr>
          <p:cNvPr id="29" name="Shape 27"/>
          <p:cNvSpPr/>
          <p:nvPr/>
        </p:nvSpPr>
        <p:spPr>
          <a:xfrm>
            <a:off x="3931920" y="1536192"/>
            <a:ext cx="1252728" cy="658368"/>
          </a:xfrm>
          <a:prstGeom prst="roundRect">
            <a:avLst>
              <a:gd name="adj" fmla="val 11111"/>
            </a:avLst>
          </a:prstGeom>
          <a:solidFill>
            <a:srgbClr val="2D241B"/>
          </a:solidFill>
          <a:ln w="9525">
            <a:solidFill>
              <a:srgbClr val="4A3C2C"/>
            </a:solidFill>
            <a:prstDash val="solid"/>
          </a:ln>
        </p:spPr>
      </p:sp>
      <p:sp>
        <p:nvSpPr>
          <p:cNvPr id="30" name="Text 28"/>
          <p:cNvSpPr txBox="1"/>
          <p:nvPr/>
        </p:nvSpPr>
        <p:spPr>
          <a:xfrm>
            <a:off x="4023360" y="1600200"/>
            <a:ext cx="1069848" cy="237744"/>
          </a:xfrm>
          <a:prstGeom prst="rect">
            <a:avLst/>
          </a:prstGeom>
          <a:noFill/>
          <a:ln/>
        </p:spPr>
        <p:txBody>
          <a:bodyPr wrap="square" lIns="0" tIns="0" rIns="0" bIns="0" rtlCol="0" anchor="t"/>
          <a:lstStyle/>
          <a:p>
            <a:pPr indent="0" marL="0">
              <a:buNone/>
            </a:pPr>
            <a:r>
              <a:rPr lang="en-US" sz="1100" b="1" dirty="0">
                <a:solidFill>
                  <a:srgbClr val="F7C85C"/>
                </a:solidFill>
                <a:latin typeface="Calibri" pitchFamily="34" charset="0"/>
                <a:ea typeface="Calibri" pitchFamily="34" charset="-122"/>
                <a:cs typeface="Calibri" pitchFamily="34" charset="-120"/>
              </a:rPr>
              <a:t>Catalog</a:t>
            </a:r>
            <a:endParaRPr lang="en-US" sz="1100" dirty="0"/>
          </a:p>
        </p:txBody>
      </p:sp>
      <p:sp>
        <p:nvSpPr>
          <p:cNvPr id="31" name="Text 29"/>
          <p:cNvSpPr txBox="1"/>
          <p:nvPr/>
        </p:nvSpPr>
        <p:spPr>
          <a:xfrm>
            <a:off x="4023360" y="1837944"/>
            <a:ext cx="1069848" cy="310896"/>
          </a:xfrm>
          <a:prstGeom prst="rect">
            <a:avLst/>
          </a:prstGeom>
          <a:noFill/>
          <a:ln/>
        </p:spPr>
        <p:txBody>
          <a:bodyPr wrap="square" lIns="0" tIns="0" rIns="0" bIns="0" rtlCol="0" anchor="t"/>
          <a:lstStyle/>
          <a:p>
            <a:pPr indent="0" marL="0">
              <a:buNone/>
            </a:pPr>
            <a:r>
              <a:rPr lang="en-US" sz="900" dirty="0">
                <a:solidFill>
                  <a:srgbClr val="B5A994"/>
                </a:solidFill>
                <a:latin typeface="Calibri" pitchFamily="34" charset="0"/>
                <a:ea typeface="Calibri" pitchFamily="34" charset="-122"/>
                <a:cs typeface="Calibri" pitchFamily="34" charset="-120"/>
              </a:rPr>
              <a:t>PostgreSQL + row-level security</a:t>
            </a:r>
            <a:endParaRPr lang="en-US" sz="900" dirty="0"/>
          </a:p>
        </p:txBody>
      </p:sp>
      <p:sp>
        <p:nvSpPr>
          <p:cNvPr id="32" name="Shape 30"/>
          <p:cNvSpPr/>
          <p:nvPr/>
        </p:nvSpPr>
        <p:spPr>
          <a:xfrm>
            <a:off x="5276088" y="1536192"/>
            <a:ext cx="1252728" cy="658368"/>
          </a:xfrm>
          <a:prstGeom prst="roundRect">
            <a:avLst>
              <a:gd name="adj" fmla="val 11111"/>
            </a:avLst>
          </a:prstGeom>
          <a:solidFill>
            <a:srgbClr val="2D241B"/>
          </a:solidFill>
          <a:ln w="9525">
            <a:solidFill>
              <a:srgbClr val="4A3C2C"/>
            </a:solidFill>
            <a:prstDash val="solid"/>
          </a:ln>
        </p:spPr>
      </p:sp>
      <p:sp>
        <p:nvSpPr>
          <p:cNvPr id="33" name="Text 31"/>
          <p:cNvSpPr txBox="1"/>
          <p:nvPr/>
        </p:nvSpPr>
        <p:spPr>
          <a:xfrm>
            <a:off x="5367528" y="1600200"/>
            <a:ext cx="1069848" cy="237744"/>
          </a:xfrm>
          <a:prstGeom prst="rect">
            <a:avLst/>
          </a:prstGeom>
          <a:noFill/>
          <a:ln/>
        </p:spPr>
        <p:txBody>
          <a:bodyPr wrap="square" lIns="0" tIns="0" rIns="0" bIns="0" rtlCol="0" anchor="t"/>
          <a:lstStyle/>
          <a:p>
            <a:pPr indent="0" marL="0">
              <a:buNone/>
            </a:pPr>
            <a:r>
              <a:rPr lang="en-US" sz="1100" b="1" dirty="0">
                <a:solidFill>
                  <a:srgbClr val="F7C85C"/>
                </a:solidFill>
                <a:latin typeface="Calibri" pitchFamily="34" charset="0"/>
                <a:ea typeface="Calibri" pitchFamily="34" charset="-122"/>
                <a:cs typeface="Calibri" pitchFamily="34" charset="-120"/>
              </a:rPr>
              <a:t>Blob store</a:t>
            </a:r>
            <a:endParaRPr lang="en-US" sz="1100" dirty="0"/>
          </a:p>
        </p:txBody>
      </p:sp>
      <p:sp>
        <p:nvSpPr>
          <p:cNvPr id="34" name="Text 32"/>
          <p:cNvSpPr txBox="1"/>
          <p:nvPr/>
        </p:nvSpPr>
        <p:spPr>
          <a:xfrm>
            <a:off x="5367528" y="1837944"/>
            <a:ext cx="1069848" cy="310896"/>
          </a:xfrm>
          <a:prstGeom prst="rect">
            <a:avLst/>
          </a:prstGeom>
          <a:noFill/>
          <a:ln/>
        </p:spPr>
        <p:txBody>
          <a:bodyPr wrap="square" lIns="0" tIns="0" rIns="0" bIns="0" rtlCol="0" anchor="t"/>
          <a:lstStyle/>
          <a:p>
            <a:pPr indent="0" marL="0">
              <a:buNone/>
            </a:pPr>
            <a:r>
              <a:rPr lang="en-US" sz="900" dirty="0">
                <a:solidFill>
                  <a:srgbClr val="B5A994"/>
                </a:solidFill>
                <a:latin typeface="Calibri" pitchFamily="34" charset="0"/>
                <a:ea typeface="Calibri" pitchFamily="34" charset="-122"/>
                <a:cs typeface="Calibri" pitchFamily="34" charset="-120"/>
              </a:rPr>
              <a:t>BLAKE3-hashed, tenant keys</a:t>
            </a:r>
            <a:endParaRPr lang="en-US" sz="900" dirty="0"/>
          </a:p>
        </p:txBody>
      </p:sp>
      <p:sp>
        <p:nvSpPr>
          <p:cNvPr id="35" name="Shape 33"/>
          <p:cNvSpPr/>
          <p:nvPr/>
        </p:nvSpPr>
        <p:spPr>
          <a:xfrm>
            <a:off x="3931920" y="2304288"/>
            <a:ext cx="1252728" cy="658368"/>
          </a:xfrm>
          <a:prstGeom prst="roundRect">
            <a:avLst>
              <a:gd name="adj" fmla="val 11111"/>
            </a:avLst>
          </a:prstGeom>
          <a:solidFill>
            <a:srgbClr val="2D241B"/>
          </a:solidFill>
          <a:ln w="9525">
            <a:solidFill>
              <a:srgbClr val="4A3C2C"/>
            </a:solidFill>
            <a:prstDash val="solid"/>
          </a:ln>
        </p:spPr>
      </p:sp>
      <p:sp>
        <p:nvSpPr>
          <p:cNvPr id="36" name="Text 34"/>
          <p:cNvSpPr txBox="1"/>
          <p:nvPr/>
        </p:nvSpPr>
        <p:spPr>
          <a:xfrm>
            <a:off x="4023360" y="2368296"/>
            <a:ext cx="1069848" cy="237744"/>
          </a:xfrm>
          <a:prstGeom prst="rect">
            <a:avLst/>
          </a:prstGeom>
          <a:noFill/>
          <a:ln/>
        </p:spPr>
        <p:txBody>
          <a:bodyPr wrap="square" lIns="0" tIns="0" rIns="0" bIns="0" rtlCol="0" anchor="t"/>
          <a:lstStyle/>
          <a:p>
            <a:pPr indent="0" marL="0">
              <a:buNone/>
            </a:pPr>
            <a:r>
              <a:rPr lang="en-US" sz="1100" b="1" dirty="0">
                <a:solidFill>
                  <a:srgbClr val="F7C85C"/>
                </a:solidFill>
                <a:latin typeface="Calibri" pitchFamily="34" charset="0"/>
                <a:ea typeface="Calibri" pitchFamily="34" charset="-122"/>
                <a:cs typeface="Calibri" pitchFamily="34" charset="-120"/>
              </a:rPr>
              <a:t>Enrichment</a:t>
            </a:r>
            <a:endParaRPr lang="en-US" sz="1100" dirty="0"/>
          </a:p>
        </p:txBody>
      </p:sp>
      <p:sp>
        <p:nvSpPr>
          <p:cNvPr id="37" name="Text 35"/>
          <p:cNvSpPr txBox="1"/>
          <p:nvPr/>
        </p:nvSpPr>
        <p:spPr>
          <a:xfrm>
            <a:off x="4023360" y="2606040"/>
            <a:ext cx="1069848" cy="310896"/>
          </a:xfrm>
          <a:prstGeom prst="rect">
            <a:avLst/>
          </a:prstGeom>
          <a:noFill/>
          <a:ln/>
        </p:spPr>
        <p:txBody>
          <a:bodyPr wrap="square" lIns="0" tIns="0" rIns="0" bIns="0" rtlCol="0" anchor="t"/>
          <a:lstStyle/>
          <a:p>
            <a:pPr indent="0" marL="0">
              <a:buNone/>
            </a:pPr>
            <a:r>
              <a:rPr lang="en-US" sz="900" dirty="0">
                <a:solidFill>
                  <a:srgbClr val="B5A994"/>
                </a:solidFill>
                <a:latin typeface="Calibri" pitchFamily="34" charset="0"/>
                <a:ea typeface="Calibri" pitchFamily="34" charset="-122"/>
                <a:cs typeface="Calibri" pitchFamily="34" charset="-120"/>
              </a:rPr>
              <a:t>extract, summarize, tag</a:t>
            </a:r>
            <a:endParaRPr lang="en-US" sz="900" dirty="0"/>
          </a:p>
        </p:txBody>
      </p:sp>
      <p:sp>
        <p:nvSpPr>
          <p:cNvPr id="38" name="Shape 36"/>
          <p:cNvSpPr/>
          <p:nvPr/>
        </p:nvSpPr>
        <p:spPr>
          <a:xfrm>
            <a:off x="5276088" y="2304288"/>
            <a:ext cx="1252728" cy="658368"/>
          </a:xfrm>
          <a:prstGeom prst="roundRect">
            <a:avLst>
              <a:gd name="adj" fmla="val 11111"/>
            </a:avLst>
          </a:prstGeom>
          <a:solidFill>
            <a:srgbClr val="2D241B"/>
          </a:solidFill>
          <a:ln w="9525">
            <a:solidFill>
              <a:srgbClr val="4A3C2C"/>
            </a:solidFill>
            <a:prstDash val="solid"/>
          </a:ln>
        </p:spPr>
      </p:sp>
      <p:sp>
        <p:nvSpPr>
          <p:cNvPr id="39" name="Text 37"/>
          <p:cNvSpPr txBox="1"/>
          <p:nvPr/>
        </p:nvSpPr>
        <p:spPr>
          <a:xfrm>
            <a:off x="5367528" y="2368296"/>
            <a:ext cx="1069848" cy="237744"/>
          </a:xfrm>
          <a:prstGeom prst="rect">
            <a:avLst/>
          </a:prstGeom>
          <a:noFill/>
          <a:ln/>
        </p:spPr>
        <p:txBody>
          <a:bodyPr wrap="square" lIns="0" tIns="0" rIns="0" bIns="0" rtlCol="0" anchor="t"/>
          <a:lstStyle/>
          <a:p>
            <a:pPr indent="0" marL="0">
              <a:buNone/>
            </a:pPr>
            <a:r>
              <a:rPr lang="en-US" sz="1100" b="1" dirty="0">
                <a:solidFill>
                  <a:srgbClr val="F7C85C"/>
                </a:solidFill>
                <a:latin typeface="Calibri" pitchFamily="34" charset="0"/>
                <a:ea typeface="Calibri" pitchFamily="34" charset="-122"/>
                <a:cs typeface="Calibri" pitchFamily="34" charset="-120"/>
              </a:rPr>
              <a:t>Policy</a:t>
            </a:r>
            <a:endParaRPr lang="en-US" sz="1100" dirty="0"/>
          </a:p>
        </p:txBody>
      </p:sp>
      <p:sp>
        <p:nvSpPr>
          <p:cNvPr id="40" name="Text 38"/>
          <p:cNvSpPr txBox="1"/>
          <p:nvPr/>
        </p:nvSpPr>
        <p:spPr>
          <a:xfrm>
            <a:off x="5367528" y="2606040"/>
            <a:ext cx="1069848" cy="310896"/>
          </a:xfrm>
          <a:prstGeom prst="rect">
            <a:avLst/>
          </a:prstGeom>
          <a:noFill/>
          <a:ln/>
        </p:spPr>
        <p:txBody>
          <a:bodyPr wrap="square" lIns="0" tIns="0" rIns="0" bIns="0" rtlCol="0" anchor="t"/>
          <a:lstStyle/>
          <a:p>
            <a:pPr indent="0" marL="0">
              <a:buNone/>
            </a:pPr>
            <a:r>
              <a:rPr lang="en-US" sz="900" dirty="0">
                <a:solidFill>
                  <a:srgbClr val="B5A994"/>
                </a:solidFill>
                <a:latin typeface="Calibri" pitchFamily="34" charset="0"/>
                <a:ea typeface="Calibri" pitchFamily="34" charset="-122"/>
                <a:cs typeface="Calibri" pitchFamily="34" charset="-120"/>
              </a:rPr>
              <a:t>Cedar rules, fail closed</a:t>
            </a:r>
            <a:endParaRPr lang="en-US" sz="900" dirty="0"/>
          </a:p>
        </p:txBody>
      </p:sp>
      <p:sp>
        <p:nvSpPr>
          <p:cNvPr id="41" name="Shape 39"/>
          <p:cNvSpPr/>
          <p:nvPr/>
        </p:nvSpPr>
        <p:spPr>
          <a:xfrm>
            <a:off x="3931920" y="3072384"/>
            <a:ext cx="1252728" cy="658368"/>
          </a:xfrm>
          <a:prstGeom prst="roundRect">
            <a:avLst>
              <a:gd name="adj" fmla="val 11111"/>
            </a:avLst>
          </a:prstGeom>
          <a:solidFill>
            <a:srgbClr val="2D241B"/>
          </a:solidFill>
          <a:ln w="9525">
            <a:solidFill>
              <a:srgbClr val="4A3C2C"/>
            </a:solidFill>
            <a:prstDash val="solid"/>
          </a:ln>
        </p:spPr>
      </p:sp>
      <p:sp>
        <p:nvSpPr>
          <p:cNvPr id="42" name="Text 40"/>
          <p:cNvSpPr txBox="1"/>
          <p:nvPr/>
        </p:nvSpPr>
        <p:spPr>
          <a:xfrm>
            <a:off x="4023360" y="3136392"/>
            <a:ext cx="1069848" cy="237744"/>
          </a:xfrm>
          <a:prstGeom prst="rect">
            <a:avLst/>
          </a:prstGeom>
          <a:noFill/>
          <a:ln/>
        </p:spPr>
        <p:txBody>
          <a:bodyPr wrap="square" lIns="0" tIns="0" rIns="0" bIns="0" rtlCol="0" anchor="t"/>
          <a:lstStyle/>
          <a:p>
            <a:pPr indent="0" marL="0">
              <a:buNone/>
            </a:pPr>
            <a:r>
              <a:rPr lang="en-US" sz="1100" b="1" dirty="0">
                <a:solidFill>
                  <a:srgbClr val="F7C85C"/>
                </a:solidFill>
                <a:latin typeface="Calibri" pitchFamily="34" charset="0"/>
                <a:ea typeface="Calibri" pitchFamily="34" charset="-122"/>
                <a:cs typeface="Calibri" pitchFamily="34" charset="-120"/>
              </a:rPr>
              <a:t>Search</a:t>
            </a:r>
            <a:endParaRPr lang="en-US" sz="1100" dirty="0"/>
          </a:p>
        </p:txBody>
      </p:sp>
      <p:sp>
        <p:nvSpPr>
          <p:cNvPr id="43" name="Text 41"/>
          <p:cNvSpPr txBox="1"/>
          <p:nvPr/>
        </p:nvSpPr>
        <p:spPr>
          <a:xfrm>
            <a:off x="4023360" y="3374136"/>
            <a:ext cx="1069848" cy="310896"/>
          </a:xfrm>
          <a:prstGeom prst="rect">
            <a:avLst/>
          </a:prstGeom>
          <a:noFill/>
          <a:ln/>
        </p:spPr>
        <p:txBody>
          <a:bodyPr wrap="square" lIns="0" tIns="0" rIns="0" bIns="0" rtlCol="0" anchor="t"/>
          <a:lstStyle/>
          <a:p>
            <a:pPr indent="0" marL="0">
              <a:buNone/>
            </a:pPr>
            <a:r>
              <a:rPr lang="en-US" sz="900" dirty="0">
                <a:solidFill>
                  <a:srgbClr val="B5A994"/>
                </a:solidFill>
                <a:latin typeface="Calibri" pitchFamily="34" charset="0"/>
                <a:ea typeface="Calibri" pitchFamily="34" charset="-122"/>
                <a:cs typeface="Calibri" pitchFamily="34" charset="-120"/>
              </a:rPr>
              <a:t>full-text + pgvector</a:t>
            </a:r>
            <a:endParaRPr lang="en-US" sz="900" dirty="0"/>
          </a:p>
        </p:txBody>
      </p:sp>
      <p:sp>
        <p:nvSpPr>
          <p:cNvPr id="44" name="Shape 42"/>
          <p:cNvSpPr/>
          <p:nvPr/>
        </p:nvSpPr>
        <p:spPr>
          <a:xfrm>
            <a:off x="5276088" y="3072384"/>
            <a:ext cx="1252728" cy="658368"/>
          </a:xfrm>
          <a:prstGeom prst="roundRect">
            <a:avLst>
              <a:gd name="adj" fmla="val 11111"/>
            </a:avLst>
          </a:prstGeom>
          <a:solidFill>
            <a:srgbClr val="2D241B"/>
          </a:solidFill>
          <a:ln w="9525">
            <a:solidFill>
              <a:srgbClr val="4A3C2C"/>
            </a:solidFill>
            <a:prstDash val="solid"/>
          </a:ln>
        </p:spPr>
      </p:sp>
      <p:sp>
        <p:nvSpPr>
          <p:cNvPr id="45" name="Text 43"/>
          <p:cNvSpPr txBox="1"/>
          <p:nvPr/>
        </p:nvSpPr>
        <p:spPr>
          <a:xfrm>
            <a:off x="5367528" y="3136392"/>
            <a:ext cx="1069848" cy="237744"/>
          </a:xfrm>
          <a:prstGeom prst="rect">
            <a:avLst/>
          </a:prstGeom>
          <a:noFill/>
          <a:ln/>
        </p:spPr>
        <p:txBody>
          <a:bodyPr wrap="square" lIns="0" tIns="0" rIns="0" bIns="0" rtlCol="0" anchor="t"/>
          <a:lstStyle/>
          <a:p>
            <a:pPr indent="0" marL="0">
              <a:buNone/>
            </a:pPr>
            <a:r>
              <a:rPr lang="en-US" sz="1100" b="1" dirty="0">
                <a:solidFill>
                  <a:srgbClr val="F7C85C"/>
                </a:solidFill>
                <a:latin typeface="Calibri" pitchFamily="34" charset="0"/>
                <a:ea typeface="Calibri" pitchFamily="34" charset="-122"/>
                <a:cs typeface="Calibri" pitchFamily="34" charset="-120"/>
              </a:rPr>
              <a:t>Audit</a:t>
            </a:r>
            <a:endParaRPr lang="en-US" sz="1100" dirty="0"/>
          </a:p>
        </p:txBody>
      </p:sp>
      <p:sp>
        <p:nvSpPr>
          <p:cNvPr id="46" name="Text 44"/>
          <p:cNvSpPr txBox="1"/>
          <p:nvPr/>
        </p:nvSpPr>
        <p:spPr>
          <a:xfrm>
            <a:off x="5367528" y="3374136"/>
            <a:ext cx="1069848" cy="310896"/>
          </a:xfrm>
          <a:prstGeom prst="rect">
            <a:avLst/>
          </a:prstGeom>
          <a:noFill/>
          <a:ln/>
        </p:spPr>
        <p:txBody>
          <a:bodyPr wrap="square" lIns="0" tIns="0" rIns="0" bIns="0" rtlCol="0" anchor="t"/>
          <a:lstStyle/>
          <a:p>
            <a:pPr indent="0" marL="0">
              <a:buNone/>
            </a:pPr>
            <a:r>
              <a:rPr lang="en-US" sz="900" dirty="0">
                <a:solidFill>
                  <a:srgbClr val="B5A994"/>
                </a:solidFill>
                <a:latin typeface="Calibri" pitchFamily="34" charset="0"/>
                <a:ea typeface="Calibri" pitchFamily="34" charset="-122"/>
                <a:cs typeface="Calibri" pitchFamily="34" charset="-120"/>
              </a:rPr>
              <a:t>hash-chained log</a:t>
            </a:r>
            <a:endParaRPr lang="en-US" sz="900" dirty="0"/>
          </a:p>
        </p:txBody>
      </p:sp>
      <p:sp>
        <p:nvSpPr>
          <p:cNvPr id="47" name="Shape 45"/>
          <p:cNvSpPr/>
          <p:nvPr/>
        </p:nvSpPr>
        <p:spPr>
          <a:xfrm>
            <a:off x="6903720" y="1463040"/>
            <a:ext cx="1783080" cy="621792"/>
          </a:xfrm>
          <a:prstGeom prst="roundRect">
            <a:avLst>
              <a:gd name="adj" fmla="val 11765"/>
            </a:avLst>
          </a:prstGeom>
          <a:solidFill>
            <a:srgbClr val="221B14"/>
          </a:solidFill>
          <a:ln w="9525">
            <a:solidFill>
              <a:srgbClr val="4A3C2C"/>
            </a:solidFill>
            <a:prstDash val="solid"/>
          </a:ln>
        </p:spPr>
      </p:sp>
      <p:sp>
        <p:nvSpPr>
          <p:cNvPr id="48" name="Text 46"/>
          <p:cNvSpPr txBox="1"/>
          <p:nvPr/>
        </p:nvSpPr>
        <p:spPr>
          <a:xfrm>
            <a:off x="6995160" y="1527048"/>
            <a:ext cx="1600200" cy="237744"/>
          </a:xfrm>
          <a:prstGeom prst="rect">
            <a:avLst/>
          </a:prstGeom>
          <a:noFill/>
          <a:ln/>
        </p:spPr>
        <p:txBody>
          <a:bodyPr wrap="square" lIns="0" tIns="0" rIns="0" bIns="0" rtlCol="0" anchor="t"/>
          <a:lstStyle/>
          <a:p>
            <a:pPr indent="0" marL="0">
              <a:buNone/>
            </a:pPr>
            <a:r>
              <a:rPr lang="en-US" sz="1100" b="1" dirty="0">
                <a:solidFill>
                  <a:srgbClr val="F5EEE3"/>
                </a:solidFill>
                <a:latin typeface="Calibri" pitchFamily="34" charset="0"/>
                <a:ea typeface="Calibri" pitchFamily="34" charset="-122"/>
                <a:cs typeface="Calibri" pitchFamily="34" charset="-120"/>
              </a:rPr>
              <a:t>MCP server</a:t>
            </a:r>
            <a:endParaRPr lang="en-US" sz="1100" dirty="0"/>
          </a:p>
        </p:txBody>
      </p:sp>
      <p:sp>
        <p:nvSpPr>
          <p:cNvPr id="49" name="Text 47"/>
          <p:cNvSpPr txBox="1"/>
          <p:nvPr/>
        </p:nvSpPr>
        <p:spPr>
          <a:xfrm>
            <a:off x="6995160" y="1764792"/>
            <a:ext cx="1600200" cy="274320"/>
          </a:xfrm>
          <a:prstGeom prst="rect">
            <a:avLst/>
          </a:prstGeom>
          <a:noFill/>
          <a:ln/>
        </p:spPr>
        <p:txBody>
          <a:bodyPr wrap="square" lIns="0" tIns="0" rIns="0" bIns="0" rtlCol="0" anchor="t"/>
          <a:lstStyle/>
          <a:p>
            <a:pPr indent="0" marL="0">
              <a:buNone/>
            </a:pPr>
            <a:r>
              <a:rPr lang="en-US" sz="900" dirty="0">
                <a:solidFill>
                  <a:srgbClr val="B5A994"/>
                </a:solidFill>
                <a:latin typeface="Calibri" pitchFamily="34" charset="0"/>
                <a:ea typeface="Calibri" pitchFamily="34" charset="-122"/>
                <a:cs typeface="Calibri" pitchFamily="34" charset="-120"/>
              </a:rPr>
              <a:t>OAuth 2.1, approved AI clients</a:t>
            </a:r>
            <a:endParaRPr lang="en-US" sz="900" dirty="0"/>
          </a:p>
        </p:txBody>
      </p:sp>
      <p:sp>
        <p:nvSpPr>
          <p:cNvPr id="50" name="Shape 48"/>
          <p:cNvSpPr/>
          <p:nvPr/>
        </p:nvSpPr>
        <p:spPr>
          <a:xfrm>
            <a:off x="6675120" y="1773936"/>
            <a:ext cx="228600" cy="914"/>
          </a:xfrm>
          <a:prstGeom prst="line">
            <a:avLst/>
          </a:prstGeom>
          <a:noFill/>
          <a:ln w="15875">
            <a:solidFill>
              <a:srgbClr val="F2A93B"/>
            </a:solidFill>
            <a:prstDash val="solid"/>
            <a:tailEnd type="triangle"/>
          </a:ln>
        </p:spPr>
      </p:sp>
      <p:sp>
        <p:nvSpPr>
          <p:cNvPr id="51" name="Shape 49"/>
          <p:cNvSpPr/>
          <p:nvPr/>
        </p:nvSpPr>
        <p:spPr>
          <a:xfrm>
            <a:off x="6903720" y="2240280"/>
            <a:ext cx="1783080" cy="621792"/>
          </a:xfrm>
          <a:prstGeom prst="roundRect">
            <a:avLst>
              <a:gd name="adj" fmla="val 11765"/>
            </a:avLst>
          </a:prstGeom>
          <a:solidFill>
            <a:srgbClr val="221B14"/>
          </a:solidFill>
          <a:ln w="9525">
            <a:solidFill>
              <a:srgbClr val="4A3C2C"/>
            </a:solidFill>
            <a:prstDash val="solid"/>
          </a:ln>
        </p:spPr>
      </p:sp>
      <p:sp>
        <p:nvSpPr>
          <p:cNvPr id="52" name="Text 50"/>
          <p:cNvSpPr txBox="1"/>
          <p:nvPr/>
        </p:nvSpPr>
        <p:spPr>
          <a:xfrm>
            <a:off x="6995160" y="2304288"/>
            <a:ext cx="1600200" cy="237744"/>
          </a:xfrm>
          <a:prstGeom prst="rect">
            <a:avLst/>
          </a:prstGeom>
          <a:noFill/>
          <a:ln/>
        </p:spPr>
        <p:txBody>
          <a:bodyPr wrap="square" lIns="0" tIns="0" rIns="0" bIns="0" rtlCol="0" anchor="t"/>
          <a:lstStyle/>
          <a:p>
            <a:pPr indent="0" marL="0">
              <a:buNone/>
            </a:pPr>
            <a:r>
              <a:rPr lang="en-US" sz="1100" b="1" dirty="0">
                <a:solidFill>
                  <a:srgbClr val="F5EEE3"/>
                </a:solidFill>
                <a:latin typeface="Calibri" pitchFamily="34" charset="0"/>
                <a:ea typeface="Calibri" pitchFamily="34" charset="-122"/>
                <a:cs typeface="Calibri" pitchFamily="34" charset="-120"/>
              </a:rPr>
              <a:t>Admin API + CLI</a:t>
            </a:r>
            <a:endParaRPr lang="en-US" sz="1100" dirty="0"/>
          </a:p>
        </p:txBody>
      </p:sp>
      <p:sp>
        <p:nvSpPr>
          <p:cNvPr id="53" name="Text 51"/>
          <p:cNvSpPr txBox="1"/>
          <p:nvPr/>
        </p:nvSpPr>
        <p:spPr>
          <a:xfrm>
            <a:off x="6995160" y="2542032"/>
            <a:ext cx="1600200" cy="274320"/>
          </a:xfrm>
          <a:prstGeom prst="rect">
            <a:avLst/>
          </a:prstGeom>
          <a:noFill/>
          <a:ln/>
        </p:spPr>
        <p:txBody>
          <a:bodyPr wrap="square" lIns="0" tIns="0" rIns="0" bIns="0" rtlCol="0" anchor="t"/>
          <a:lstStyle/>
          <a:p>
            <a:pPr indent="0" marL="0">
              <a:buNone/>
            </a:pPr>
            <a:r>
              <a:rPr lang="en-US" sz="900" dirty="0">
                <a:solidFill>
                  <a:srgbClr val="B5A994"/>
                </a:solidFill>
                <a:latin typeface="Calibri" pitchFamily="34" charset="0"/>
                <a:ea typeface="Calibri" pitchFamily="34" charset="-122"/>
                <a:cs typeface="Calibri" pitchFamily="34" charset="-120"/>
              </a:rPr>
              <a:t>clients, admins, sources</a:t>
            </a:r>
            <a:endParaRPr lang="en-US" sz="900" dirty="0"/>
          </a:p>
        </p:txBody>
      </p:sp>
      <p:sp>
        <p:nvSpPr>
          <p:cNvPr id="54" name="Shape 52"/>
          <p:cNvSpPr/>
          <p:nvPr/>
        </p:nvSpPr>
        <p:spPr>
          <a:xfrm>
            <a:off x="6675120" y="2551176"/>
            <a:ext cx="228600" cy="914"/>
          </a:xfrm>
          <a:prstGeom prst="line">
            <a:avLst/>
          </a:prstGeom>
          <a:noFill/>
          <a:ln w="15875">
            <a:solidFill>
              <a:srgbClr val="F2A93B"/>
            </a:solidFill>
            <a:prstDash val="solid"/>
            <a:tailEnd type="triangle"/>
          </a:ln>
        </p:spPr>
      </p:sp>
      <p:sp>
        <p:nvSpPr>
          <p:cNvPr id="55" name="Shape 53"/>
          <p:cNvSpPr/>
          <p:nvPr/>
        </p:nvSpPr>
        <p:spPr>
          <a:xfrm>
            <a:off x="6903720" y="3017520"/>
            <a:ext cx="1783080" cy="621792"/>
          </a:xfrm>
          <a:prstGeom prst="roundRect">
            <a:avLst>
              <a:gd name="adj" fmla="val 11765"/>
            </a:avLst>
          </a:prstGeom>
          <a:solidFill>
            <a:srgbClr val="221B14"/>
          </a:solidFill>
          <a:ln w="9525">
            <a:solidFill>
              <a:srgbClr val="4A3C2C"/>
            </a:solidFill>
            <a:prstDash val="dash"/>
          </a:ln>
        </p:spPr>
      </p:sp>
      <p:sp>
        <p:nvSpPr>
          <p:cNvPr id="56" name="Text 54"/>
          <p:cNvSpPr txBox="1"/>
          <p:nvPr/>
        </p:nvSpPr>
        <p:spPr>
          <a:xfrm>
            <a:off x="6995160" y="3081528"/>
            <a:ext cx="1600200" cy="237744"/>
          </a:xfrm>
          <a:prstGeom prst="rect">
            <a:avLst/>
          </a:prstGeom>
          <a:noFill/>
          <a:ln/>
        </p:spPr>
        <p:txBody>
          <a:bodyPr wrap="square" lIns="0" tIns="0" rIns="0" bIns="0" rtlCol="0" anchor="t"/>
          <a:lstStyle/>
          <a:p>
            <a:pPr indent="0" marL="0">
              <a:buNone/>
            </a:pPr>
            <a:r>
              <a:rPr lang="en-US" sz="1100" b="1" dirty="0">
                <a:solidFill>
                  <a:srgbClr val="F5EEE3"/>
                </a:solidFill>
                <a:latin typeface="Calibri" pitchFamily="34" charset="0"/>
                <a:ea typeface="Calibri" pitchFamily="34" charset="-122"/>
                <a:cs typeface="Calibri" pitchFamily="34" charset="-120"/>
              </a:rPr>
              <a:t>Web app</a:t>
            </a:r>
            <a:endParaRPr lang="en-US" sz="1100" dirty="0"/>
          </a:p>
        </p:txBody>
      </p:sp>
      <p:sp>
        <p:nvSpPr>
          <p:cNvPr id="57" name="Text 55"/>
          <p:cNvSpPr txBox="1"/>
          <p:nvPr/>
        </p:nvSpPr>
        <p:spPr>
          <a:xfrm>
            <a:off x="6995160" y="3319272"/>
            <a:ext cx="1600200" cy="274320"/>
          </a:xfrm>
          <a:prstGeom prst="rect">
            <a:avLst/>
          </a:prstGeom>
          <a:noFill/>
          <a:ln/>
        </p:spPr>
        <p:txBody>
          <a:bodyPr wrap="square" lIns="0" tIns="0" rIns="0" bIns="0" rtlCol="0" anchor="t"/>
          <a:lstStyle/>
          <a:p>
            <a:pPr indent="0" marL="0">
              <a:buNone/>
            </a:pPr>
            <a:r>
              <a:rPr lang="en-US" sz="900" dirty="0">
                <a:solidFill>
                  <a:srgbClr val="B5A994"/>
                </a:solidFill>
                <a:latin typeface="Calibri" pitchFamily="34" charset="0"/>
                <a:ea typeface="Calibri" pitchFamily="34" charset="-122"/>
                <a:cs typeface="Calibri" pitchFamily="34" charset="-120"/>
              </a:rPr>
              <a:t>planned</a:t>
            </a:r>
            <a:endParaRPr lang="en-US" sz="900" dirty="0"/>
          </a:p>
        </p:txBody>
      </p:sp>
      <p:sp>
        <p:nvSpPr>
          <p:cNvPr id="58" name="Shape 56"/>
          <p:cNvSpPr/>
          <p:nvPr/>
        </p:nvSpPr>
        <p:spPr>
          <a:xfrm>
            <a:off x="6675120" y="3328416"/>
            <a:ext cx="228600" cy="914"/>
          </a:xfrm>
          <a:prstGeom prst="line">
            <a:avLst/>
          </a:prstGeom>
          <a:noFill/>
          <a:ln w="15875">
            <a:solidFill>
              <a:srgbClr val="F2A93B"/>
            </a:solidFill>
            <a:prstDash val="solid"/>
            <a:tailEnd type="triangle"/>
          </a:ln>
        </p:spPr>
      </p:sp>
      <p:sp>
        <p:nvSpPr>
          <p:cNvPr id="59" name="Shape 57"/>
          <p:cNvSpPr/>
          <p:nvPr/>
        </p:nvSpPr>
        <p:spPr>
          <a:xfrm>
            <a:off x="457200" y="4069080"/>
            <a:ext cx="8229600" cy="502920"/>
          </a:xfrm>
          <a:prstGeom prst="roundRect">
            <a:avLst>
              <a:gd name="adj" fmla="val 14545"/>
            </a:avLst>
          </a:prstGeom>
          <a:solidFill>
            <a:srgbClr val="2D241B"/>
          </a:solidFill>
          <a:ln w="9525">
            <a:solidFill>
              <a:srgbClr val="4A3C2C"/>
            </a:solidFill>
            <a:prstDash val="solid"/>
          </a:ln>
        </p:spPr>
      </p:sp>
      <p:pic>
        <p:nvPicPr>
          <p:cNvPr id="60" name="Image 0" descr="preencoded.png">    </p:cNvPr>
          <p:cNvPicPr>
            <a:picLocks noChangeAspect="1"/>
          </p:cNvPicPr>
          <p:nvPr/>
        </p:nvPicPr>
        <p:blipFill>
          <a:blip r:embed="rId1"/>
          <a:stretch>
            <a:fillRect/>
          </a:stretch>
        </p:blipFill>
        <p:spPr>
          <a:xfrm>
            <a:off x="566928" y="4133088"/>
            <a:ext cx="365760" cy="365760"/>
          </a:xfrm>
          <a:prstGeom prst="rect">
            <a:avLst/>
          </a:prstGeom>
        </p:spPr>
      </p:pic>
      <p:sp>
        <p:nvSpPr>
          <p:cNvPr id="61" name="Text 58"/>
          <p:cNvSpPr txBox="1"/>
          <p:nvPr/>
        </p:nvSpPr>
        <p:spPr>
          <a:xfrm>
            <a:off x="1024128" y="4069080"/>
            <a:ext cx="7589520" cy="502920"/>
          </a:xfrm>
          <a:prstGeom prst="rect">
            <a:avLst/>
          </a:prstGeom>
          <a:noFill/>
          <a:ln/>
        </p:spPr>
        <p:txBody>
          <a:bodyPr wrap="square" lIns="0" tIns="0" rIns="0" bIns="0" rtlCol="0" anchor="ctr"/>
          <a:lstStyle/>
          <a:p>
            <a:pPr indent="0" marL="0">
              <a:buNone/>
            </a:pPr>
            <a:r>
              <a:rPr lang="en-US" sz="1100" b="1" dirty="0">
                <a:solidFill>
                  <a:srgbClr val="F2A93B"/>
                </a:solidFill>
                <a:latin typeface="Calibri" pitchFamily="34" charset="0"/>
                <a:ea typeface="Calibri" pitchFamily="34" charset="-122"/>
                <a:cs typeface="Calibri" pitchFamily="34" charset="-120"/>
              </a:rPr>
              <a:t>Identity  </a:t>
            </a:r>
            <a:pPr indent="0" marL="0">
              <a:buNone/>
            </a:pPr>
            <a:r>
              <a:rPr lang="en-US" sz="1100" dirty="0">
                <a:solidFill>
                  <a:srgbClr val="F5EEE3"/>
                </a:solidFill>
                <a:latin typeface="Calibri" pitchFamily="34" charset="0"/>
                <a:ea typeface="Calibri" pitchFamily="34" charset="-122"/>
                <a:cs typeface="Calibri" pitchFamily="34" charset="-120"/>
              </a:rPr>
              <a:t>Entra ID or any OIDC sign-in  ·  SCIM 2.0 users and groups  ·  service accounts with scoped API keys</a:t>
            </a:r>
            <a:endParaRPr lang="en-US" sz="1100" dirty="0"/>
          </a:p>
        </p:txBody>
      </p:sp>
      <p:pic>
        <p:nvPicPr>
          <p:cNvPr id="62" name="Image 1" descr="preencoded.png">    </p:cNvPr>
          <p:cNvPicPr>
            <a:picLocks noChangeAspect="1"/>
          </p:cNvPicPr>
          <p:nvPr/>
        </p:nvPicPr>
        <p:blipFill>
          <a:blip r:embed="rId2"/>
          <a:stretch>
            <a:fillRect/>
          </a:stretch>
        </p:blipFill>
        <p:spPr>
          <a:xfrm>
            <a:off x="457200" y="4754880"/>
            <a:ext cx="182880" cy="182880"/>
          </a:xfrm>
          <a:prstGeom prst="rect">
            <a:avLst/>
          </a:prstGeom>
        </p:spPr>
      </p:pic>
      <p:sp>
        <p:nvSpPr>
          <p:cNvPr id="63" name="Text 59"/>
          <p:cNvSpPr txBox="1"/>
          <p:nvPr/>
        </p:nvSpPr>
        <p:spPr>
          <a:xfrm>
            <a:off x="694944" y="4754880"/>
            <a:ext cx="1828800" cy="182880"/>
          </a:xfrm>
          <a:prstGeom prst="rect">
            <a:avLst/>
          </a:prstGeom>
          <a:noFill/>
          <a:ln/>
        </p:spPr>
        <p:txBody>
          <a:bodyPr wrap="square" lIns="0" tIns="0" rIns="0" bIns="0" rtlCol="0" anchor="ctr"/>
          <a:lstStyle/>
          <a:p>
            <a:pPr indent="0" marL="0">
              <a:buNone/>
            </a:pPr>
            <a:r>
              <a:rPr lang="en-US" sz="900" dirty="0">
                <a:solidFill>
                  <a:srgbClr val="B5A994"/>
                </a:solidFill>
                <a:latin typeface="Calibri" pitchFamily="34" charset="0"/>
                <a:ea typeface="Calibri" pitchFamily="34" charset="-122"/>
                <a:cs typeface="Calibri" pitchFamily="34" charset="-120"/>
              </a:rPr>
              <a:t>OpenHoard</a:t>
            </a:r>
            <a:endParaRPr lang="en-US" sz="900" dirty="0"/>
          </a:p>
        </p:txBody>
      </p:sp>
      <p:sp>
        <p:nvSpPr>
          <p:cNvPr id="64" name="Text 60"/>
          <p:cNvSpPr txBox="1"/>
          <p:nvPr/>
        </p:nvSpPr>
        <p:spPr>
          <a:xfrm>
            <a:off x="7772400" y="4754880"/>
            <a:ext cx="914400" cy="182880"/>
          </a:xfrm>
          <a:prstGeom prst="rect">
            <a:avLst/>
          </a:prstGeom>
          <a:noFill/>
          <a:ln/>
        </p:spPr>
        <p:txBody>
          <a:bodyPr wrap="square" lIns="0" tIns="0" rIns="0" bIns="0" rtlCol="0" anchor="ctr"/>
          <a:lstStyle/>
          <a:p>
            <a:pPr algn="r" indent="0" marL="0">
              <a:buNone/>
            </a:pPr>
            <a:r>
              <a:rPr lang="en-US" sz="900" dirty="0">
                <a:solidFill>
                  <a:srgbClr val="B5A99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110D"/>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indent="0" marL="0">
              <a:buNone/>
            </a:pPr>
            <a:r>
              <a:rPr lang="en-US" sz="1000" b="1" spc="400" kern="0" dirty="0">
                <a:solidFill>
                  <a:srgbClr val="F2A93B"/>
                </a:solidFill>
                <a:latin typeface="Calibri" pitchFamily="34" charset="0"/>
                <a:ea typeface="Calibri" pitchFamily="34" charset="-122"/>
                <a:cs typeface="Calibri" pitchFamily="34" charset="-120"/>
              </a:rPr>
              <a:t>DATA FLOW</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800" b="1" dirty="0">
                <a:solidFill>
                  <a:srgbClr val="F5EEE3"/>
                </a:solidFill>
                <a:latin typeface="Cambria" pitchFamily="34" charset="0"/>
                <a:ea typeface="Cambria" pitchFamily="34" charset="-122"/>
                <a:cs typeface="Cambria" pitchFamily="34" charset="-120"/>
              </a:rPr>
              <a:t>The ingest pipeline: from file to findable</a:t>
            </a:r>
            <a:endParaRPr lang="en-US" sz="2800" dirty="0"/>
          </a:p>
        </p:txBody>
      </p:sp>
      <p:sp>
        <p:nvSpPr>
          <p:cNvPr id="4" name="Text 2"/>
          <p:cNvSpPr txBox="1"/>
          <p:nvPr/>
        </p:nvSpPr>
        <p:spPr>
          <a:xfrm>
            <a:off x="457200" y="1298448"/>
            <a:ext cx="1097280" cy="182880"/>
          </a:xfrm>
          <a:prstGeom prst="rect">
            <a:avLst/>
          </a:prstGeom>
          <a:noFill/>
          <a:ln/>
        </p:spPr>
        <p:txBody>
          <a:bodyPr wrap="square" lIns="0" tIns="0" rIns="0" bIns="0" rtlCol="0" anchor="t"/>
          <a:lstStyle/>
          <a:p>
            <a:pPr algn="ctr" indent="0" marL="0">
              <a:buNone/>
            </a:pPr>
            <a:r>
              <a:rPr lang="en-US" sz="950" b="1" dirty="0">
                <a:solidFill>
                  <a:srgbClr val="B5A994"/>
                </a:solidFill>
                <a:latin typeface="Calibri" pitchFamily="34" charset="0"/>
                <a:ea typeface="Calibri" pitchFamily="34" charset="-122"/>
                <a:cs typeface="Calibri" pitchFamily="34" charset="-120"/>
              </a:rPr>
              <a:t>01</a:t>
            </a:r>
            <a:endParaRPr lang="en-US" sz="950" dirty="0"/>
          </a:p>
        </p:txBody>
      </p:sp>
      <p:pic>
        <p:nvPicPr>
          <p:cNvPr id="5" name="Image 0" descr="preencoded.png">    </p:cNvPr>
          <p:cNvPicPr>
            <a:picLocks noChangeAspect="1"/>
          </p:cNvPicPr>
          <p:nvPr/>
        </p:nvPicPr>
        <p:blipFill>
          <a:blip r:embed="rId1"/>
          <a:stretch>
            <a:fillRect/>
          </a:stretch>
        </p:blipFill>
        <p:spPr>
          <a:xfrm>
            <a:off x="713232" y="1508760"/>
            <a:ext cx="585216" cy="585216"/>
          </a:xfrm>
          <a:prstGeom prst="rect">
            <a:avLst/>
          </a:prstGeom>
        </p:spPr>
      </p:pic>
      <p:sp>
        <p:nvSpPr>
          <p:cNvPr id="6" name="Shape 3"/>
          <p:cNvSpPr/>
          <p:nvPr/>
        </p:nvSpPr>
        <p:spPr>
          <a:xfrm>
            <a:off x="1353312" y="1801368"/>
            <a:ext cx="493776" cy="914"/>
          </a:xfrm>
          <a:prstGeom prst="line">
            <a:avLst/>
          </a:prstGeom>
          <a:noFill/>
          <a:ln w="15875">
            <a:solidFill>
              <a:srgbClr val="F2A93B">
                <a:alpha val="80000"/>
              </a:srgbClr>
            </a:solidFill>
            <a:prstDash val="solid"/>
            <a:tailEnd type="triangle"/>
          </a:ln>
        </p:spPr>
      </p:sp>
      <p:sp>
        <p:nvSpPr>
          <p:cNvPr id="7" name="Text 4"/>
          <p:cNvSpPr txBox="1"/>
          <p:nvPr/>
        </p:nvSpPr>
        <p:spPr>
          <a:xfrm>
            <a:off x="457200" y="2176272"/>
            <a:ext cx="1097280" cy="256032"/>
          </a:xfrm>
          <a:prstGeom prst="rect">
            <a:avLst/>
          </a:prstGeom>
          <a:noFill/>
          <a:ln/>
        </p:spPr>
        <p:txBody>
          <a:bodyPr wrap="square" lIns="0" tIns="0" rIns="0" bIns="0" rtlCol="0" anchor="t"/>
          <a:lstStyle/>
          <a:p>
            <a:pPr algn="ctr" indent="0" marL="0">
              <a:buNone/>
            </a:pPr>
            <a:r>
              <a:rPr lang="en-US" sz="1250" b="1" dirty="0">
                <a:solidFill>
                  <a:srgbClr val="F5EEE3"/>
                </a:solidFill>
                <a:latin typeface="Calibri" pitchFamily="34" charset="0"/>
                <a:ea typeface="Calibri" pitchFamily="34" charset="-122"/>
                <a:cs typeface="Calibri" pitchFamily="34" charset="-120"/>
              </a:rPr>
              <a:t>Sync</a:t>
            </a:r>
            <a:endParaRPr lang="en-US" sz="1250" dirty="0"/>
          </a:p>
        </p:txBody>
      </p:sp>
      <p:sp>
        <p:nvSpPr>
          <p:cNvPr id="8" name="Text 5"/>
          <p:cNvSpPr txBox="1"/>
          <p:nvPr/>
        </p:nvSpPr>
        <p:spPr>
          <a:xfrm>
            <a:off x="475488" y="2450592"/>
            <a:ext cx="1060704" cy="960120"/>
          </a:xfrm>
          <a:prstGeom prst="rect">
            <a:avLst/>
          </a:prstGeom>
          <a:noFill/>
          <a:ln/>
        </p:spPr>
        <p:txBody>
          <a:bodyPr wrap="square" lIns="0" tIns="0" rIns="0" bIns="0" rtlCol="0" anchor="t"/>
          <a:lstStyle/>
          <a:p>
            <a:pPr algn="ctr" indent="0" marL="0">
              <a:buNone/>
            </a:pPr>
            <a:r>
              <a:rPr lang="en-US" sz="950" dirty="0">
                <a:solidFill>
                  <a:srgbClr val="B5A994"/>
                </a:solidFill>
                <a:latin typeface="Calibri" pitchFamily="34" charset="0"/>
                <a:ea typeface="Calibri" pitchFamily="34" charset="-122"/>
                <a:cs typeface="Calibri" pitchFamily="34" charset="-120"/>
              </a:rPr>
              <a:t>Connector crawls once, then pulls only what changed.</a:t>
            </a:r>
            <a:endParaRPr lang="en-US" sz="950" dirty="0"/>
          </a:p>
        </p:txBody>
      </p:sp>
      <p:sp>
        <p:nvSpPr>
          <p:cNvPr id="9" name="Text 6"/>
          <p:cNvSpPr txBox="1"/>
          <p:nvPr/>
        </p:nvSpPr>
        <p:spPr>
          <a:xfrm>
            <a:off x="1645920" y="1298448"/>
            <a:ext cx="1097280" cy="182880"/>
          </a:xfrm>
          <a:prstGeom prst="rect">
            <a:avLst/>
          </a:prstGeom>
          <a:noFill/>
          <a:ln/>
        </p:spPr>
        <p:txBody>
          <a:bodyPr wrap="square" lIns="0" tIns="0" rIns="0" bIns="0" rtlCol="0" anchor="t"/>
          <a:lstStyle/>
          <a:p>
            <a:pPr algn="ctr" indent="0" marL="0">
              <a:buNone/>
            </a:pPr>
            <a:r>
              <a:rPr lang="en-US" sz="950" b="1" dirty="0">
                <a:solidFill>
                  <a:srgbClr val="B5A994"/>
                </a:solidFill>
                <a:latin typeface="Calibri" pitchFamily="34" charset="0"/>
                <a:ea typeface="Calibri" pitchFamily="34" charset="-122"/>
                <a:cs typeface="Calibri" pitchFamily="34" charset="-120"/>
              </a:rPr>
              <a:t>02</a:t>
            </a:r>
            <a:endParaRPr lang="en-US" sz="950" dirty="0"/>
          </a:p>
        </p:txBody>
      </p:sp>
      <p:pic>
        <p:nvPicPr>
          <p:cNvPr id="10" name="Image 1" descr="preencoded.png">    </p:cNvPr>
          <p:cNvPicPr>
            <a:picLocks noChangeAspect="1"/>
          </p:cNvPicPr>
          <p:nvPr/>
        </p:nvPicPr>
        <p:blipFill>
          <a:blip r:embed="rId2"/>
          <a:stretch>
            <a:fillRect/>
          </a:stretch>
        </p:blipFill>
        <p:spPr>
          <a:xfrm>
            <a:off x="1901952" y="1508760"/>
            <a:ext cx="585216" cy="585216"/>
          </a:xfrm>
          <a:prstGeom prst="rect">
            <a:avLst/>
          </a:prstGeom>
        </p:spPr>
      </p:pic>
      <p:sp>
        <p:nvSpPr>
          <p:cNvPr id="11" name="Shape 7"/>
          <p:cNvSpPr/>
          <p:nvPr/>
        </p:nvSpPr>
        <p:spPr>
          <a:xfrm>
            <a:off x="2542032" y="1801368"/>
            <a:ext cx="493776" cy="914"/>
          </a:xfrm>
          <a:prstGeom prst="line">
            <a:avLst/>
          </a:prstGeom>
          <a:noFill/>
          <a:ln w="15875">
            <a:solidFill>
              <a:srgbClr val="F2A93B">
                <a:alpha val="80000"/>
              </a:srgbClr>
            </a:solidFill>
            <a:prstDash val="solid"/>
            <a:tailEnd type="triangle"/>
          </a:ln>
        </p:spPr>
      </p:sp>
      <p:sp>
        <p:nvSpPr>
          <p:cNvPr id="12" name="Text 8"/>
          <p:cNvSpPr txBox="1"/>
          <p:nvPr/>
        </p:nvSpPr>
        <p:spPr>
          <a:xfrm>
            <a:off x="1645920" y="2176272"/>
            <a:ext cx="1097280" cy="256032"/>
          </a:xfrm>
          <a:prstGeom prst="rect">
            <a:avLst/>
          </a:prstGeom>
          <a:noFill/>
          <a:ln/>
        </p:spPr>
        <p:txBody>
          <a:bodyPr wrap="square" lIns="0" tIns="0" rIns="0" bIns="0" rtlCol="0" anchor="t"/>
          <a:lstStyle/>
          <a:p>
            <a:pPr algn="ctr" indent="0" marL="0">
              <a:buNone/>
            </a:pPr>
            <a:r>
              <a:rPr lang="en-US" sz="1250" b="1" dirty="0">
                <a:solidFill>
                  <a:srgbClr val="F5EEE3"/>
                </a:solidFill>
                <a:latin typeface="Calibri" pitchFamily="34" charset="0"/>
                <a:ea typeface="Calibri" pitchFamily="34" charset="-122"/>
                <a:cs typeface="Calibri" pitchFamily="34" charset="-120"/>
              </a:rPr>
              <a:t>Ingest</a:t>
            </a:r>
            <a:endParaRPr lang="en-US" sz="1250" dirty="0"/>
          </a:p>
        </p:txBody>
      </p:sp>
      <p:sp>
        <p:nvSpPr>
          <p:cNvPr id="13" name="Text 9"/>
          <p:cNvSpPr txBox="1"/>
          <p:nvPr/>
        </p:nvSpPr>
        <p:spPr>
          <a:xfrm>
            <a:off x="1664208" y="2450592"/>
            <a:ext cx="1060704" cy="960120"/>
          </a:xfrm>
          <a:prstGeom prst="rect">
            <a:avLst/>
          </a:prstGeom>
          <a:noFill/>
          <a:ln/>
        </p:spPr>
        <p:txBody>
          <a:bodyPr wrap="square" lIns="0" tIns="0" rIns="0" bIns="0" rtlCol="0" anchor="t"/>
          <a:lstStyle/>
          <a:p>
            <a:pPr algn="ctr" indent="0" marL="0">
              <a:buNone/>
            </a:pPr>
            <a:r>
              <a:rPr lang="en-US" sz="950" dirty="0">
                <a:solidFill>
                  <a:srgbClr val="B5A994"/>
                </a:solidFill>
                <a:latin typeface="Calibri" pitchFamily="34" charset="0"/>
                <a:ea typeface="Calibri" pitchFamily="34" charset="-122"/>
                <a:cs typeface="Calibri" pitchFamily="34" charset="-120"/>
              </a:rPr>
              <a:t>New version recorded, bytes hashed. Unchanged content adds nothing.</a:t>
            </a:r>
            <a:endParaRPr lang="en-US" sz="950" dirty="0"/>
          </a:p>
        </p:txBody>
      </p:sp>
      <p:sp>
        <p:nvSpPr>
          <p:cNvPr id="14" name="Text 10"/>
          <p:cNvSpPr txBox="1"/>
          <p:nvPr/>
        </p:nvSpPr>
        <p:spPr>
          <a:xfrm>
            <a:off x="2834640" y="1298448"/>
            <a:ext cx="1097280" cy="182880"/>
          </a:xfrm>
          <a:prstGeom prst="rect">
            <a:avLst/>
          </a:prstGeom>
          <a:noFill/>
          <a:ln/>
        </p:spPr>
        <p:txBody>
          <a:bodyPr wrap="square" lIns="0" tIns="0" rIns="0" bIns="0" rtlCol="0" anchor="t"/>
          <a:lstStyle/>
          <a:p>
            <a:pPr algn="ctr" indent="0" marL="0">
              <a:buNone/>
            </a:pPr>
            <a:r>
              <a:rPr lang="en-US" sz="950" b="1" dirty="0">
                <a:solidFill>
                  <a:srgbClr val="B5A994"/>
                </a:solidFill>
                <a:latin typeface="Calibri" pitchFamily="34" charset="0"/>
                <a:ea typeface="Calibri" pitchFamily="34" charset="-122"/>
                <a:cs typeface="Calibri" pitchFamily="34" charset="-120"/>
              </a:rPr>
              <a:t>03</a:t>
            </a:r>
            <a:endParaRPr lang="en-US" sz="950" dirty="0"/>
          </a:p>
        </p:txBody>
      </p:sp>
      <p:pic>
        <p:nvPicPr>
          <p:cNvPr id="15" name="Image 2" descr="preencoded.png">    </p:cNvPr>
          <p:cNvPicPr>
            <a:picLocks noChangeAspect="1"/>
          </p:cNvPicPr>
          <p:nvPr/>
        </p:nvPicPr>
        <p:blipFill>
          <a:blip r:embed="rId3"/>
          <a:stretch>
            <a:fillRect/>
          </a:stretch>
        </p:blipFill>
        <p:spPr>
          <a:xfrm>
            <a:off x="3090672" y="1508760"/>
            <a:ext cx="585216" cy="585216"/>
          </a:xfrm>
          <a:prstGeom prst="rect">
            <a:avLst/>
          </a:prstGeom>
        </p:spPr>
      </p:pic>
      <p:sp>
        <p:nvSpPr>
          <p:cNvPr id="16" name="Shape 11"/>
          <p:cNvSpPr/>
          <p:nvPr/>
        </p:nvSpPr>
        <p:spPr>
          <a:xfrm>
            <a:off x="3730752" y="1801368"/>
            <a:ext cx="493776" cy="914"/>
          </a:xfrm>
          <a:prstGeom prst="line">
            <a:avLst/>
          </a:prstGeom>
          <a:noFill/>
          <a:ln w="15875">
            <a:solidFill>
              <a:srgbClr val="F2A93B">
                <a:alpha val="80000"/>
              </a:srgbClr>
            </a:solidFill>
            <a:prstDash val="solid"/>
            <a:tailEnd type="triangle"/>
          </a:ln>
        </p:spPr>
      </p:sp>
      <p:sp>
        <p:nvSpPr>
          <p:cNvPr id="17" name="Text 12"/>
          <p:cNvSpPr txBox="1"/>
          <p:nvPr/>
        </p:nvSpPr>
        <p:spPr>
          <a:xfrm>
            <a:off x="2834640" y="2176272"/>
            <a:ext cx="1097280" cy="256032"/>
          </a:xfrm>
          <a:prstGeom prst="rect">
            <a:avLst/>
          </a:prstGeom>
          <a:noFill/>
          <a:ln/>
        </p:spPr>
        <p:txBody>
          <a:bodyPr wrap="square" lIns="0" tIns="0" rIns="0" bIns="0" rtlCol="0" anchor="t"/>
          <a:lstStyle/>
          <a:p>
            <a:pPr algn="ctr" indent="0" marL="0">
              <a:buNone/>
            </a:pPr>
            <a:r>
              <a:rPr lang="en-US" sz="1250" b="1" dirty="0">
                <a:solidFill>
                  <a:srgbClr val="F5EEE3"/>
                </a:solidFill>
                <a:latin typeface="Calibri" pitchFamily="34" charset="0"/>
                <a:ea typeface="Calibri" pitchFamily="34" charset="-122"/>
                <a:cs typeface="Calibri" pitchFamily="34" charset="-120"/>
              </a:rPr>
              <a:t>Extract</a:t>
            </a:r>
            <a:endParaRPr lang="en-US" sz="1250" dirty="0"/>
          </a:p>
        </p:txBody>
      </p:sp>
      <p:sp>
        <p:nvSpPr>
          <p:cNvPr id="18" name="Text 13"/>
          <p:cNvSpPr txBox="1"/>
          <p:nvPr/>
        </p:nvSpPr>
        <p:spPr>
          <a:xfrm>
            <a:off x="2852928" y="2450592"/>
            <a:ext cx="1060704" cy="960120"/>
          </a:xfrm>
          <a:prstGeom prst="rect">
            <a:avLst/>
          </a:prstGeom>
          <a:noFill/>
          <a:ln/>
        </p:spPr>
        <p:txBody>
          <a:bodyPr wrap="square" lIns="0" tIns="0" rIns="0" bIns="0" rtlCol="0" anchor="t"/>
          <a:lstStyle/>
          <a:p>
            <a:pPr algn="ctr" indent="0" marL="0">
              <a:buNone/>
            </a:pPr>
            <a:r>
              <a:rPr lang="en-US" sz="950" dirty="0">
                <a:solidFill>
                  <a:srgbClr val="B5A994"/>
                </a:solidFill>
                <a:latin typeface="Calibri" pitchFamily="34" charset="0"/>
                <a:ea typeface="Calibri" pitchFamily="34" charset="-122"/>
                <a:cs typeface="Calibri" pitchFamily="34" charset="-120"/>
              </a:rPr>
              <a:t>Text from Office, PDF and CSV, parsed in a locked-down sandbox.</a:t>
            </a:r>
            <a:endParaRPr lang="en-US" sz="950" dirty="0"/>
          </a:p>
        </p:txBody>
      </p:sp>
      <p:sp>
        <p:nvSpPr>
          <p:cNvPr id="19" name="Text 14"/>
          <p:cNvSpPr txBox="1"/>
          <p:nvPr/>
        </p:nvSpPr>
        <p:spPr>
          <a:xfrm>
            <a:off x="4023360" y="1298448"/>
            <a:ext cx="1097280" cy="182880"/>
          </a:xfrm>
          <a:prstGeom prst="rect">
            <a:avLst/>
          </a:prstGeom>
          <a:noFill/>
          <a:ln/>
        </p:spPr>
        <p:txBody>
          <a:bodyPr wrap="square" lIns="0" tIns="0" rIns="0" bIns="0" rtlCol="0" anchor="t"/>
          <a:lstStyle/>
          <a:p>
            <a:pPr algn="ctr" indent="0" marL="0">
              <a:buNone/>
            </a:pPr>
            <a:r>
              <a:rPr lang="en-US" sz="950" b="1" dirty="0">
                <a:solidFill>
                  <a:srgbClr val="B5A994"/>
                </a:solidFill>
                <a:latin typeface="Calibri" pitchFamily="34" charset="0"/>
                <a:ea typeface="Calibri" pitchFamily="34" charset="-122"/>
                <a:cs typeface="Calibri" pitchFamily="34" charset="-120"/>
              </a:rPr>
              <a:t>04</a:t>
            </a:r>
            <a:endParaRPr lang="en-US" sz="950" dirty="0"/>
          </a:p>
        </p:txBody>
      </p:sp>
      <p:pic>
        <p:nvPicPr>
          <p:cNvPr id="20" name="Image 3" descr="preencoded.png">    </p:cNvPr>
          <p:cNvPicPr>
            <a:picLocks noChangeAspect="1"/>
          </p:cNvPicPr>
          <p:nvPr/>
        </p:nvPicPr>
        <p:blipFill>
          <a:blip r:embed="rId4"/>
          <a:stretch>
            <a:fillRect/>
          </a:stretch>
        </p:blipFill>
        <p:spPr>
          <a:xfrm>
            <a:off x="4279392" y="1508760"/>
            <a:ext cx="585216" cy="585216"/>
          </a:xfrm>
          <a:prstGeom prst="rect">
            <a:avLst/>
          </a:prstGeom>
        </p:spPr>
      </p:pic>
      <p:sp>
        <p:nvSpPr>
          <p:cNvPr id="21" name="Shape 15"/>
          <p:cNvSpPr/>
          <p:nvPr/>
        </p:nvSpPr>
        <p:spPr>
          <a:xfrm>
            <a:off x="4919472" y="1801368"/>
            <a:ext cx="493776" cy="914"/>
          </a:xfrm>
          <a:prstGeom prst="line">
            <a:avLst/>
          </a:prstGeom>
          <a:noFill/>
          <a:ln w="15875">
            <a:solidFill>
              <a:srgbClr val="F2A93B">
                <a:alpha val="80000"/>
              </a:srgbClr>
            </a:solidFill>
            <a:prstDash val="solid"/>
            <a:tailEnd type="triangle"/>
          </a:ln>
        </p:spPr>
      </p:sp>
      <p:sp>
        <p:nvSpPr>
          <p:cNvPr id="22" name="Text 16"/>
          <p:cNvSpPr txBox="1"/>
          <p:nvPr/>
        </p:nvSpPr>
        <p:spPr>
          <a:xfrm>
            <a:off x="4023360" y="2176272"/>
            <a:ext cx="1097280" cy="256032"/>
          </a:xfrm>
          <a:prstGeom prst="rect">
            <a:avLst/>
          </a:prstGeom>
          <a:noFill/>
          <a:ln/>
        </p:spPr>
        <p:txBody>
          <a:bodyPr wrap="square" lIns="0" tIns="0" rIns="0" bIns="0" rtlCol="0" anchor="t"/>
          <a:lstStyle/>
          <a:p>
            <a:pPr algn="ctr" indent="0" marL="0">
              <a:buNone/>
            </a:pPr>
            <a:r>
              <a:rPr lang="en-US" sz="1250" b="1" dirty="0">
                <a:solidFill>
                  <a:srgbClr val="E2603F"/>
                </a:solidFill>
                <a:latin typeface="Calibri" pitchFamily="34" charset="0"/>
                <a:ea typeface="Calibri" pitchFamily="34" charset="-122"/>
                <a:cs typeface="Calibri" pitchFamily="34" charset="-120"/>
              </a:rPr>
              <a:t>Screen</a:t>
            </a:r>
            <a:endParaRPr lang="en-US" sz="1250" dirty="0"/>
          </a:p>
        </p:txBody>
      </p:sp>
      <p:sp>
        <p:nvSpPr>
          <p:cNvPr id="23" name="Text 17"/>
          <p:cNvSpPr txBox="1"/>
          <p:nvPr/>
        </p:nvSpPr>
        <p:spPr>
          <a:xfrm>
            <a:off x="4041648" y="2450592"/>
            <a:ext cx="1060704" cy="960120"/>
          </a:xfrm>
          <a:prstGeom prst="rect">
            <a:avLst/>
          </a:prstGeom>
          <a:noFill/>
          <a:ln/>
        </p:spPr>
        <p:txBody>
          <a:bodyPr wrap="square" lIns="0" tIns="0" rIns="0" bIns="0" rtlCol="0" anchor="t"/>
          <a:lstStyle/>
          <a:p>
            <a:pPr algn="ctr" indent="0" marL="0">
              <a:buNone/>
            </a:pPr>
            <a:r>
              <a:rPr lang="en-US" sz="950" dirty="0">
                <a:solidFill>
                  <a:srgbClr val="B5A994"/>
                </a:solidFill>
                <a:latin typeface="Calibri" pitchFamily="34" charset="0"/>
                <a:ea typeface="Calibri" pitchFamily="34" charset="-122"/>
                <a:cs typeface="Calibri" pitchFamily="34" charset="-120"/>
              </a:rPr>
              <a:t>Injection detector flags hostile text before AI sees it.</a:t>
            </a:r>
            <a:endParaRPr lang="en-US" sz="950" dirty="0"/>
          </a:p>
        </p:txBody>
      </p:sp>
      <p:sp>
        <p:nvSpPr>
          <p:cNvPr id="24" name="Text 18"/>
          <p:cNvSpPr txBox="1"/>
          <p:nvPr/>
        </p:nvSpPr>
        <p:spPr>
          <a:xfrm>
            <a:off x="5212080" y="1298448"/>
            <a:ext cx="1097280" cy="182880"/>
          </a:xfrm>
          <a:prstGeom prst="rect">
            <a:avLst/>
          </a:prstGeom>
          <a:noFill/>
          <a:ln/>
        </p:spPr>
        <p:txBody>
          <a:bodyPr wrap="square" lIns="0" tIns="0" rIns="0" bIns="0" rtlCol="0" anchor="t"/>
          <a:lstStyle/>
          <a:p>
            <a:pPr algn="ctr" indent="0" marL="0">
              <a:buNone/>
            </a:pPr>
            <a:r>
              <a:rPr lang="en-US" sz="950" b="1" dirty="0">
                <a:solidFill>
                  <a:srgbClr val="B5A994"/>
                </a:solidFill>
                <a:latin typeface="Calibri" pitchFamily="34" charset="0"/>
                <a:ea typeface="Calibri" pitchFamily="34" charset="-122"/>
                <a:cs typeface="Calibri" pitchFamily="34" charset="-120"/>
              </a:rPr>
              <a:t>05</a:t>
            </a:r>
            <a:endParaRPr lang="en-US" sz="950" dirty="0"/>
          </a:p>
        </p:txBody>
      </p:sp>
      <p:pic>
        <p:nvPicPr>
          <p:cNvPr id="25" name="Image 4" descr="preencoded.png">    </p:cNvPr>
          <p:cNvPicPr>
            <a:picLocks noChangeAspect="1"/>
          </p:cNvPicPr>
          <p:nvPr/>
        </p:nvPicPr>
        <p:blipFill>
          <a:blip r:embed="rId5"/>
          <a:stretch>
            <a:fillRect/>
          </a:stretch>
        </p:blipFill>
        <p:spPr>
          <a:xfrm>
            <a:off x="5468112" y="1508760"/>
            <a:ext cx="585216" cy="585216"/>
          </a:xfrm>
          <a:prstGeom prst="rect">
            <a:avLst/>
          </a:prstGeom>
        </p:spPr>
      </p:pic>
      <p:sp>
        <p:nvSpPr>
          <p:cNvPr id="26" name="Shape 19"/>
          <p:cNvSpPr/>
          <p:nvPr/>
        </p:nvSpPr>
        <p:spPr>
          <a:xfrm>
            <a:off x="6108192" y="1801368"/>
            <a:ext cx="493776" cy="914"/>
          </a:xfrm>
          <a:prstGeom prst="line">
            <a:avLst/>
          </a:prstGeom>
          <a:noFill/>
          <a:ln w="15875">
            <a:solidFill>
              <a:srgbClr val="F2A93B">
                <a:alpha val="80000"/>
              </a:srgbClr>
            </a:solidFill>
            <a:prstDash val="solid"/>
            <a:tailEnd type="triangle"/>
          </a:ln>
        </p:spPr>
      </p:sp>
      <p:sp>
        <p:nvSpPr>
          <p:cNvPr id="27" name="Text 20"/>
          <p:cNvSpPr txBox="1"/>
          <p:nvPr/>
        </p:nvSpPr>
        <p:spPr>
          <a:xfrm>
            <a:off x="5212080" y="2176272"/>
            <a:ext cx="1097280" cy="256032"/>
          </a:xfrm>
          <a:prstGeom prst="rect">
            <a:avLst/>
          </a:prstGeom>
          <a:noFill/>
          <a:ln/>
        </p:spPr>
        <p:txBody>
          <a:bodyPr wrap="square" lIns="0" tIns="0" rIns="0" bIns="0" rtlCol="0" anchor="t"/>
          <a:lstStyle/>
          <a:p>
            <a:pPr algn="ctr" indent="0" marL="0">
              <a:buNone/>
            </a:pPr>
            <a:r>
              <a:rPr lang="en-US" sz="1250" b="1" dirty="0">
                <a:solidFill>
                  <a:srgbClr val="F5EEE3"/>
                </a:solidFill>
                <a:latin typeface="Calibri" pitchFamily="34" charset="0"/>
                <a:ea typeface="Calibri" pitchFamily="34" charset="-122"/>
                <a:cs typeface="Calibri" pitchFamily="34" charset="-120"/>
              </a:rPr>
              <a:t>Summarize</a:t>
            </a:r>
            <a:endParaRPr lang="en-US" sz="1250" dirty="0"/>
          </a:p>
        </p:txBody>
      </p:sp>
      <p:sp>
        <p:nvSpPr>
          <p:cNvPr id="28" name="Text 21"/>
          <p:cNvSpPr txBox="1"/>
          <p:nvPr/>
        </p:nvSpPr>
        <p:spPr>
          <a:xfrm>
            <a:off x="5230368" y="2450592"/>
            <a:ext cx="1060704" cy="960120"/>
          </a:xfrm>
          <a:prstGeom prst="rect">
            <a:avLst/>
          </a:prstGeom>
          <a:noFill/>
          <a:ln/>
        </p:spPr>
        <p:txBody>
          <a:bodyPr wrap="square" lIns="0" tIns="0" rIns="0" bIns="0" rtlCol="0" anchor="t"/>
          <a:lstStyle/>
          <a:p>
            <a:pPr algn="ctr" indent="0" marL="0">
              <a:buNone/>
            </a:pPr>
            <a:r>
              <a:rPr lang="en-US" sz="950" dirty="0">
                <a:solidFill>
                  <a:srgbClr val="B5A994"/>
                </a:solidFill>
                <a:latin typeface="Calibri" pitchFamily="34" charset="0"/>
                <a:ea typeface="Calibri" pitchFamily="34" charset="-122"/>
                <a:cs typeface="Calibri" pitchFamily="34" charset="-120"/>
              </a:rPr>
              <a:t>AI writes a title and summary card from fenced input.</a:t>
            </a:r>
            <a:endParaRPr lang="en-US" sz="950" dirty="0"/>
          </a:p>
        </p:txBody>
      </p:sp>
      <p:sp>
        <p:nvSpPr>
          <p:cNvPr id="29" name="Text 22"/>
          <p:cNvSpPr txBox="1"/>
          <p:nvPr/>
        </p:nvSpPr>
        <p:spPr>
          <a:xfrm>
            <a:off x="6400800" y="1298448"/>
            <a:ext cx="1097280" cy="182880"/>
          </a:xfrm>
          <a:prstGeom prst="rect">
            <a:avLst/>
          </a:prstGeom>
          <a:noFill/>
          <a:ln/>
        </p:spPr>
        <p:txBody>
          <a:bodyPr wrap="square" lIns="0" tIns="0" rIns="0" bIns="0" rtlCol="0" anchor="t"/>
          <a:lstStyle/>
          <a:p>
            <a:pPr algn="ctr" indent="0" marL="0">
              <a:buNone/>
            </a:pPr>
            <a:r>
              <a:rPr lang="en-US" sz="950" b="1" dirty="0">
                <a:solidFill>
                  <a:srgbClr val="B5A994"/>
                </a:solidFill>
                <a:latin typeface="Calibri" pitchFamily="34" charset="0"/>
                <a:ea typeface="Calibri" pitchFamily="34" charset="-122"/>
                <a:cs typeface="Calibri" pitchFamily="34" charset="-120"/>
              </a:rPr>
              <a:t>06</a:t>
            </a:r>
            <a:endParaRPr lang="en-US" sz="950" dirty="0"/>
          </a:p>
        </p:txBody>
      </p:sp>
      <p:pic>
        <p:nvPicPr>
          <p:cNvPr id="30" name="Image 5" descr="preencoded.png">    </p:cNvPr>
          <p:cNvPicPr>
            <a:picLocks noChangeAspect="1"/>
          </p:cNvPicPr>
          <p:nvPr/>
        </p:nvPicPr>
        <p:blipFill>
          <a:blip r:embed="rId6"/>
          <a:stretch>
            <a:fillRect/>
          </a:stretch>
        </p:blipFill>
        <p:spPr>
          <a:xfrm>
            <a:off x="6656832" y="1508760"/>
            <a:ext cx="585216" cy="585216"/>
          </a:xfrm>
          <a:prstGeom prst="rect">
            <a:avLst/>
          </a:prstGeom>
        </p:spPr>
      </p:pic>
      <p:sp>
        <p:nvSpPr>
          <p:cNvPr id="31" name="Shape 23"/>
          <p:cNvSpPr/>
          <p:nvPr/>
        </p:nvSpPr>
        <p:spPr>
          <a:xfrm>
            <a:off x="7296912" y="1801368"/>
            <a:ext cx="493776" cy="914"/>
          </a:xfrm>
          <a:prstGeom prst="line">
            <a:avLst/>
          </a:prstGeom>
          <a:noFill/>
          <a:ln w="15875">
            <a:solidFill>
              <a:srgbClr val="F2A93B">
                <a:alpha val="80000"/>
              </a:srgbClr>
            </a:solidFill>
            <a:prstDash val="solid"/>
            <a:tailEnd type="triangle"/>
          </a:ln>
        </p:spPr>
      </p:sp>
      <p:sp>
        <p:nvSpPr>
          <p:cNvPr id="32" name="Text 24"/>
          <p:cNvSpPr txBox="1"/>
          <p:nvPr/>
        </p:nvSpPr>
        <p:spPr>
          <a:xfrm>
            <a:off x="6400800" y="2176272"/>
            <a:ext cx="1097280" cy="256032"/>
          </a:xfrm>
          <a:prstGeom prst="rect">
            <a:avLst/>
          </a:prstGeom>
          <a:noFill/>
          <a:ln/>
        </p:spPr>
        <p:txBody>
          <a:bodyPr wrap="square" lIns="0" tIns="0" rIns="0" bIns="0" rtlCol="0" anchor="t"/>
          <a:lstStyle/>
          <a:p>
            <a:pPr algn="ctr" indent="0" marL="0">
              <a:buNone/>
            </a:pPr>
            <a:r>
              <a:rPr lang="en-US" sz="1250" b="1" dirty="0">
                <a:solidFill>
                  <a:srgbClr val="F5EEE3"/>
                </a:solidFill>
                <a:latin typeface="Calibri" pitchFamily="34" charset="0"/>
                <a:ea typeface="Calibri" pitchFamily="34" charset="-122"/>
                <a:cs typeface="Calibri" pitchFamily="34" charset="-120"/>
              </a:rPr>
              <a:t>Tag</a:t>
            </a:r>
            <a:endParaRPr lang="en-US" sz="1250" dirty="0"/>
          </a:p>
        </p:txBody>
      </p:sp>
      <p:sp>
        <p:nvSpPr>
          <p:cNvPr id="33" name="Text 25"/>
          <p:cNvSpPr txBox="1"/>
          <p:nvPr/>
        </p:nvSpPr>
        <p:spPr>
          <a:xfrm>
            <a:off x="6419088" y="2450592"/>
            <a:ext cx="1060704" cy="960120"/>
          </a:xfrm>
          <a:prstGeom prst="rect">
            <a:avLst/>
          </a:prstGeom>
          <a:noFill/>
          <a:ln/>
        </p:spPr>
        <p:txBody>
          <a:bodyPr wrap="square" lIns="0" tIns="0" rIns="0" bIns="0" rtlCol="0" anchor="t"/>
          <a:lstStyle/>
          <a:p>
            <a:pPr algn="ctr" indent="0" marL="0">
              <a:buNone/>
            </a:pPr>
            <a:r>
              <a:rPr lang="en-US" sz="950" dirty="0">
                <a:solidFill>
                  <a:srgbClr val="B5A994"/>
                </a:solidFill>
                <a:latin typeface="Calibri" pitchFamily="34" charset="0"/>
                <a:ea typeface="Calibri" pitchFamily="34" charset="-122"/>
                <a:cs typeface="Calibri" pitchFamily="34" charset="-120"/>
              </a:rPr>
              <a:t>Rules tag automatically. Risky AI suggestions go to review.</a:t>
            </a:r>
            <a:endParaRPr lang="en-US" sz="950" dirty="0"/>
          </a:p>
        </p:txBody>
      </p:sp>
      <p:sp>
        <p:nvSpPr>
          <p:cNvPr id="34" name="Text 26"/>
          <p:cNvSpPr txBox="1"/>
          <p:nvPr/>
        </p:nvSpPr>
        <p:spPr>
          <a:xfrm>
            <a:off x="7589520" y="1298448"/>
            <a:ext cx="1097280" cy="182880"/>
          </a:xfrm>
          <a:prstGeom prst="rect">
            <a:avLst/>
          </a:prstGeom>
          <a:noFill/>
          <a:ln/>
        </p:spPr>
        <p:txBody>
          <a:bodyPr wrap="square" lIns="0" tIns="0" rIns="0" bIns="0" rtlCol="0" anchor="t"/>
          <a:lstStyle/>
          <a:p>
            <a:pPr algn="ctr" indent="0" marL="0">
              <a:buNone/>
            </a:pPr>
            <a:r>
              <a:rPr lang="en-US" sz="950" b="1" dirty="0">
                <a:solidFill>
                  <a:srgbClr val="B5A994"/>
                </a:solidFill>
                <a:latin typeface="Calibri" pitchFamily="34" charset="0"/>
                <a:ea typeface="Calibri" pitchFamily="34" charset="-122"/>
                <a:cs typeface="Calibri" pitchFamily="34" charset="-120"/>
              </a:rPr>
              <a:t>07</a:t>
            </a:r>
            <a:endParaRPr lang="en-US" sz="950" dirty="0"/>
          </a:p>
        </p:txBody>
      </p:sp>
      <p:pic>
        <p:nvPicPr>
          <p:cNvPr id="35" name="Image 6" descr="preencoded.png">    </p:cNvPr>
          <p:cNvPicPr>
            <a:picLocks noChangeAspect="1"/>
          </p:cNvPicPr>
          <p:nvPr/>
        </p:nvPicPr>
        <p:blipFill>
          <a:blip r:embed="rId7"/>
          <a:stretch>
            <a:fillRect/>
          </a:stretch>
        </p:blipFill>
        <p:spPr>
          <a:xfrm>
            <a:off x="7845552" y="1508760"/>
            <a:ext cx="585216" cy="585216"/>
          </a:xfrm>
          <a:prstGeom prst="rect">
            <a:avLst/>
          </a:prstGeom>
        </p:spPr>
      </p:pic>
      <p:sp>
        <p:nvSpPr>
          <p:cNvPr id="36" name="Text 27"/>
          <p:cNvSpPr txBox="1"/>
          <p:nvPr/>
        </p:nvSpPr>
        <p:spPr>
          <a:xfrm>
            <a:off x="7589520" y="2176272"/>
            <a:ext cx="1097280" cy="256032"/>
          </a:xfrm>
          <a:prstGeom prst="rect">
            <a:avLst/>
          </a:prstGeom>
          <a:noFill/>
          <a:ln/>
        </p:spPr>
        <p:txBody>
          <a:bodyPr wrap="square" lIns="0" tIns="0" rIns="0" bIns="0" rtlCol="0" anchor="t"/>
          <a:lstStyle/>
          <a:p>
            <a:pPr algn="ctr" indent="0" marL="0">
              <a:buNone/>
            </a:pPr>
            <a:r>
              <a:rPr lang="en-US" sz="1250" b="1" dirty="0">
                <a:solidFill>
                  <a:srgbClr val="F5EEE3"/>
                </a:solidFill>
                <a:latin typeface="Calibri" pitchFamily="34" charset="0"/>
                <a:ea typeface="Calibri" pitchFamily="34" charset="-122"/>
                <a:cs typeface="Calibri" pitchFamily="34" charset="-120"/>
              </a:rPr>
              <a:t>Embed</a:t>
            </a:r>
            <a:endParaRPr lang="en-US" sz="1250" dirty="0"/>
          </a:p>
        </p:txBody>
      </p:sp>
      <p:sp>
        <p:nvSpPr>
          <p:cNvPr id="37" name="Text 28"/>
          <p:cNvSpPr txBox="1"/>
          <p:nvPr/>
        </p:nvSpPr>
        <p:spPr>
          <a:xfrm>
            <a:off x="7607808" y="2450592"/>
            <a:ext cx="1060704" cy="960120"/>
          </a:xfrm>
          <a:prstGeom prst="rect">
            <a:avLst/>
          </a:prstGeom>
          <a:noFill/>
          <a:ln/>
        </p:spPr>
        <p:txBody>
          <a:bodyPr wrap="square" lIns="0" tIns="0" rIns="0" bIns="0" rtlCol="0" anchor="t"/>
          <a:lstStyle/>
          <a:p>
            <a:pPr algn="ctr" indent="0" marL="0">
              <a:buNone/>
            </a:pPr>
            <a:r>
              <a:rPr lang="en-US" sz="950" dirty="0">
                <a:solidFill>
                  <a:srgbClr val="B5A994"/>
                </a:solidFill>
                <a:latin typeface="Calibri" pitchFamily="34" charset="0"/>
                <a:ea typeface="Calibri" pitchFamily="34" charset="-122"/>
                <a:cs typeface="Calibri" pitchFamily="34" charset="-120"/>
              </a:rPr>
              <a:t>Vectors for meaning-based search, stored in Postgres.</a:t>
            </a:r>
            <a:endParaRPr lang="en-US" sz="950" dirty="0"/>
          </a:p>
        </p:txBody>
      </p:sp>
      <p:sp>
        <p:nvSpPr>
          <p:cNvPr id="38" name="Shape 29"/>
          <p:cNvSpPr/>
          <p:nvPr/>
        </p:nvSpPr>
        <p:spPr>
          <a:xfrm>
            <a:off x="457200" y="3611880"/>
            <a:ext cx="4069080" cy="914400"/>
          </a:xfrm>
          <a:prstGeom prst="roundRect">
            <a:avLst>
              <a:gd name="adj" fmla="val 8000"/>
            </a:avLst>
          </a:prstGeom>
          <a:solidFill>
            <a:srgbClr val="221B14"/>
          </a:solidFill>
          <a:ln w="9525">
            <a:solidFill>
              <a:srgbClr val="4A3C2C"/>
            </a:solidFill>
            <a:prstDash val="solid"/>
          </a:ln>
        </p:spPr>
      </p:sp>
      <p:pic>
        <p:nvPicPr>
          <p:cNvPr id="39" name="Image 7" descr="preencoded.png">    </p:cNvPr>
          <p:cNvPicPr>
            <a:picLocks noChangeAspect="1"/>
          </p:cNvPicPr>
          <p:nvPr/>
        </p:nvPicPr>
        <p:blipFill>
          <a:blip r:embed="rId8"/>
          <a:stretch>
            <a:fillRect/>
          </a:stretch>
        </p:blipFill>
        <p:spPr>
          <a:xfrm>
            <a:off x="621792" y="3794760"/>
            <a:ext cx="548640" cy="548640"/>
          </a:xfrm>
          <a:prstGeom prst="rect">
            <a:avLst/>
          </a:prstGeom>
        </p:spPr>
      </p:pic>
      <p:sp>
        <p:nvSpPr>
          <p:cNvPr id="40" name="Text 30"/>
          <p:cNvSpPr txBox="1"/>
          <p:nvPr/>
        </p:nvSpPr>
        <p:spPr>
          <a:xfrm>
            <a:off x="1325880" y="3721608"/>
            <a:ext cx="3063240" cy="256032"/>
          </a:xfrm>
          <a:prstGeom prst="rect">
            <a:avLst/>
          </a:prstGeom>
          <a:noFill/>
          <a:ln/>
        </p:spPr>
        <p:txBody>
          <a:bodyPr wrap="square" lIns="0" tIns="0" rIns="0" bIns="0" rtlCol="0" anchor="t"/>
          <a:lstStyle/>
          <a:p>
            <a:pPr indent="0" marL="0">
              <a:buNone/>
            </a:pPr>
            <a:r>
              <a:rPr lang="en-US" sz="1250" b="1" dirty="0">
                <a:solidFill>
                  <a:srgbClr val="E2603F"/>
                </a:solidFill>
                <a:latin typeface="Calibri" pitchFamily="34" charset="0"/>
                <a:ea typeface="Calibri" pitchFamily="34" charset="-122"/>
                <a:cs typeface="Calibri" pitchFamily="34" charset="-120"/>
              </a:rPr>
              <a:t>Fail closed</a:t>
            </a:r>
            <a:endParaRPr lang="en-US" sz="1250" dirty="0"/>
          </a:p>
        </p:txBody>
      </p:sp>
      <p:sp>
        <p:nvSpPr>
          <p:cNvPr id="41" name="Text 31"/>
          <p:cNvSpPr txBox="1"/>
          <p:nvPr/>
        </p:nvSpPr>
        <p:spPr>
          <a:xfrm>
            <a:off x="1325880" y="3995928"/>
            <a:ext cx="3108960" cy="502920"/>
          </a:xfrm>
          <a:prstGeom prst="rect">
            <a:avLst/>
          </a:prstGeom>
          <a:noFill/>
          <a:ln/>
        </p:spPr>
        <p:txBody>
          <a:bodyPr wrap="square" lIns="0" tIns="0" rIns="0" bIns="0" rtlCol="0" anchor="t"/>
          <a:lstStyle/>
          <a:p>
            <a:pPr indent="0" marL="0">
              <a:buNone/>
            </a:pPr>
            <a:r>
              <a:rPr lang="en-US" sz="1050" dirty="0">
                <a:solidFill>
                  <a:srgbClr val="F5EEE3"/>
                </a:solidFill>
                <a:latin typeface="Calibri" pitchFamily="34" charset="0"/>
                <a:ea typeface="Calibri" pitchFamily="34" charset="-122"/>
                <a:cs typeface="Calibri" pitchFamily="34" charset="-120"/>
              </a:rPr>
              <a:t>A new or changed version stays hidden, and metadata-only for AI, until every step has finished.</a:t>
            </a:r>
            <a:endParaRPr lang="en-US" sz="1050" dirty="0"/>
          </a:p>
        </p:txBody>
      </p:sp>
      <p:sp>
        <p:nvSpPr>
          <p:cNvPr id="42" name="Shape 32"/>
          <p:cNvSpPr/>
          <p:nvPr/>
        </p:nvSpPr>
        <p:spPr>
          <a:xfrm>
            <a:off x="4663440" y="3611880"/>
            <a:ext cx="4069080" cy="914400"/>
          </a:xfrm>
          <a:prstGeom prst="roundRect">
            <a:avLst>
              <a:gd name="adj" fmla="val 8000"/>
            </a:avLst>
          </a:prstGeom>
          <a:solidFill>
            <a:srgbClr val="221B14"/>
          </a:solidFill>
          <a:ln w="9525">
            <a:solidFill>
              <a:srgbClr val="4A3C2C"/>
            </a:solidFill>
            <a:prstDash val="solid"/>
          </a:ln>
        </p:spPr>
      </p:sp>
      <p:pic>
        <p:nvPicPr>
          <p:cNvPr id="43" name="Image 8" descr="preencoded.png">    </p:cNvPr>
          <p:cNvPicPr>
            <a:picLocks noChangeAspect="1"/>
          </p:cNvPicPr>
          <p:nvPr/>
        </p:nvPicPr>
        <p:blipFill>
          <a:blip r:embed="rId9"/>
          <a:stretch>
            <a:fillRect/>
          </a:stretch>
        </p:blipFill>
        <p:spPr>
          <a:xfrm>
            <a:off x="4828032" y="3794760"/>
            <a:ext cx="548640" cy="548640"/>
          </a:xfrm>
          <a:prstGeom prst="rect">
            <a:avLst/>
          </a:prstGeom>
        </p:spPr>
      </p:pic>
      <p:sp>
        <p:nvSpPr>
          <p:cNvPr id="44" name="Text 33"/>
          <p:cNvSpPr txBox="1"/>
          <p:nvPr/>
        </p:nvSpPr>
        <p:spPr>
          <a:xfrm>
            <a:off x="5532120" y="3721608"/>
            <a:ext cx="3063240" cy="256032"/>
          </a:xfrm>
          <a:prstGeom prst="rect">
            <a:avLst/>
          </a:prstGeom>
          <a:noFill/>
          <a:ln/>
        </p:spPr>
        <p:txBody>
          <a:bodyPr wrap="square" lIns="0" tIns="0" rIns="0" bIns="0" rtlCol="0" anchor="t"/>
          <a:lstStyle/>
          <a:p>
            <a:pPr indent="0" marL="0">
              <a:buNone/>
            </a:pPr>
            <a:r>
              <a:rPr lang="en-US" sz="1250" b="1" dirty="0">
                <a:solidFill>
                  <a:srgbClr val="F2A93B"/>
                </a:solidFill>
                <a:latin typeface="Calibri" pitchFamily="34" charset="0"/>
                <a:ea typeface="Calibri" pitchFamily="34" charset="-122"/>
                <a:cs typeface="Calibri" pitchFamily="34" charset="-120"/>
              </a:rPr>
              <a:t>Runs as background jobs</a:t>
            </a:r>
            <a:endParaRPr lang="en-US" sz="1250" dirty="0"/>
          </a:p>
        </p:txBody>
      </p:sp>
      <p:sp>
        <p:nvSpPr>
          <p:cNvPr id="45" name="Text 34"/>
          <p:cNvSpPr txBox="1"/>
          <p:nvPr/>
        </p:nvSpPr>
        <p:spPr>
          <a:xfrm>
            <a:off x="5532120" y="3995928"/>
            <a:ext cx="3108960" cy="502920"/>
          </a:xfrm>
          <a:prstGeom prst="rect">
            <a:avLst/>
          </a:prstGeom>
          <a:noFill/>
          <a:ln/>
        </p:spPr>
        <p:txBody>
          <a:bodyPr wrap="square" lIns="0" tIns="0" rIns="0" bIns="0" rtlCol="0" anchor="t"/>
          <a:lstStyle/>
          <a:p>
            <a:pPr indent="0" marL="0">
              <a:buNone/>
            </a:pPr>
            <a:r>
              <a:rPr lang="en-US" sz="1050" dirty="0">
                <a:solidFill>
                  <a:srgbClr val="F5EEE3"/>
                </a:solidFill>
                <a:latin typeface="Calibri" pitchFamily="34" charset="0"/>
                <a:ea typeface="Calibri" pitchFamily="34" charset="-122"/>
                <a:cs typeface="Calibri" pitchFamily="34" charset="-120"/>
              </a:rPr>
              <a:t>Postgres-backed queue: one job per version, retries with backoff, dead letters with a safe salvage path.</a:t>
            </a:r>
            <a:endParaRPr lang="en-US" sz="1050" dirty="0"/>
          </a:p>
        </p:txBody>
      </p:sp>
      <p:pic>
        <p:nvPicPr>
          <p:cNvPr id="46" name="Image 9" descr="preencoded.png">    </p:cNvPr>
          <p:cNvPicPr>
            <a:picLocks noChangeAspect="1"/>
          </p:cNvPicPr>
          <p:nvPr/>
        </p:nvPicPr>
        <p:blipFill>
          <a:blip r:embed="rId10"/>
          <a:stretch>
            <a:fillRect/>
          </a:stretch>
        </p:blipFill>
        <p:spPr>
          <a:xfrm>
            <a:off x="457200" y="4754880"/>
            <a:ext cx="182880" cy="182880"/>
          </a:xfrm>
          <a:prstGeom prst="rect">
            <a:avLst/>
          </a:prstGeom>
        </p:spPr>
      </p:pic>
      <p:sp>
        <p:nvSpPr>
          <p:cNvPr id="47" name="Text 35"/>
          <p:cNvSpPr txBox="1"/>
          <p:nvPr/>
        </p:nvSpPr>
        <p:spPr>
          <a:xfrm>
            <a:off x="694944" y="4754880"/>
            <a:ext cx="1828800" cy="182880"/>
          </a:xfrm>
          <a:prstGeom prst="rect">
            <a:avLst/>
          </a:prstGeom>
          <a:noFill/>
          <a:ln/>
        </p:spPr>
        <p:txBody>
          <a:bodyPr wrap="square" lIns="0" tIns="0" rIns="0" bIns="0" rtlCol="0" anchor="ctr"/>
          <a:lstStyle/>
          <a:p>
            <a:pPr indent="0" marL="0">
              <a:buNone/>
            </a:pPr>
            <a:r>
              <a:rPr lang="en-US" sz="900" dirty="0">
                <a:solidFill>
                  <a:srgbClr val="B5A994"/>
                </a:solidFill>
                <a:latin typeface="Calibri" pitchFamily="34" charset="0"/>
                <a:ea typeface="Calibri" pitchFamily="34" charset="-122"/>
                <a:cs typeface="Calibri" pitchFamily="34" charset="-120"/>
              </a:rPr>
              <a:t>OpenHoard</a:t>
            </a:r>
            <a:endParaRPr lang="en-US" sz="900" dirty="0"/>
          </a:p>
        </p:txBody>
      </p:sp>
      <p:sp>
        <p:nvSpPr>
          <p:cNvPr id="48" name="Text 36"/>
          <p:cNvSpPr txBox="1"/>
          <p:nvPr/>
        </p:nvSpPr>
        <p:spPr>
          <a:xfrm>
            <a:off x="7772400" y="4754880"/>
            <a:ext cx="914400" cy="182880"/>
          </a:xfrm>
          <a:prstGeom prst="rect">
            <a:avLst/>
          </a:prstGeom>
          <a:noFill/>
          <a:ln/>
        </p:spPr>
        <p:txBody>
          <a:bodyPr wrap="square" lIns="0" tIns="0" rIns="0" bIns="0" rtlCol="0" anchor="ctr"/>
          <a:lstStyle/>
          <a:p>
            <a:pPr algn="r" indent="0" marL="0">
              <a:buNone/>
            </a:pPr>
            <a:r>
              <a:rPr lang="en-US" sz="900" dirty="0">
                <a:solidFill>
                  <a:srgbClr val="B5A99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5110D"/>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indent="0" marL="0">
              <a:buNone/>
            </a:pPr>
            <a:r>
              <a:rPr lang="en-US" sz="1000" b="1" spc="400" kern="0" dirty="0">
                <a:solidFill>
                  <a:srgbClr val="F2A93B"/>
                </a:solidFill>
                <a:latin typeface="Calibri" pitchFamily="34" charset="0"/>
                <a:ea typeface="Calibri" pitchFamily="34" charset="-122"/>
                <a:cs typeface="Calibri" pitchFamily="34" charset="-120"/>
              </a:rPr>
              <a:t>STORAGE</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800" b="1" dirty="0">
                <a:solidFill>
                  <a:srgbClr val="F5EEE3"/>
                </a:solidFill>
                <a:latin typeface="Cambria" pitchFamily="34" charset="0"/>
                <a:ea typeface="Cambria" pitchFamily="34" charset="-122"/>
                <a:cs typeface="Cambria" pitchFamily="34" charset="-120"/>
              </a:rPr>
              <a:t>Where content, metadata and tags live</a:t>
            </a:r>
            <a:endParaRPr lang="en-US" sz="2800" dirty="0"/>
          </a:p>
        </p:txBody>
      </p:sp>
      <p:sp>
        <p:nvSpPr>
          <p:cNvPr id="4" name="Shape 2"/>
          <p:cNvSpPr/>
          <p:nvPr/>
        </p:nvSpPr>
        <p:spPr>
          <a:xfrm>
            <a:off x="457200" y="1280160"/>
            <a:ext cx="2697480" cy="2377440"/>
          </a:xfrm>
          <a:prstGeom prst="roundRect">
            <a:avLst>
              <a:gd name="adj" fmla="val 3077"/>
            </a:avLst>
          </a:prstGeom>
          <a:solidFill>
            <a:srgbClr val="221B14"/>
          </a:solidFill>
          <a:ln w="9525">
            <a:solidFill>
              <a:srgbClr val="4A3C2C"/>
            </a:solidFill>
            <a:prstDash val="solid"/>
          </a:ln>
        </p:spPr>
      </p:sp>
      <p:pic>
        <p:nvPicPr>
          <p:cNvPr id="5" name="Image 0" descr="preencoded.png">    </p:cNvPr>
          <p:cNvPicPr>
            <a:picLocks noChangeAspect="1"/>
          </p:cNvPicPr>
          <p:nvPr/>
        </p:nvPicPr>
        <p:blipFill>
          <a:blip r:embed="rId1"/>
          <a:stretch>
            <a:fillRect/>
          </a:stretch>
        </p:blipFill>
        <p:spPr>
          <a:xfrm>
            <a:off x="612648" y="1417320"/>
            <a:ext cx="502920" cy="502920"/>
          </a:xfrm>
          <a:prstGeom prst="rect">
            <a:avLst/>
          </a:prstGeom>
        </p:spPr>
      </p:pic>
      <p:sp>
        <p:nvSpPr>
          <p:cNvPr id="6" name="Text 3"/>
          <p:cNvSpPr txBox="1"/>
          <p:nvPr/>
        </p:nvSpPr>
        <p:spPr>
          <a:xfrm>
            <a:off x="1207008" y="1435608"/>
            <a:ext cx="1874520" cy="256032"/>
          </a:xfrm>
          <a:prstGeom prst="rect">
            <a:avLst/>
          </a:prstGeom>
          <a:noFill/>
          <a:ln/>
        </p:spPr>
        <p:txBody>
          <a:bodyPr wrap="square" lIns="0" tIns="0" rIns="0" bIns="0" rtlCol="0" anchor="t"/>
          <a:lstStyle/>
          <a:p>
            <a:pPr indent="0" marL="0">
              <a:buNone/>
            </a:pPr>
            <a:r>
              <a:rPr lang="en-US" sz="1400" b="1" dirty="0">
                <a:solidFill>
                  <a:srgbClr val="F5EEE3"/>
                </a:solidFill>
                <a:latin typeface="Calibri" pitchFamily="34" charset="0"/>
                <a:ea typeface="Calibri" pitchFamily="34" charset="-122"/>
                <a:cs typeface="Calibri" pitchFamily="34" charset="-120"/>
              </a:rPr>
              <a:t>PostgreSQL</a:t>
            </a:r>
            <a:endParaRPr lang="en-US" sz="1400" dirty="0"/>
          </a:p>
        </p:txBody>
      </p:sp>
      <p:sp>
        <p:nvSpPr>
          <p:cNvPr id="7" name="Text 4"/>
          <p:cNvSpPr txBox="1"/>
          <p:nvPr/>
        </p:nvSpPr>
        <p:spPr>
          <a:xfrm>
            <a:off x="1207008" y="1691640"/>
            <a:ext cx="1874520" cy="201168"/>
          </a:xfrm>
          <a:prstGeom prst="rect">
            <a:avLst/>
          </a:prstGeom>
          <a:noFill/>
          <a:ln/>
        </p:spPr>
        <p:txBody>
          <a:bodyPr wrap="square" lIns="0" tIns="0" rIns="0" bIns="0" rtlCol="0" anchor="t"/>
          <a:lstStyle/>
          <a:p>
            <a:pPr indent="0" marL="0">
              <a:buNone/>
            </a:pPr>
            <a:r>
              <a:rPr lang="en-US" sz="1000" i="1" dirty="0">
                <a:solidFill>
                  <a:srgbClr val="B5A994"/>
                </a:solidFill>
                <a:latin typeface="Calibri" pitchFamily="34" charset="0"/>
                <a:ea typeface="Calibri" pitchFamily="34" charset="-122"/>
                <a:cs typeface="Calibri" pitchFamily="34" charset="-120"/>
              </a:rPr>
              <a:t>the catalog</a:t>
            </a:r>
            <a:endParaRPr lang="en-US" sz="1000" dirty="0"/>
          </a:p>
        </p:txBody>
      </p:sp>
      <p:sp>
        <p:nvSpPr>
          <p:cNvPr id="8" name="Text 5"/>
          <p:cNvSpPr txBox="1"/>
          <p:nvPr/>
        </p:nvSpPr>
        <p:spPr>
          <a:xfrm>
            <a:off x="612648" y="2057400"/>
            <a:ext cx="2423160" cy="118872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F5EEE3"/>
                </a:solidFill>
                <a:latin typeface="Calibri" pitchFamily="34" charset="0"/>
                <a:ea typeface="Calibri" pitchFamily="34" charset="-122"/>
                <a:cs typeface="Calibri" pitchFamily="34" charset="-120"/>
              </a:rPr>
              <a:t>Files, versions, source pointers</a:t>
            </a:r>
            <a:endParaRPr lang="en-US" sz="1050" dirty="0"/>
          </a:p>
          <a:p>
            <a:pPr marL="152400" indent="-152400">
              <a:spcAft>
                <a:spcPts val="300"/>
              </a:spcAft>
              <a:buSzPct val="100000"/>
              <a:buChar char="•"/>
            </a:pPr>
            <a:r>
              <a:rPr lang="en-US" sz="1050" dirty="0">
                <a:solidFill>
                  <a:srgbClr val="F5EEE3"/>
                </a:solidFill>
                <a:latin typeface="Calibri" pitchFamily="34" charset="0"/>
                <a:ea typeface="Calibri" pitchFamily="34" charset="-122"/>
                <a:cs typeface="Calibri" pitchFamily="34" charset="-120"/>
              </a:rPr>
              <a:t>Tags, facets and grants</a:t>
            </a:r>
            <a:endParaRPr lang="en-US" sz="1050" dirty="0"/>
          </a:p>
          <a:p>
            <a:pPr marL="152400" indent="-152400">
              <a:spcAft>
                <a:spcPts val="300"/>
              </a:spcAft>
              <a:buSzPct val="100000"/>
              <a:buChar char="•"/>
            </a:pPr>
            <a:r>
              <a:rPr lang="en-US" sz="1050" dirty="0">
                <a:solidFill>
                  <a:srgbClr val="F5EEE3"/>
                </a:solidFill>
                <a:latin typeface="Calibri" pitchFamily="34" charset="0"/>
                <a:ea typeface="Calibri" pitchFamily="34" charset="-122"/>
                <a:cs typeface="Calibri" pitchFamily="34" charset="-120"/>
              </a:rPr>
              <a:t>AI cards + extracted text</a:t>
            </a:r>
            <a:endParaRPr lang="en-US" sz="1050" dirty="0"/>
          </a:p>
          <a:p>
            <a:pPr marL="152400" indent="-152400">
              <a:spcAft>
                <a:spcPts val="300"/>
              </a:spcAft>
              <a:buSzPct val="100000"/>
              <a:buChar char="•"/>
            </a:pPr>
            <a:r>
              <a:rPr lang="en-US" sz="1050" dirty="0">
                <a:solidFill>
                  <a:srgbClr val="F5EEE3"/>
                </a:solidFill>
                <a:latin typeface="Calibri" pitchFamily="34" charset="0"/>
                <a:ea typeface="Calibri" pitchFamily="34" charset="-122"/>
                <a:cs typeface="Calibri" pitchFamily="34" charset="-120"/>
              </a:rPr>
              <a:t>Embeddings (pgvector)</a:t>
            </a:r>
            <a:endParaRPr lang="en-US" sz="1050" dirty="0"/>
          </a:p>
          <a:p>
            <a:pPr marL="152400" indent="-152400">
              <a:spcAft>
                <a:spcPts val="300"/>
              </a:spcAft>
              <a:buSzPct val="100000"/>
              <a:buChar char="•"/>
            </a:pPr>
            <a:r>
              <a:rPr lang="en-US" sz="1050" dirty="0">
                <a:solidFill>
                  <a:srgbClr val="F5EEE3"/>
                </a:solidFill>
                <a:latin typeface="Calibri" pitchFamily="34" charset="0"/>
                <a:ea typeface="Calibri" pitchFamily="34" charset="-122"/>
                <a:cs typeface="Calibri" pitchFamily="34" charset="-120"/>
              </a:rPr>
              <a:t>Activity and audit log</a:t>
            </a:r>
            <a:endParaRPr lang="en-US" sz="1050" dirty="0"/>
          </a:p>
        </p:txBody>
      </p:sp>
      <p:sp>
        <p:nvSpPr>
          <p:cNvPr id="9" name="Text 6"/>
          <p:cNvSpPr txBox="1"/>
          <p:nvPr/>
        </p:nvSpPr>
        <p:spPr>
          <a:xfrm>
            <a:off x="612648" y="3310128"/>
            <a:ext cx="2423160" cy="228600"/>
          </a:xfrm>
          <a:prstGeom prst="rect">
            <a:avLst/>
          </a:prstGeom>
          <a:noFill/>
          <a:ln/>
        </p:spPr>
        <p:txBody>
          <a:bodyPr wrap="square" lIns="0" tIns="0" rIns="0" bIns="0" rtlCol="0" anchor="t"/>
          <a:lstStyle/>
          <a:p>
            <a:pPr indent="0" marL="0">
              <a:buNone/>
            </a:pPr>
            <a:r>
              <a:rPr lang="en-US" sz="1050" b="1" dirty="0">
                <a:solidFill>
                  <a:srgbClr val="F2A93B"/>
                </a:solidFill>
                <a:latin typeface="Calibri" pitchFamily="34" charset="0"/>
                <a:ea typeface="Calibri" pitchFamily="34" charset="-122"/>
                <a:cs typeface="Calibri" pitchFamily="34" charset="-120"/>
              </a:rPr>
              <a:t>Row-level security per tenant</a:t>
            </a:r>
            <a:endParaRPr lang="en-US" sz="1050" dirty="0"/>
          </a:p>
        </p:txBody>
      </p:sp>
      <p:sp>
        <p:nvSpPr>
          <p:cNvPr id="10" name="Shape 7"/>
          <p:cNvSpPr/>
          <p:nvPr/>
        </p:nvSpPr>
        <p:spPr>
          <a:xfrm>
            <a:off x="3264408" y="1280160"/>
            <a:ext cx="2697480" cy="2377440"/>
          </a:xfrm>
          <a:prstGeom prst="roundRect">
            <a:avLst>
              <a:gd name="adj" fmla="val 3077"/>
            </a:avLst>
          </a:prstGeom>
          <a:solidFill>
            <a:srgbClr val="221B14"/>
          </a:solidFill>
          <a:ln w="9525">
            <a:solidFill>
              <a:srgbClr val="4A3C2C"/>
            </a:solidFill>
            <a:prstDash val="solid"/>
          </a:ln>
        </p:spPr>
      </p:sp>
      <p:pic>
        <p:nvPicPr>
          <p:cNvPr id="11" name="Image 1" descr="preencoded.png">    </p:cNvPr>
          <p:cNvPicPr>
            <a:picLocks noChangeAspect="1"/>
          </p:cNvPicPr>
          <p:nvPr/>
        </p:nvPicPr>
        <p:blipFill>
          <a:blip r:embed="rId2"/>
          <a:stretch>
            <a:fillRect/>
          </a:stretch>
        </p:blipFill>
        <p:spPr>
          <a:xfrm>
            <a:off x="3419856" y="1417320"/>
            <a:ext cx="502920" cy="502920"/>
          </a:xfrm>
          <a:prstGeom prst="rect">
            <a:avLst/>
          </a:prstGeom>
        </p:spPr>
      </p:pic>
      <p:sp>
        <p:nvSpPr>
          <p:cNvPr id="12" name="Text 8"/>
          <p:cNvSpPr txBox="1"/>
          <p:nvPr/>
        </p:nvSpPr>
        <p:spPr>
          <a:xfrm>
            <a:off x="4014216" y="1435608"/>
            <a:ext cx="1874520" cy="256032"/>
          </a:xfrm>
          <a:prstGeom prst="rect">
            <a:avLst/>
          </a:prstGeom>
          <a:noFill/>
          <a:ln/>
        </p:spPr>
        <p:txBody>
          <a:bodyPr wrap="square" lIns="0" tIns="0" rIns="0" bIns="0" rtlCol="0" anchor="t"/>
          <a:lstStyle/>
          <a:p>
            <a:pPr indent="0" marL="0">
              <a:buNone/>
            </a:pPr>
            <a:r>
              <a:rPr lang="en-US" sz="1400" b="1" dirty="0">
                <a:solidFill>
                  <a:srgbClr val="F5EEE3"/>
                </a:solidFill>
                <a:latin typeface="Calibri" pitchFamily="34" charset="0"/>
                <a:ea typeface="Calibri" pitchFamily="34" charset="-122"/>
                <a:cs typeface="Calibri" pitchFamily="34" charset="-120"/>
              </a:rPr>
              <a:t>Blob store</a:t>
            </a:r>
            <a:endParaRPr lang="en-US" sz="1400" dirty="0"/>
          </a:p>
        </p:txBody>
      </p:sp>
      <p:sp>
        <p:nvSpPr>
          <p:cNvPr id="13" name="Text 9"/>
          <p:cNvSpPr txBox="1"/>
          <p:nvPr/>
        </p:nvSpPr>
        <p:spPr>
          <a:xfrm>
            <a:off x="4014216" y="1691640"/>
            <a:ext cx="1874520" cy="201168"/>
          </a:xfrm>
          <a:prstGeom prst="rect">
            <a:avLst/>
          </a:prstGeom>
          <a:noFill/>
          <a:ln/>
        </p:spPr>
        <p:txBody>
          <a:bodyPr wrap="square" lIns="0" tIns="0" rIns="0" bIns="0" rtlCol="0" anchor="t"/>
          <a:lstStyle/>
          <a:p>
            <a:pPr indent="0" marL="0">
              <a:buNone/>
            </a:pPr>
            <a:r>
              <a:rPr lang="en-US" sz="1000" i="1" dirty="0">
                <a:solidFill>
                  <a:srgbClr val="B5A994"/>
                </a:solidFill>
                <a:latin typeface="Calibri" pitchFamily="34" charset="0"/>
                <a:ea typeface="Calibri" pitchFamily="34" charset="-122"/>
                <a:cs typeface="Calibri" pitchFamily="34" charset="-120"/>
              </a:rPr>
              <a:t>the bytes</a:t>
            </a:r>
            <a:endParaRPr lang="en-US" sz="1000" dirty="0"/>
          </a:p>
        </p:txBody>
      </p:sp>
      <p:sp>
        <p:nvSpPr>
          <p:cNvPr id="14" name="Text 10"/>
          <p:cNvSpPr txBox="1"/>
          <p:nvPr/>
        </p:nvSpPr>
        <p:spPr>
          <a:xfrm>
            <a:off x="3419856" y="2057400"/>
            <a:ext cx="2423160" cy="118872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F5EEE3"/>
                </a:solidFill>
                <a:latin typeface="Calibri" pitchFamily="34" charset="0"/>
                <a:ea typeface="Calibri" pitchFamily="34" charset="-122"/>
                <a:cs typeface="Calibri" pitchFamily="34" charset="-120"/>
              </a:rPr>
              <a:t>S3 (default), Azure Blob or local disk</a:t>
            </a:r>
            <a:endParaRPr lang="en-US" sz="1050" dirty="0"/>
          </a:p>
          <a:p>
            <a:pPr marL="152400" indent="-152400">
              <a:spcAft>
                <a:spcPts val="300"/>
              </a:spcAft>
              <a:buSzPct val="100000"/>
              <a:buChar char="•"/>
            </a:pPr>
            <a:r>
              <a:rPr lang="en-US" sz="1050" dirty="0">
                <a:solidFill>
                  <a:srgbClr val="F5EEE3"/>
                </a:solidFill>
                <a:latin typeface="Calibri" pitchFamily="34" charset="0"/>
                <a:ea typeface="Calibri" pitchFamily="34" charset="-122"/>
                <a:cs typeface="Calibri" pitchFamily="34" charset="-120"/>
              </a:rPr>
              <a:t>Keyed by BLAKE3 content hash</a:t>
            </a:r>
            <a:endParaRPr lang="en-US" sz="1050" dirty="0"/>
          </a:p>
          <a:p>
            <a:pPr marL="152400" indent="-152400">
              <a:spcAft>
                <a:spcPts val="300"/>
              </a:spcAft>
              <a:buSzPct val="100000"/>
              <a:buChar char="•"/>
            </a:pPr>
            <a:r>
              <a:rPr lang="en-US" sz="1050" dirty="0">
                <a:solidFill>
                  <a:srgbClr val="F5EEE3"/>
                </a:solidFill>
                <a:latin typeface="Calibri" pitchFamily="34" charset="0"/>
                <a:ea typeface="Calibri" pitchFamily="34" charset="-122"/>
                <a:cs typeface="Calibri" pitchFamily="34" charset="-120"/>
              </a:rPr>
              <a:t>Keys scoped per tenant</a:t>
            </a:r>
            <a:endParaRPr lang="en-US" sz="1050" dirty="0"/>
          </a:p>
          <a:p>
            <a:pPr marL="152400" indent="-152400">
              <a:spcAft>
                <a:spcPts val="300"/>
              </a:spcAft>
              <a:buSzPct val="100000"/>
              <a:buChar char="•"/>
            </a:pPr>
            <a:r>
              <a:rPr lang="en-US" sz="1050" dirty="0">
                <a:solidFill>
                  <a:srgbClr val="F5EEE3"/>
                </a:solidFill>
                <a:latin typeface="Calibri" pitchFamily="34" charset="0"/>
                <a:ea typeface="Calibri" pitchFamily="34" charset="-122"/>
                <a:cs typeface="Calibri" pitchFamily="34" charset="-120"/>
              </a:rPr>
              <a:t>Used when OpenHoard manages or copies a file</a:t>
            </a:r>
            <a:endParaRPr lang="en-US" sz="1050" dirty="0"/>
          </a:p>
        </p:txBody>
      </p:sp>
      <p:sp>
        <p:nvSpPr>
          <p:cNvPr id="15" name="Text 11"/>
          <p:cNvSpPr txBox="1"/>
          <p:nvPr/>
        </p:nvSpPr>
        <p:spPr>
          <a:xfrm>
            <a:off x="3419856" y="3310128"/>
            <a:ext cx="2423160" cy="228600"/>
          </a:xfrm>
          <a:prstGeom prst="rect">
            <a:avLst/>
          </a:prstGeom>
          <a:noFill/>
          <a:ln/>
        </p:spPr>
        <p:txBody>
          <a:bodyPr wrap="square" lIns="0" tIns="0" rIns="0" bIns="0" rtlCol="0" anchor="t"/>
          <a:lstStyle/>
          <a:p>
            <a:pPr indent="0" marL="0">
              <a:buNone/>
            </a:pPr>
            <a:r>
              <a:rPr lang="en-US" sz="1050" b="1" dirty="0">
                <a:solidFill>
                  <a:srgbClr val="F2A93B"/>
                </a:solidFill>
                <a:latin typeface="Calibri" pitchFamily="34" charset="0"/>
                <a:ea typeface="Calibri" pitchFamily="34" charset="-122"/>
                <a:cs typeface="Calibri" pitchFamily="34" charset="-120"/>
              </a:rPr>
              <a:t>Identical content stored once</a:t>
            </a:r>
            <a:endParaRPr lang="en-US" sz="1050" dirty="0"/>
          </a:p>
        </p:txBody>
      </p:sp>
      <p:sp>
        <p:nvSpPr>
          <p:cNvPr id="16" name="Shape 12"/>
          <p:cNvSpPr/>
          <p:nvPr/>
        </p:nvSpPr>
        <p:spPr>
          <a:xfrm>
            <a:off x="6071616" y="1280160"/>
            <a:ext cx="2697480" cy="2377440"/>
          </a:xfrm>
          <a:prstGeom prst="roundRect">
            <a:avLst>
              <a:gd name="adj" fmla="val 3077"/>
            </a:avLst>
          </a:prstGeom>
          <a:solidFill>
            <a:srgbClr val="221B14"/>
          </a:solidFill>
          <a:ln w="9525">
            <a:solidFill>
              <a:srgbClr val="4A3C2C"/>
            </a:solidFill>
            <a:prstDash val="solid"/>
          </a:ln>
        </p:spPr>
      </p:sp>
      <p:pic>
        <p:nvPicPr>
          <p:cNvPr id="17" name="Image 2" descr="preencoded.png">    </p:cNvPr>
          <p:cNvPicPr>
            <a:picLocks noChangeAspect="1"/>
          </p:cNvPicPr>
          <p:nvPr/>
        </p:nvPicPr>
        <p:blipFill>
          <a:blip r:embed="rId3"/>
          <a:stretch>
            <a:fillRect/>
          </a:stretch>
        </p:blipFill>
        <p:spPr>
          <a:xfrm>
            <a:off x="6227064" y="1417320"/>
            <a:ext cx="502920" cy="502920"/>
          </a:xfrm>
          <a:prstGeom prst="rect">
            <a:avLst/>
          </a:prstGeom>
        </p:spPr>
      </p:pic>
      <p:sp>
        <p:nvSpPr>
          <p:cNvPr id="18" name="Text 13"/>
          <p:cNvSpPr txBox="1"/>
          <p:nvPr/>
        </p:nvSpPr>
        <p:spPr>
          <a:xfrm>
            <a:off x="6821424" y="1435608"/>
            <a:ext cx="1874520" cy="256032"/>
          </a:xfrm>
          <a:prstGeom prst="rect">
            <a:avLst/>
          </a:prstGeom>
          <a:noFill/>
          <a:ln/>
        </p:spPr>
        <p:txBody>
          <a:bodyPr wrap="square" lIns="0" tIns="0" rIns="0" bIns="0" rtlCol="0" anchor="t"/>
          <a:lstStyle/>
          <a:p>
            <a:pPr indent="0" marL="0">
              <a:buNone/>
            </a:pPr>
            <a:r>
              <a:rPr lang="en-US" sz="1400" b="1" dirty="0">
                <a:solidFill>
                  <a:srgbClr val="F5EEE3"/>
                </a:solidFill>
                <a:latin typeface="Calibri" pitchFamily="34" charset="0"/>
                <a:ea typeface="Calibri" pitchFamily="34" charset="-122"/>
                <a:cs typeface="Calibri" pitchFamily="34" charset="-120"/>
              </a:rPr>
              <a:t>The original source</a:t>
            </a:r>
            <a:endParaRPr lang="en-US" sz="1400" dirty="0"/>
          </a:p>
        </p:txBody>
      </p:sp>
      <p:sp>
        <p:nvSpPr>
          <p:cNvPr id="19" name="Text 14"/>
          <p:cNvSpPr txBox="1"/>
          <p:nvPr/>
        </p:nvSpPr>
        <p:spPr>
          <a:xfrm>
            <a:off x="6821424" y="1691640"/>
            <a:ext cx="1874520" cy="201168"/>
          </a:xfrm>
          <a:prstGeom prst="rect">
            <a:avLst/>
          </a:prstGeom>
          <a:noFill/>
          <a:ln/>
        </p:spPr>
        <p:txBody>
          <a:bodyPr wrap="square" lIns="0" tIns="0" rIns="0" bIns="0" rtlCol="0" anchor="t"/>
          <a:lstStyle/>
          <a:p>
            <a:pPr indent="0" marL="0">
              <a:buNone/>
            </a:pPr>
            <a:r>
              <a:rPr lang="en-US" sz="1000" i="1" dirty="0">
                <a:solidFill>
                  <a:srgbClr val="B5A994"/>
                </a:solidFill>
                <a:latin typeface="Calibri" pitchFamily="34" charset="0"/>
                <a:ea typeface="Calibri" pitchFamily="34" charset="-122"/>
                <a:cs typeface="Calibri" pitchFamily="34" charset="-120"/>
              </a:rPr>
              <a:t>left in place</a:t>
            </a:r>
            <a:endParaRPr lang="en-US" sz="1000" dirty="0"/>
          </a:p>
        </p:txBody>
      </p:sp>
      <p:sp>
        <p:nvSpPr>
          <p:cNvPr id="20" name="Text 15"/>
          <p:cNvSpPr txBox="1"/>
          <p:nvPr/>
        </p:nvSpPr>
        <p:spPr>
          <a:xfrm>
            <a:off x="6227064" y="2057400"/>
            <a:ext cx="2423160" cy="118872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F5EEE3"/>
                </a:solidFill>
                <a:latin typeface="Calibri" pitchFamily="34" charset="0"/>
                <a:ea typeface="Calibri" pitchFamily="34" charset="-122"/>
                <a:cs typeface="Calibri" pitchFamily="34" charset="-120"/>
              </a:rPr>
              <a:t>Indexed files stay in SharePoint or the share</a:t>
            </a:r>
            <a:endParaRPr lang="en-US" sz="1050" dirty="0"/>
          </a:p>
          <a:p>
            <a:pPr marL="152400" indent="-152400">
              <a:spcAft>
                <a:spcPts val="300"/>
              </a:spcAft>
              <a:buSzPct val="100000"/>
              <a:buChar char="•"/>
            </a:pPr>
            <a:r>
              <a:rPr lang="en-US" sz="1050" dirty="0">
                <a:solidFill>
                  <a:srgbClr val="F5EEE3"/>
                </a:solidFill>
                <a:latin typeface="Calibri" pitchFamily="34" charset="0"/>
                <a:ea typeface="Calibri" pitchFamily="34" charset="-122"/>
                <a:cs typeface="Calibri" pitchFamily="34" charset="-120"/>
              </a:rPr>
              <a:t>OpenHoard keeps a pointer, hash and metadata</a:t>
            </a:r>
            <a:endParaRPr lang="en-US" sz="1050" dirty="0"/>
          </a:p>
          <a:p>
            <a:pPr marL="152400" indent="-152400">
              <a:spcAft>
                <a:spcPts val="300"/>
              </a:spcAft>
              <a:buSzPct val="100000"/>
              <a:buChar char="•"/>
            </a:pPr>
            <a:r>
              <a:rPr lang="en-US" sz="1050" dirty="0">
                <a:solidFill>
                  <a:srgbClr val="F5EEE3"/>
                </a:solidFill>
                <a:latin typeface="Calibri" pitchFamily="34" charset="0"/>
                <a:ea typeface="Calibri" pitchFamily="34" charset="-122"/>
                <a:cs typeface="Calibri" pitchFamily="34" charset="-120"/>
              </a:rPr>
              <a:t>Re-reads only what changed</a:t>
            </a:r>
            <a:endParaRPr lang="en-US" sz="1050" dirty="0"/>
          </a:p>
          <a:p>
            <a:pPr marL="152400" indent="-152400">
              <a:spcAft>
                <a:spcPts val="300"/>
              </a:spcAft>
              <a:buSzPct val="100000"/>
              <a:buChar char="•"/>
            </a:pPr>
            <a:r>
              <a:rPr lang="en-US" sz="1050" dirty="0">
                <a:solidFill>
                  <a:srgbClr val="F5EEE3"/>
                </a:solidFill>
                <a:latin typeface="Calibri" pitchFamily="34" charset="0"/>
                <a:ea typeface="Calibri" pitchFamily="34" charset="-122"/>
                <a:cs typeface="Calibri" pitchFamily="34" charset="-120"/>
              </a:rPr>
              <a:t>Never moves a file without asking</a:t>
            </a:r>
            <a:endParaRPr lang="en-US" sz="1050" dirty="0"/>
          </a:p>
        </p:txBody>
      </p:sp>
      <p:sp>
        <p:nvSpPr>
          <p:cNvPr id="21" name="Text 16"/>
          <p:cNvSpPr txBox="1"/>
          <p:nvPr/>
        </p:nvSpPr>
        <p:spPr>
          <a:xfrm>
            <a:off x="6227064" y="3310128"/>
            <a:ext cx="2423160" cy="228600"/>
          </a:xfrm>
          <a:prstGeom prst="rect">
            <a:avLst/>
          </a:prstGeom>
          <a:noFill/>
          <a:ln/>
        </p:spPr>
        <p:txBody>
          <a:bodyPr wrap="square" lIns="0" tIns="0" rIns="0" bIns="0" rtlCol="0" anchor="t"/>
          <a:lstStyle/>
          <a:p>
            <a:pPr indent="0" marL="0">
              <a:buNone/>
            </a:pPr>
            <a:r>
              <a:rPr lang="en-US" sz="1050" b="1" dirty="0">
                <a:solidFill>
                  <a:srgbClr val="F2A93B"/>
                </a:solidFill>
                <a:latin typeface="Calibri" pitchFamily="34" charset="0"/>
                <a:ea typeface="Calibri" pitchFamily="34" charset="-122"/>
                <a:cs typeface="Calibri" pitchFamily="34" charset="-120"/>
              </a:rPr>
              <a:t>No migration required</a:t>
            </a:r>
            <a:endParaRPr lang="en-US" sz="1050" dirty="0"/>
          </a:p>
        </p:txBody>
      </p:sp>
      <p:sp>
        <p:nvSpPr>
          <p:cNvPr id="22" name="Text 17"/>
          <p:cNvSpPr txBox="1"/>
          <p:nvPr/>
        </p:nvSpPr>
        <p:spPr>
          <a:xfrm>
            <a:off x="457200" y="3840480"/>
            <a:ext cx="822960" cy="182880"/>
          </a:xfrm>
          <a:prstGeom prst="rect">
            <a:avLst/>
          </a:prstGeom>
          <a:noFill/>
          <a:ln/>
        </p:spPr>
        <p:txBody>
          <a:bodyPr wrap="square" lIns="0" tIns="0" rIns="0" bIns="0" rtlCol="0" anchor="t"/>
          <a:lstStyle/>
          <a:p>
            <a:pPr indent="0" marL="0">
              <a:buNone/>
            </a:pPr>
            <a:r>
              <a:rPr lang="en-US" sz="900" b="1" spc="200" kern="0" dirty="0">
                <a:solidFill>
                  <a:srgbClr val="B5A994"/>
                </a:solidFill>
                <a:latin typeface="Calibri" pitchFamily="34" charset="0"/>
                <a:ea typeface="Calibri" pitchFamily="34" charset="-122"/>
                <a:cs typeface="Calibri" pitchFamily="34" charset="-120"/>
              </a:rPr>
              <a:t>ZONES</a:t>
            </a:r>
            <a:endParaRPr lang="en-US" sz="900" dirty="0"/>
          </a:p>
        </p:txBody>
      </p:sp>
      <p:sp>
        <p:nvSpPr>
          <p:cNvPr id="23" name="Shape 18"/>
          <p:cNvSpPr/>
          <p:nvPr/>
        </p:nvSpPr>
        <p:spPr>
          <a:xfrm>
            <a:off x="457200" y="4041648"/>
            <a:ext cx="1993392" cy="548640"/>
          </a:xfrm>
          <a:prstGeom prst="roundRect">
            <a:avLst>
              <a:gd name="adj" fmla="val 13333"/>
            </a:avLst>
          </a:prstGeom>
          <a:solidFill>
            <a:srgbClr val="2D241B"/>
          </a:solidFill>
          <a:ln w="9525">
            <a:solidFill>
              <a:srgbClr val="4A3C2C"/>
            </a:solidFill>
            <a:prstDash val="solid"/>
          </a:ln>
        </p:spPr>
      </p:sp>
      <p:sp>
        <p:nvSpPr>
          <p:cNvPr id="24" name="Text 19"/>
          <p:cNvSpPr txBox="1"/>
          <p:nvPr/>
        </p:nvSpPr>
        <p:spPr>
          <a:xfrm>
            <a:off x="566928" y="4078224"/>
            <a:ext cx="1828800" cy="219456"/>
          </a:xfrm>
          <a:prstGeom prst="rect">
            <a:avLst/>
          </a:prstGeom>
          <a:noFill/>
          <a:ln/>
        </p:spPr>
        <p:txBody>
          <a:bodyPr wrap="square" lIns="0" tIns="0" rIns="0" bIns="0" rtlCol="0" anchor="t"/>
          <a:lstStyle/>
          <a:p>
            <a:pPr indent="0" marL="0">
              <a:buNone/>
            </a:pPr>
            <a:r>
              <a:rPr lang="en-US" sz="1100" b="1" dirty="0">
                <a:solidFill>
                  <a:srgbClr val="F2A93B"/>
                </a:solidFill>
                <a:latin typeface="Calibri" pitchFamily="34" charset="0"/>
                <a:ea typeface="Calibri" pitchFamily="34" charset="-122"/>
                <a:cs typeface="Calibri" pitchFamily="34" charset="-120"/>
              </a:rPr>
              <a:t>Managed</a:t>
            </a:r>
            <a:endParaRPr lang="en-US" sz="1100" dirty="0"/>
          </a:p>
        </p:txBody>
      </p:sp>
      <p:sp>
        <p:nvSpPr>
          <p:cNvPr id="25" name="Text 20"/>
          <p:cNvSpPr txBox="1"/>
          <p:nvPr/>
        </p:nvSpPr>
        <p:spPr>
          <a:xfrm>
            <a:off x="566928" y="4306824"/>
            <a:ext cx="1828800" cy="237744"/>
          </a:xfrm>
          <a:prstGeom prst="rect">
            <a:avLst/>
          </a:prstGeom>
          <a:noFill/>
          <a:ln/>
        </p:spPr>
        <p:txBody>
          <a:bodyPr wrap="square" lIns="0" tIns="0" rIns="0" bIns="0" rtlCol="0" anchor="t"/>
          <a:lstStyle/>
          <a:p>
            <a:pPr indent="0" marL="0">
              <a:buNone/>
            </a:pPr>
            <a:r>
              <a:rPr lang="en-US" sz="950" dirty="0">
                <a:solidFill>
                  <a:srgbClr val="B5A994"/>
                </a:solidFill>
                <a:latin typeface="Calibri" pitchFamily="34" charset="0"/>
                <a:ea typeface="Calibri" pitchFamily="34" charset="-122"/>
                <a:cs typeface="Calibri" pitchFamily="34" charset="-120"/>
              </a:rPr>
              <a:t>stored in OpenHoard's buckets</a:t>
            </a:r>
            <a:endParaRPr lang="en-US" sz="950" dirty="0"/>
          </a:p>
        </p:txBody>
      </p:sp>
      <p:sp>
        <p:nvSpPr>
          <p:cNvPr id="26" name="Shape 21"/>
          <p:cNvSpPr/>
          <p:nvPr/>
        </p:nvSpPr>
        <p:spPr>
          <a:xfrm>
            <a:off x="2542032" y="4041648"/>
            <a:ext cx="1993392" cy="548640"/>
          </a:xfrm>
          <a:prstGeom prst="roundRect">
            <a:avLst>
              <a:gd name="adj" fmla="val 13333"/>
            </a:avLst>
          </a:prstGeom>
          <a:solidFill>
            <a:srgbClr val="2D241B"/>
          </a:solidFill>
          <a:ln w="9525">
            <a:solidFill>
              <a:srgbClr val="4A3C2C"/>
            </a:solidFill>
            <a:prstDash val="solid"/>
          </a:ln>
        </p:spPr>
      </p:sp>
      <p:sp>
        <p:nvSpPr>
          <p:cNvPr id="27" name="Text 22"/>
          <p:cNvSpPr txBox="1"/>
          <p:nvPr/>
        </p:nvSpPr>
        <p:spPr>
          <a:xfrm>
            <a:off x="2651760" y="4078224"/>
            <a:ext cx="1828800" cy="219456"/>
          </a:xfrm>
          <a:prstGeom prst="rect">
            <a:avLst/>
          </a:prstGeom>
          <a:noFill/>
          <a:ln/>
        </p:spPr>
        <p:txBody>
          <a:bodyPr wrap="square" lIns="0" tIns="0" rIns="0" bIns="0" rtlCol="0" anchor="t"/>
          <a:lstStyle/>
          <a:p>
            <a:pPr indent="0" marL="0">
              <a:buNone/>
            </a:pPr>
            <a:r>
              <a:rPr lang="en-US" sz="1100" b="1" dirty="0">
                <a:solidFill>
                  <a:srgbClr val="F2A93B"/>
                </a:solidFill>
                <a:latin typeface="Calibri" pitchFamily="34" charset="0"/>
                <a:ea typeface="Calibri" pitchFamily="34" charset="-122"/>
                <a:cs typeface="Calibri" pitchFamily="34" charset="-120"/>
              </a:rPr>
              <a:t>Indexed</a:t>
            </a:r>
            <a:endParaRPr lang="en-US" sz="1100" dirty="0"/>
          </a:p>
        </p:txBody>
      </p:sp>
      <p:sp>
        <p:nvSpPr>
          <p:cNvPr id="28" name="Text 23"/>
          <p:cNvSpPr txBox="1"/>
          <p:nvPr/>
        </p:nvSpPr>
        <p:spPr>
          <a:xfrm>
            <a:off x="2651760" y="4306824"/>
            <a:ext cx="1828800" cy="237744"/>
          </a:xfrm>
          <a:prstGeom prst="rect">
            <a:avLst/>
          </a:prstGeom>
          <a:noFill/>
          <a:ln/>
        </p:spPr>
        <p:txBody>
          <a:bodyPr wrap="square" lIns="0" tIns="0" rIns="0" bIns="0" rtlCol="0" anchor="t"/>
          <a:lstStyle/>
          <a:p>
            <a:pPr indent="0" marL="0">
              <a:buNone/>
            </a:pPr>
            <a:r>
              <a:rPr lang="en-US" sz="950" dirty="0">
                <a:solidFill>
                  <a:srgbClr val="B5A994"/>
                </a:solidFill>
                <a:latin typeface="Calibri" pitchFamily="34" charset="0"/>
                <a:ea typeface="Calibri" pitchFamily="34" charset="-122"/>
                <a:cs typeface="Calibri" pitchFamily="34" charset="-120"/>
              </a:rPr>
              <a:t>stays at the source</a:t>
            </a:r>
            <a:endParaRPr lang="en-US" sz="950" dirty="0"/>
          </a:p>
        </p:txBody>
      </p:sp>
      <p:sp>
        <p:nvSpPr>
          <p:cNvPr id="29" name="Shape 24"/>
          <p:cNvSpPr/>
          <p:nvPr/>
        </p:nvSpPr>
        <p:spPr>
          <a:xfrm>
            <a:off x="4626864" y="4041648"/>
            <a:ext cx="1993392" cy="548640"/>
          </a:xfrm>
          <a:prstGeom prst="roundRect">
            <a:avLst>
              <a:gd name="adj" fmla="val 13333"/>
            </a:avLst>
          </a:prstGeom>
          <a:solidFill>
            <a:srgbClr val="2D241B"/>
          </a:solidFill>
          <a:ln w="9525">
            <a:solidFill>
              <a:srgbClr val="4A3C2C"/>
            </a:solidFill>
            <a:prstDash val="solid"/>
          </a:ln>
        </p:spPr>
      </p:sp>
      <p:sp>
        <p:nvSpPr>
          <p:cNvPr id="30" name="Text 25"/>
          <p:cNvSpPr txBox="1"/>
          <p:nvPr/>
        </p:nvSpPr>
        <p:spPr>
          <a:xfrm>
            <a:off x="4736592" y="4078224"/>
            <a:ext cx="1828800" cy="219456"/>
          </a:xfrm>
          <a:prstGeom prst="rect">
            <a:avLst/>
          </a:prstGeom>
          <a:noFill/>
          <a:ln/>
        </p:spPr>
        <p:txBody>
          <a:bodyPr wrap="square" lIns="0" tIns="0" rIns="0" bIns="0" rtlCol="0" anchor="t"/>
          <a:lstStyle/>
          <a:p>
            <a:pPr indent="0" marL="0">
              <a:buNone/>
            </a:pPr>
            <a:r>
              <a:rPr lang="en-US" sz="1100" b="1" dirty="0">
                <a:solidFill>
                  <a:srgbClr val="F2A93B"/>
                </a:solidFill>
                <a:latin typeface="Calibri" pitchFamily="34" charset="0"/>
                <a:ea typeface="Calibri" pitchFamily="34" charset="-122"/>
                <a:cs typeface="Calibri" pitchFamily="34" charset="-120"/>
              </a:rPr>
              <a:t>Local-only</a:t>
            </a:r>
            <a:endParaRPr lang="en-US" sz="1100" dirty="0"/>
          </a:p>
        </p:txBody>
      </p:sp>
      <p:sp>
        <p:nvSpPr>
          <p:cNvPr id="31" name="Text 26"/>
          <p:cNvSpPr txBox="1"/>
          <p:nvPr/>
        </p:nvSpPr>
        <p:spPr>
          <a:xfrm>
            <a:off x="4736592" y="4306824"/>
            <a:ext cx="1828800" cy="237744"/>
          </a:xfrm>
          <a:prstGeom prst="rect">
            <a:avLst/>
          </a:prstGeom>
          <a:noFill/>
          <a:ln/>
        </p:spPr>
        <p:txBody>
          <a:bodyPr wrap="square" lIns="0" tIns="0" rIns="0" bIns="0" rtlCol="0" anchor="t"/>
          <a:lstStyle/>
          <a:p>
            <a:pPr indent="0" marL="0">
              <a:buNone/>
            </a:pPr>
            <a:r>
              <a:rPr lang="en-US" sz="950" dirty="0">
                <a:solidFill>
                  <a:srgbClr val="B5A994"/>
                </a:solidFill>
                <a:latin typeface="Calibri" pitchFamily="34" charset="0"/>
                <a:ea typeface="Calibri" pitchFamily="34" charset="-122"/>
                <a:cs typeface="Calibri" pitchFamily="34" charset="-120"/>
              </a:rPr>
              <a:t>never leaves the device (M2)</a:t>
            </a:r>
            <a:endParaRPr lang="en-US" sz="950" dirty="0"/>
          </a:p>
        </p:txBody>
      </p:sp>
      <p:sp>
        <p:nvSpPr>
          <p:cNvPr id="32" name="Shape 27"/>
          <p:cNvSpPr/>
          <p:nvPr/>
        </p:nvSpPr>
        <p:spPr>
          <a:xfrm>
            <a:off x="6711696" y="4041648"/>
            <a:ext cx="1993392" cy="548640"/>
          </a:xfrm>
          <a:prstGeom prst="roundRect">
            <a:avLst>
              <a:gd name="adj" fmla="val 13333"/>
            </a:avLst>
          </a:prstGeom>
          <a:solidFill>
            <a:srgbClr val="2D241B"/>
          </a:solidFill>
          <a:ln w="9525">
            <a:solidFill>
              <a:srgbClr val="4A3C2C"/>
            </a:solidFill>
            <a:prstDash val="solid"/>
          </a:ln>
        </p:spPr>
      </p:sp>
      <p:sp>
        <p:nvSpPr>
          <p:cNvPr id="33" name="Text 28"/>
          <p:cNvSpPr txBox="1"/>
          <p:nvPr/>
        </p:nvSpPr>
        <p:spPr>
          <a:xfrm>
            <a:off x="6821424" y="4078224"/>
            <a:ext cx="1828800" cy="219456"/>
          </a:xfrm>
          <a:prstGeom prst="rect">
            <a:avLst/>
          </a:prstGeom>
          <a:noFill/>
          <a:ln/>
        </p:spPr>
        <p:txBody>
          <a:bodyPr wrap="square" lIns="0" tIns="0" rIns="0" bIns="0" rtlCol="0" anchor="t"/>
          <a:lstStyle/>
          <a:p>
            <a:pPr indent="0" marL="0">
              <a:buNone/>
            </a:pPr>
            <a:r>
              <a:rPr lang="en-US" sz="1100" b="1" dirty="0">
                <a:solidFill>
                  <a:srgbClr val="F2A93B"/>
                </a:solidFill>
                <a:latin typeface="Calibri" pitchFamily="34" charset="0"/>
                <a:ea typeface="Calibri" pitchFamily="34" charset="-122"/>
                <a:cs typeface="Calibri" pitchFamily="34" charset="-120"/>
              </a:rPr>
              <a:t>Code</a:t>
            </a:r>
            <a:endParaRPr lang="en-US" sz="1100" dirty="0"/>
          </a:p>
        </p:txBody>
      </p:sp>
      <p:sp>
        <p:nvSpPr>
          <p:cNvPr id="34" name="Text 29"/>
          <p:cNvSpPr txBox="1"/>
          <p:nvPr/>
        </p:nvSpPr>
        <p:spPr>
          <a:xfrm>
            <a:off x="6821424" y="4306824"/>
            <a:ext cx="1828800" cy="237744"/>
          </a:xfrm>
          <a:prstGeom prst="rect">
            <a:avLst/>
          </a:prstGeom>
          <a:noFill/>
          <a:ln/>
        </p:spPr>
        <p:txBody>
          <a:bodyPr wrap="square" lIns="0" tIns="0" rIns="0" bIns="0" rtlCol="0" anchor="t"/>
          <a:lstStyle/>
          <a:p>
            <a:pPr indent="0" marL="0">
              <a:buNone/>
            </a:pPr>
            <a:r>
              <a:rPr lang="en-US" sz="950" dirty="0">
                <a:solidFill>
                  <a:srgbClr val="B5A994"/>
                </a:solidFill>
                <a:latin typeface="Calibri" pitchFamily="34" charset="0"/>
                <a:ea typeface="Calibri" pitchFamily="34" charset="-122"/>
                <a:cs typeface="Calibri" pitchFamily="34" charset="-120"/>
              </a:rPr>
              <a:t>source code repositories</a:t>
            </a:r>
            <a:endParaRPr lang="en-US" sz="950" dirty="0"/>
          </a:p>
        </p:txBody>
      </p:sp>
      <p:pic>
        <p:nvPicPr>
          <p:cNvPr id="35" name="Image 3" descr="preencoded.png">    </p:cNvPr>
          <p:cNvPicPr>
            <a:picLocks noChangeAspect="1"/>
          </p:cNvPicPr>
          <p:nvPr/>
        </p:nvPicPr>
        <p:blipFill>
          <a:blip r:embed="rId4"/>
          <a:stretch>
            <a:fillRect/>
          </a:stretch>
        </p:blipFill>
        <p:spPr>
          <a:xfrm>
            <a:off x="457200" y="4754880"/>
            <a:ext cx="182880" cy="182880"/>
          </a:xfrm>
          <a:prstGeom prst="rect">
            <a:avLst/>
          </a:prstGeom>
        </p:spPr>
      </p:pic>
      <p:sp>
        <p:nvSpPr>
          <p:cNvPr id="36" name="Text 30"/>
          <p:cNvSpPr txBox="1"/>
          <p:nvPr/>
        </p:nvSpPr>
        <p:spPr>
          <a:xfrm>
            <a:off x="694944" y="4754880"/>
            <a:ext cx="1828800" cy="182880"/>
          </a:xfrm>
          <a:prstGeom prst="rect">
            <a:avLst/>
          </a:prstGeom>
          <a:noFill/>
          <a:ln/>
        </p:spPr>
        <p:txBody>
          <a:bodyPr wrap="square" lIns="0" tIns="0" rIns="0" bIns="0" rtlCol="0" anchor="ctr"/>
          <a:lstStyle/>
          <a:p>
            <a:pPr indent="0" marL="0">
              <a:buNone/>
            </a:pPr>
            <a:r>
              <a:rPr lang="en-US" sz="900" dirty="0">
                <a:solidFill>
                  <a:srgbClr val="B5A994"/>
                </a:solidFill>
                <a:latin typeface="Calibri" pitchFamily="34" charset="0"/>
                <a:ea typeface="Calibri" pitchFamily="34" charset="-122"/>
                <a:cs typeface="Calibri" pitchFamily="34" charset="-120"/>
              </a:rPr>
              <a:t>OpenHoard</a:t>
            </a:r>
            <a:endParaRPr lang="en-US" sz="900" dirty="0"/>
          </a:p>
        </p:txBody>
      </p:sp>
      <p:sp>
        <p:nvSpPr>
          <p:cNvPr id="37" name="Text 31"/>
          <p:cNvSpPr txBox="1"/>
          <p:nvPr/>
        </p:nvSpPr>
        <p:spPr>
          <a:xfrm>
            <a:off x="7772400" y="4754880"/>
            <a:ext cx="914400" cy="182880"/>
          </a:xfrm>
          <a:prstGeom prst="rect">
            <a:avLst/>
          </a:prstGeom>
          <a:noFill/>
          <a:ln/>
        </p:spPr>
        <p:txBody>
          <a:bodyPr wrap="square" lIns="0" tIns="0" rIns="0" bIns="0" rtlCol="0" anchor="ctr"/>
          <a:lstStyle/>
          <a:p>
            <a:pPr algn="r" indent="0" marL="0">
              <a:buNone/>
            </a:pPr>
            <a:r>
              <a:rPr lang="en-US" sz="900" dirty="0">
                <a:solidFill>
                  <a:srgbClr val="B5A99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110D"/>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indent="0" marL="0">
              <a:buNone/>
            </a:pPr>
            <a:r>
              <a:rPr lang="en-US" sz="1000" b="1" spc="400" kern="0" dirty="0">
                <a:solidFill>
                  <a:srgbClr val="F2A93B"/>
                </a:solidFill>
                <a:latin typeface="Calibri" pitchFamily="34" charset="0"/>
                <a:ea typeface="Calibri" pitchFamily="34" charset="-122"/>
                <a:cs typeface="Calibri" pitchFamily="34" charset="-120"/>
              </a:rPr>
              <a:t>DATA MODEL</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800" b="1" dirty="0">
                <a:solidFill>
                  <a:srgbClr val="F5EEE3"/>
                </a:solidFill>
                <a:latin typeface="Cambria" pitchFamily="34" charset="0"/>
                <a:ea typeface="Cambria" pitchFamily="34" charset="-122"/>
                <a:cs typeface="Cambria" pitchFamily="34" charset="-120"/>
              </a:rPr>
              <a:t>Anatomy of one file</a:t>
            </a:r>
            <a:endParaRPr lang="en-US" sz="2800" dirty="0"/>
          </a:p>
        </p:txBody>
      </p:sp>
      <p:sp>
        <p:nvSpPr>
          <p:cNvPr id="4" name="Shape 2"/>
          <p:cNvSpPr/>
          <p:nvPr/>
        </p:nvSpPr>
        <p:spPr>
          <a:xfrm>
            <a:off x="3246120" y="2103120"/>
            <a:ext cx="2651760" cy="1005840"/>
          </a:xfrm>
          <a:prstGeom prst="roundRect">
            <a:avLst>
              <a:gd name="adj" fmla="val 7273"/>
            </a:avLst>
          </a:prstGeom>
          <a:solidFill>
            <a:srgbClr val="2D241B"/>
          </a:solidFill>
          <a:ln w="15875">
            <a:solidFill>
              <a:srgbClr val="F2A93B"/>
            </a:solidFill>
            <a:prstDash val="solid"/>
          </a:ln>
        </p:spPr>
      </p:sp>
      <p:pic>
        <p:nvPicPr>
          <p:cNvPr id="5" name="Image 0" descr="preencoded.png">    </p:cNvPr>
          <p:cNvPicPr>
            <a:picLocks noChangeAspect="1"/>
          </p:cNvPicPr>
          <p:nvPr/>
        </p:nvPicPr>
        <p:blipFill>
          <a:blip r:embed="rId1"/>
          <a:stretch>
            <a:fillRect/>
          </a:stretch>
        </p:blipFill>
        <p:spPr>
          <a:xfrm>
            <a:off x="3383280" y="2258568"/>
            <a:ext cx="658368" cy="658368"/>
          </a:xfrm>
          <a:prstGeom prst="rect">
            <a:avLst/>
          </a:prstGeom>
        </p:spPr>
      </p:pic>
      <p:sp>
        <p:nvSpPr>
          <p:cNvPr id="6" name="Text 3"/>
          <p:cNvSpPr txBox="1"/>
          <p:nvPr/>
        </p:nvSpPr>
        <p:spPr>
          <a:xfrm>
            <a:off x="4114800" y="2240280"/>
            <a:ext cx="1737360" cy="457200"/>
          </a:xfrm>
          <a:prstGeom prst="rect">
            <a:avLst/>
          </a:prstGeom>
          <a:noFill/>
          <a:ln/>
        </p:spPr>
        <p:txBody>
          <a:bodyPr wrap="square" lIns="0" tIns="0" rIns="0" bIns="0" rtlCol="0" anchor="t"/>
          <a:lstStyle/>
          <a:p>
            <a:pPr indent="0" marL="0">
              <a:buNone/>
            </a:pPr>
            <a:r>
              <a:rPr lang="en-US" sz="1250" b="1" dirty="0">
                <a:solidFill>
                  <a:srgbClr val="F5EEE3"/>
                </a:solidFill>
                <a:latin typeface="Calibri" pitchFamily="34" charset="0"/>
                <a:ea typeface="Calibri" pitchFamily="34" charset="-122"/>
                <a:cs typeface="Calibri" pitchFamily="34" charset="-120"/>
              </a:rPr>
              <a:t>Acme MSA 2026.docx</a:t>
            </a:r>
            <a:endParaRPr lang="en-US" sz="1250" dirty="0"/>
          </a:p>
        </p:txBody>
      </p:sp>
      <p:sp>
        <p:nvSpPr>
          <p:cNvPr id="7" name="Text 4"/>
          <p:cNvSpPr txBox="1"/>
          <p:nvPr/>
        </p:nvSpPr>
        <p:spPr>
          <a:xfrm>
            <a:off x="4114800" y="2697480"/>
            <a:ext cx="1737360" cy="274320"/>
          </a:xfrm>
          <a:prstGeom prst="rect">
            <a:avLst/>
          </a:prstGeom>
          <a:noFill/>
          <a:ln/>
        </p:spPr>
        <p:txBody>
          <a:bodyPr wrap="square" lIns="0" tIns="0" rIns="0" bIns="0" rtlCol="0" anchor="t"/>
          <a:lstStyle/>
          <a:p>
            <a:pPr indent="0" marL="0">
              <a:buNone/>
            </a:pPr>
            <a:r>
              <a:rPr lang="en-US" sz="950" dirty="0">
                <a:solidFill>
                  <a:srgbClr val="B5A994"/>
                </a:solidFill>
                <a:latin typeface="Calibri" pitchFamily="34" charset="0"/>
                <a:ea typeface="Calibri" pitchFamily="34" charset="-122"/>
                <a:cs typeface="Calibri" pitchFamily="34" charset="-120"/>
              </a:rPr>
              <a:t>owner Dana · zone Indexed</a:t>
            </a:r>
            <a:endParaRPr lang="en-US" sz="950" dirty="0"/>
          </a:p>
        </p:txBody>
      </p:sp>
      <p:sp>
        <p:nvSpPr>
          <p:cNvPr id="8" name="Shape 5"/>
          <p:cNvSpPr/>
          <p:nvPr/>
        </p:nvSpPr>
        <p:spPr>
          <a:xfrm>
            <a:off x="457200" y="1234440"/>
            <a:ext cx="2423160" cy="868680"/>
          </a:xfrm>
          <a:prstGeom prst="roundRect">
            <a:avLst>
              <a:gd name="adj" fmla="val 8421"/>
            </a:avLst>
          </a:prstGeom>
          <a:solidFill>
            <a:srgbClr val="221B14"/>
          </a:solidFill>
          <a:ln w="9525">
            <a:solidFill>
              <a:srgbClr val="4A3C2C"/>
            </a:solidFill>
            <a:prstDash val="solid"/>
          </a:ln>
        </p:spPr>
      </p:sp>
      <p:sp>
        <p:nvSpPr>
          <p:cNvPr id="9" name="Text 6"/>
          <p:cNvSpPr txBox="1"/>
          <p:nvPr/>
        </p:nvSpPr>
        <p:spPr>
          <a:xfrm>
            <a:off x="585216" y="1307592"/>
            <a:ext cx="2194560" cy="219456"/>
          </a:xfrm>
          <a:prstGeom prst="rect">
            <a:avLst/>
          </a:prstGeom>
          <a:noFill/>
          <a:ln/>
        </p:spPr>
        <p:txBody>
          <a:bodyPr wrap="square" lIns="0" tIns="0" rIns="0" bIns="0" rtlCol="0" anchor="t"/>
          <a:lstStyle/>
          <a:p>
            <a:pPr indent="0" marL="0">
              <a:buNone/>
            </a:pPr>
            <a:r>
              <a:rPr lang="en-US" sz="1100" b="1" dirty="0">
                <a:solidFill>
                  <a:srgbClr val="F2A93B"/>
                </a:solidFill>
                <a:latin typeface="Calibri" pitchFamily="34" charset="0"/>
                <a:ea typeface="Calibri" pitchFamily="34" charset="-122"/>
                <a:cs typeface="Calibri" pitchFamily="34" charset="-120"/>
              </a:rPr>
              <a:t>Versions</a:t>
            </a:r>
            <a:endParaRPr lang="en-US" sz="1100" dirty="0"/>
          </a:p>
        </p:txBody>
      </p:sp>
      <p:sp>
        <p:nvSpPr>
          <p:cNvPr id="10" name="Text 7"/>
          <p:cNvSpPr txBox="1"/>
          <p:nvPr/>
        </p:nvSpPr>
        <p:spPr>
          <a:xfrm>
            <a:off x="585216" y="1536192"/>
            <a:ext cx="2212848" cy="521208"/>
          </a:xfrm>
          <a:prstGeom prst="rect">
            <a:avLst/>
          </a:prstGeom>
          <a:noFill/>
          <a:ln/>
        </p:spPr>
        <p:txBody>
          <a:bodyPr wrap="square" lIns="0" tIns="0" rIns="0" bIns="0" rtlCol="0" anchor="t"/>
          <a:lstStyle/>
          <a:p>
            <a:pPr indent="0" marL="0">
              <a:buNone/>
            </a:pPr>
            <a:r>
              <a:rPr lang="en-US" sz="950" dirty="0">
                <a:solidFill>
                  <a:srgbClr val="F5EEE3"/>
                </a:solidFill>
                <a:latin typeface="Calibri" pitchFamily="34" charset="0"/>
                <a:ea typeface="Calibri" pitchFamily="34" charset="-122"/>
                <a:cs typeface="Calibri" pitchFamily="34" charset="-120"/>
              </a:rPr>
              <a:t>v1 → v2 → v3 (current). Each points to a content hash.</a:t>
            </a:r>
            <a:endParaRPr lang="en-US" sz="950" dirty="0"/>
          </a:p>
        </p:txBody>
      </p:sp>
      <p:sp>
        <p:nvSpPr>
          <p:cNvPr id="11" name="Shape 8"/>
          <p:cNvSpPr/>
          <p:nvPr/>
        </p:nvSpPr>
        <p:spPr>
          <a:xfrm>
            <a:off x="2880360" y="1664208"/>
            <a:ext cx="365760" cy="941832"/>
          </a:xfrm>
          <a:prstGeom prst="line">
            <a:avLst/>
          </a:prstGeom>
          <a:noFill/>
          <a:ln w="12700">
            <a:solidFill>
              <a:srgbClr val="F2A93B">
                <a:alpha val="50000"/>
              </a:srgbClr>
            </a:solidFill>
            <a:prstDash val="solid"/>
          </a:ln>
        </p:spPr>
      </p:sp>
      <p:sp>
        <p:nvSpPr>
          <p:cNvPr id="12" name="Shape 9"/>
          <p:cNvSpPr/>
          <p:nvPr/>
        </p:nvSpPr>
        <p:spPr>
          <a:xfrm>
            <a:off x="457200" y="2240280"/>
            <a:ext cx="2423160" cy="868680"/>
          </a:xfrm>
          <a:prstGeom prst="roundRect">
            <a:avLst>
              <a:gd name="adj" fmla="val 8421"/>
            </a:avLst>
          </a:prstGeom>
          <a:solidFill>
            <a:srgbClr val="221B14"/>
          </a:solidFill>
          <a:ln w="9525">
            <a:solidFill>
              <a:srgbClr val="4A3C2C"/>
            </a:solidFill>
            <a:prstDash val="solid"/>
          </a:ln>
        </p:spPr>
      </p:sp>
      <p:sp>
        <p:nvSpPr>
          <p:cNvPr id="13" name="Text 10"/>
          <p:cNvSpPr txBox="1"/>
          <p:nvPr/>
        </p:nvSpPr>
        <p:spPr>
          <a:xfrm>
            <a:off x="585216" y="2313432"/>
            <a:ext cx="2194560" cy="219456"/>
          </a:xfrm>
          <a:prstGeom prst="rect">
            <a:avLst/>
          </a:prstGeom>
          <a:noFill/>
          <a:ln/>
        </p:spPr>
        <p:txBody>
          <a:bodyPr wrap="square" lIns="0" tIns="0" rIns="0" bIns="0" rtlCol="0" anchor="t"/>
          <a:lstStyle/>
          <a:p>
            <a:pPr indent="0" marL="0">
              <a:buNone/>
            </a:pPr>
            <a:r>
              <a:rPr lang="en-US" sz="1100" b="1" dirty="0">
                <a:solidFill>
                  <a:srgbClr val="F2A93B"/>
                </a:solidFill>
                <a:latin typeface="Calibri" pitchFamily="34" charset="0"/>
                <a:ea typeface="Calibri" pitchFamily="34" charset="-122"/>
                <a:cs typeface="Calibri" pitchFamily="34" charset="-120"/>
              </a:rPr>
              <a:t>Source</a:t>
            </a:r>
            <a:endParaRPr lang="en-US" sz="1100" dirty="0"/>
          </a:p>
        </p:txBody>
      </p:sp>
      <p:sp>
        <p:nvSpPr>
          <p:cNvPr id="14" name="Text 11"/>
          <p:cNvSpPr txBox="1"/>
          <p:nvPr/>
        </p:nvSpPr>
        <p:spPr>
          <a:xfrm>
            <a:off x="585216" y="2542032"/>
            <a:ext cx="2212848" cy="521208"/>
          </a:xfrm>
          <a:prstGeom prst="rect">
            <a:avLst/>
          </a:prstGeom>
          <a:noFill/>
          <a:ln/>
        </p:spPr>
        <p:txBody>
          <a:bodyPr wrap="square" lIns="0" tIns="0" rIns="0" bIns="0" rtlCol="0" anchor="t"/>
          <a:lstStyle/>
          <a:p>
            <a:pPr indent="0" marL="0">
              <a:buNone/>
            </a:pPr>
            <a:r>
              <a:rPr lang="en-US" sz="950" dirty="0">
                <a:solidFill>
                  <a:srgbClr val="F5EEE3"/>
                </a:solidFill>
                <a:latin typeface="Calibri" pitchFamily="34" charset="0"/>
                <a:ea typeface="Calibri" pitchFamily="34" charset="-122"/>
                <a:cs typeface="Calibri" pitchFamily="34" charset="-120"/>
              </a:rPr>
              <a:t>SharePoint Legal site, change tag, last synced 10:15.</a:t>
            </a:r>
            <a:endParaRPr lang="en-US" sz="950" dirty="0"/>
          </a:p>
        </p:txBody>
      </p:sp>
      <p:sp>
        <p:nvSpPr>
          <p:cNvPr id="15" name="Shape 12"/>
          <p:cNvSpPr/>
          <p:nvPr/>
        </p:nvSpPr>
        <p:spPr>
          <a:xfrm flipV="1">
            <a:off x="2880360" y="2606040"/>
            <a:ext cx="365760" cy="64008"/>
          </a:xfrm>
          <a:prstGeom prst="line">
            <a:avLst/>
          </a:prstGeom>
          <a:noFill/>
          <a:ln w="12700">
            <a:solidFill>
              <a:srgbClr val="F2A93B">
                <a:alpha val="50000"/>
              </a:srgbClr>
            </a:solidFill>
            <a:prstDash val="solid"/>
          </a:ln>
        </p:spPr>
      </p:sp>
      <p:sp>
        <p:nvSpPr>
          <p:cNvPr id="16" name="Shape 13"/>
          <p:cNvSpPr/>
          <p:nvPr/>
        </p:nvSpPr>
        <p:spPr>
          <a:xfrm>
            <a:off x="457200" y="3246120"/>
            <a:ext cx="2423160" cy="868680"/>
          </a:xfrm>
          <a:prstGeom prst="roundRect">
            <a:avLst>
              <a:gd name="adj" fmla="val 8421"/>
            </a:avLst>
          </a:prstGeom>
          <a:solidFill>
            <a:srgbClr val="221B14"/>
          </a:solidFill>
          <a:ln w="9525">
            <a:solidFill>
              <a:srgbClr val="4A3C2C"/>
            </a:solidFill>
            <a:prstDash val="solid"/>
          </a:ln>
        </p:spPr>
      </p:sp>
      <p:sp>
        <p:nvSpPr>
          <p:cNvPr id="17" name="Text 14"/>
          <p:cNvSpPr txBox="1"/>
          <p:nvPr/>
        </p:nvSpPr>
        <p:spPr>
          <a:xfrm>
            <a:off x="585216" y="3319272"/>
            <a:ext cx="2194560" cy="219456"/>
          </a:xfrm>
          <a:prstGeom prst="rect">
            <a:avLst/>
          </a:prstGeom>
          <a:noFill/>
          <a:ln/>
        </p:spPr>
        <p:txBody>
          <a:bodyPr wrap="square" lIns="0" tIns="0" rIns="0" bIns="0" rtlCol="0" anchor="t"/>
          <a:lstStyle/>
          <a:p>
            <a:pPr indent="0" marL="0">
              <a:buNone/>
            </a:pPr>
            <a:r>
              <a:rPr lang="en-US" sz="1100" b="1" dirty="0">
                <a:solidFill>
                  <a:srgbClr val="F2A93B"/>
                </a:solidFill>
                <a:latin typeface="Calibri" pitchFamily="34" charset="0"/>
                <a:ea typeface="Calibri" pitchFamily="34" charset="-122"/>
                <a:cs typeface="Calibri" pitchFamily="34" charset="-120"/>
              </a:rPr>
              <a:t>Content</a:t>
            </a:r>
            <a:endParaRPr lang="en-US" sz="1100" dirty="0"/>
          </a:p>
        </p:txBody>
      </p:sp>
      <p:sp>
        <p:nvSpPr>
          <p:cNvPr id="18" name="Text 15"/>
          <p:cNvSpPr txBox="1"/>
          <p:nvPr/>
        </p:nvSpPr>
        <p:spPr>
          <a:xfrm>
            <a:off x="585216" y="3547872"/>
            <a:ext cx="2212848" cy="521208"/>
          </a:xfrm>
          <a:prstGeom prst="rect">
            <a:avLst/>
          </a:prstGeom>
          <a:noFill/>
          <a:ln/>
        </p:spPr>
        <p:txBody>
          <a:bodyPr wrap="square" lIns="0" tIns="0" rIns="0" bIns="0" rtlCol="0" anchor="t"/>
          <a:lstStyle/>
          <a:p>
            <a:pPr indent="0" marL="0">
              <a:buNone/>
            </a:pPr>
            <a:r>
              <a:rPr lang="en-US" sz="950" dirty="0">
                <a:solidFill>
                  <a:srgbClr val="F5EEE3"/>
                </a:solidFill>
                <a:latin typeface="Calibri" pitchFamily="34" charset="0"/>
                <a:ea typeface="Calibri" pitchFamily="34" charset="-122"/>
                <a:cs typeface="Calibri" pitchFamily="34" charset="-120"/>
              </a:rPr>
              <a:t>Extracted text, AI summary card and embedding vectors.</a:t>
            </a:r>
            <a:endParaRPr lang="en-US" sz="950" dirty="0"/>
          </a:p>
        </p:txBody>
      </p:sp>
      <p:sp>
        <p:nvSpPr>
          <p:cNvPr id="19" name="Shape 16"/>
          <p:cNvSpPr/>
          <p:nvPr/>
        </p:nvSpPr>
        <p:spPr>
          <a:xfrm flipV="1">
            <a:off x="2880360" y="2606040"/>
            <a:ext cx="365760" cy="1069848"/>
          </a:xfrm>
          <a:prstGeom prst="line">
            <a:avLst/>
          </a:prstGeom>
          <a:noFill/>
          <a:ln w="12700">
            <a:solidFill>
              <a:srgbClr val="F2A93B">
                <a:alpha val="50000"/>
              </a:srgbClr>
            </a:solidFill>
            <a:prstDash val="solid"/>
          </a:ln>
        </p:spPr>
      </p:sp>
      <p:sp>
        <p:nvSpPr>
          <p:cNvPr id="20" name="Shape 17"/>
          <p:cNvSpPr/>
          <p:nvPr/>
        </p:nvSpPr>
        <p:spPr>
          <a:xfrm>
            <a:off x="6263640" y="1234440"/>
            <a:ext cx="2423160" cy="914400"/>
          </a:xfrm>
          <a:prstGeom prst="roundRect">
            <a:avLst>
              <a:gd name="adj" fmla="val 8000"/>
            </a:avLst>
          </a:prstGeom>
          <a:solidFill>
            <a:srgbClr val="221B14"/>
          </a:solidFill>
          <a:ln w="9525">
            <a:solidFill>
              <a:srgbClr val="4A3C2C"/>
            </a:solidFill>
            <a:prstDash val="solid"/>
          </a:ln>
        </p:spPr>
      </p:sp>
      <p:sp>
        <p:nvSpPr>
          <p:cNvPr id="21" name="Text 18"/>
          <p:cNvSpPr txBox="1"/>
          <p:nvPr/>
        </p:nvSpPr>
        <p:spPr>
          <a:xfrm>
            <a:off x="6391656" y="1307592"/>
            <a:ext cx="2194560" cy="219456"/>
          </a:xfrm>
          <a:prstGeom prst="rect">
            <a:avLst/>
          </a:prstGeom>
          <a:noFill/>
          <a:ln/>
        </p:spPr>
        <p:txBody>
          <a:bodyPr wrap="square" lIns="0" tIns="0" rIns="0" bIns="0" rtlCol="0" anchor="t"/>
          <a:lstStyle/>
          <a:p>
            <a:pPr indent="0" marL="0">
              <a:buNone/>
            </a:pPr>
            <a:r>
              <a:rPr lang="en-US" sz="1100" b="1" dirty="0">
                <a:solidFill>
                  <a:srgbClr val="F2A93B"/>
                </a:solidFill>
                <a:latin typeface="Calibri" pitchFamily="34" charset="0"/>
                <a:ea typeface="Calibri" pitchFamily="34" charset="-122"/>
                <a:cs typeface="Calibri" pitchFamily="34" charset="-120"/>
              </a:rPr>
              <a:t>Tags</a:t>
            </a:r>
            <a:endParaRPr lang="en-US" sz="1100" dirty="0"/>
          </a:p>
        </p:txBody>
      </p:sp>
      <p:sp>
        <p:nvSpPr>
          <p:cNvPr id="22" name="Shape 19"/>
          <p:cNvSpPr/>
          <p:nvPr/>
        </p:nvSpPr>
        <p:spPr>
          <a:xfrm flipH="1">
            <a:off x="5897880" y="1691640"/>
            <a:ext cx="365760" cy="914400"/>
          </a:xfrm>
          <a:prstGeom prst="line">
            <a:avLst/>
          </a:prstGeom>
          <a:noFill/>
          <a:ln w="12700">
            <a:solidFill>
              <a:srgbClr val="F2A93B">
                <a:alpha val="50000"/>
              </a:srgbClr>
            </a:solidFill>
            <a:prstDash val="solid"/>
          </a:ln>
        </p:spPr>
      </p:sp>
      <p:sp>
        <p:nvSpPr>
          <p:cNvPr id="23" name="Shape 20"/>
          <p:cNvSpPr/>
          <p:nvPr/>
        </p:nvSpPr>
        <p:spPr>
          <a:xfrm>
            <a:off x="6391656" y="1536192"/>
            <a:ext cx="1097280" cy="210312"/>
          </a:xfrm>
          <a:prstGeom prst="roundRect">
            <a:avLst>
              <a:gd name="adj" fmla="val 43478"/>
            </a:avLst>
          </a:prstGeom>
          <a:solidFill>
            <a:srgbClr val="F2A93B"/>
          </a:solidFill>
          <a:ln w="9525">
            <a:solidFill>
              <a:srgbClr val="F2A93B"/>
            </a:solidFill>
            <a:prstDash val="solid"/>
          </a:ln>
        </p:spPr>
      </p:sp>
      <p:sp>
        <p:nvSpPr>
          <p:cNvPr id="24" name="Text 21"/>
          <p:cNvSpPr txBox="1"/>
          <p:nvPr/>
        </p:nvSpPr>
        <p:spPr>
          <a:xfrm>
            <a:off x="6391656" y="1536192"/>
            <a:ext cx="1097280" cy="210312"/>
          </a:xfrm>
          <a:prstGeom prst="rect">
            <a:avLst/>
          </a:prstGeom>
          <a:noFill/>
          <a:ln/>
        </p:spPr>
        <p:txBody>
          <a:bodyPr wrap="square" lIns="0" tIns="0" rIns="0" bIns="0" rtlCol="0" anchor="ctr"/>
          <a:lstStyle/>
          <a:p>
            <a:pPr algn="ctr" indent="0" marL="0">
              <a:buNone/>
            </a:pPr>
            <a:r>
              <a:rPr lang="en-US" sz="850" b="1" dirty="0">
                <a:solidFill>
                  <a:srgbClr val="15110D"/>
                </a:solidFill>
                <a:latin typeface="Calibri" pitchFamily="34" charset="0"/>
                <a:ea typeface="Calibri" pitchFamily="34" charset="-122"/>
                <a:cs typeface="Calibri" pitchFamily="34" charset="-120"/>
              </a:rPr>
              <a:t>home: Contracts</a:t>
            </a:r>
            <a:endParaRPr lang="en-US" sz="850" dirty="0"/>
          </a:p>
        </p:txBody>
      </p:sp>
      <p:sp>
        <p:nvSpPr>
          <p:cNvPr id="25" name="Shape 22"/>
          <p:cNvSpPr/>
          <p:nvPr/>
        </p:nvSpPr>
        <p:spPr>
          <a:xfrm>
            <a:off x="7543800" y="1536192"/>
            <a:ext cx="1024128" cy="210312"/>
          </a:xfrm>
          <a:prstGeom prst="roundRect">
            <a:avLst>
              <a:gd name="adj" fmla="val 43478"/>
            </a:avLst>
          </a:prstGeom>
          <a:solidFill>
            <a:srgbClr val="2D241B"/>
          </a:solidFill>
          <a:ln w="9525">
            <a:solidFill>
              <a:srgbClr val="F2A93B"/>
            </a:solidFill>
            <a:prstDash val="solid"/>
          </a:ln>
        </p:spPr>
      </p:sp>
      <p:sp>
        <p:nvSpPr>
          <p:cNvPr id="26" name="Text 23"/>
          <p:cNvSpPr txBox="1"/>
          <p:nvPr/>
        </p:nvSpPr>
        <p:spPr>
          <a:xfrm>
            <a:off x="7543800" y="1536192"/>
            <a:ext cx="1024128" cy="210312"/>
          </a:xfrm>
          <a:prstGeom prst="rect">
            <a:avLst/>
          </a:prstGeom>
          <a:noFill/>
          <a:ln/>
        </p:spPr>
        <p:txBody>
          <a:bodyPr wrap="square" lIns="0" tIns="0" rIns="0" bIns="0" rtlCol="0" anchor="ctr"/>
          <a:lstStyle/>
          <a:p>
            <a:pPr algn="ctr" indent="0" marL="0">
              <a:buNone/>
            </a:pPr>
            <a:r>
              <a:rPr lang="en-US" sz="850" b="1" dirty="0">
                <a:solidFill>
                  <a:srgbClr val="F7C85C"/>
                </a:solidFill>
                <a:latin typeface="Calibri" pitchFamily="34" charset="0"/>
                <a:ea typeface="Calibri" pitchFamily="34" charset="-122"/>
                <a:cs typeface="Calibri" pitchFamily="34" charset="-120"/>
              </a:rPr>
              <a:t>client: Acme</a:t>
            </a:r>
            <a:endParaRPr lang="en-US" sz="850" dirty="0"/>
          </a:p>
        </p:txBody>
      </p:sp>
      <p:sp>
        <p:nvSpPr>
          <p:cNvPr id="27" name="Shape 24"/>
          <p:cNvSpPr/>
          <p:nvPr/>
        </p:nvSpPr>
        <p:spPr>
          <a:xfrm>
            <a:off x="6391656" y="1828800"/>
            <a:ext cx="1097280" cy="210312"/>
          </a:xfrm>
          <a:prstGeom prst="roundRect">
            <a:avLst>
              <a:gd name="adj" fmla="val 43478"/>
            </a:avLst>
          </a:prstGeom>
          <a:solidFill>
            <a:srgbClr val="2D241B"/>
          </a:solidFill>
          <a:ln w="9525">
            <a:solidFill>
              <a:srgbClr val="F2A93B"/>
            </a:solidFill>
            <a:prstDash val="solid"/>
          </a:ln>
        </p:spPr>
      </p:sp>
      <p:sp>
        <p:nvSpPr>
          <p:cNvPr id="28" name="Text 25"/>
          <p:cNvSpPr txBox="1"/>
          <p:nvPr/>
        </p:nvSpPr>
        <p:spPr>
          <a:xfrm>
            <a:off x="6391656" y="1828800"/>
            <a:ext cx="1097280" cy="210312"/>
          </a:xfrm>
          <a:prstGeom prst="rect">
            <a:avLst/>
          </a:prstGeom>
          <a:noFill/>
          <a:ln/>
        </p:spPr>
        <p:txBody>
          <a:bodyPr wrap="square" lIns="0" tIns="0" rIns="0" bIns="0" rtlCol="0" anchor="ctr"/>
          <a:lstStyle/>
          <a:p>
            <a:pPr algn="ctr" indent="0" marL="0">
              <a:buNone/>
            </a:pPr>
            <a:r>
              <a:rPr lang="en-US" sz="850" b="1" dirty="0">
                <a:solidFill>
                  <a:srgbClr val="F7C85C"/>
                </a:solidFill>
                <a:latin typeface="Calibri" pitchFamily="34" charset="0"/>
                <a:ea typeface="Calibri" pitchFamily="34" charset="-122"/>
                <a:cs typeface="Calibri" pitchFamily="34" charset="-120"/>
              </a:rPr>
              <a:t>Confidential</a:t>
            </a:r>
            <a:endParaRPr lang="en-US" sz="850" dirty="0"/>
          </a:p>
        </p:txBody>
      </p:sp>
      <p:sp>
        <p:nvSpPr>
          <p:cNvPr id="29" name="Shape 26"/>
          <p:cNvSpPr/>
          <p:nvPr/>
        </p:nvSpPr>
        <p:spPr>
          <a:xfrm>
            <a:off x="7543800" y="1828800"/>
            <a:ext cx="1024128" cy="210312"/>
          </a:xfrm>
          <a:prstGeom prst="roundRect">
            <a:avLst>
              <a:gd name="adj" fmla="val 43478"/>
            </a:avLst>
          </a:prstGeom>
          <a:solidFill>
            <a:srgbClr val="221B14"/>
          </a:solidFill>
          <a:ln w="9525">
            <a:solidFill>
              <a:srgbClr val="E2603F"/>
            </a:solidFill>
            <a:prstDash val="dash"/>
          </a:ln>
        </p:spPr>
      </p:sp>
      <p:sp>
        <p:nvSpPr>
          <p:cNvPr id="30" name="Text 27"/>
          <p:cNvSpPr txBox="1"/>
          <p:nvPr/>
        </p:nvSpPr>
        <p:spPr>
          <a:xfrm>
            <a:off x="7543800" y="1828800"/>
            <a:ext cx="1024128" cy="210312"/>
          </a:xfrm>
          <a:prstGeom prst="rect">
            <a:avLst/>
          </a:prstGeom>
          <a:noFill/>
          <a:ln/>
        </p:spPr>
        <p:txBody>
          <a:bodyPr wrap="square" lIns="0" tIns="0" rIns="0" bIns="0" rtlCol="0" anchor="ctr"/>
          <a:lstStyle/>
          <a:p>
            <a:pPr algn="ctr" indent="0" marL="0">
              <a:buNone/>
            </a:pPr>
            <a:r>
              <a:rPr lang="en-US" sz="850" b="1" dirty="0">
                <a:solidFill>
                  <a:srgbClr val="E2603F"/>
                </a:solidFill>
                <a:latin typeface="Calibri" pitchFamily="34" charset="0"/>
                <a:ea typeface="Calibri" pitchFamily="34" charset="-122"/>
                <a:cs typeface="Calibri" pitchFamily="34" charset="-120"/>
              </a:rPr>
              <a:t>renewal? (AI)</a:t>
            </a:r>
            <a:endParaRPr lang="en-US" sz="850" dirty="0"/>
          </a:p>
        </p:txBody>
      </p:sp>
      <p:sp>
        <p:nvSpPr>
          <p:cNvPr id="31" name="Shape 28"/>
          <p:cNvSpPr/>
          <p:nvPr/>
        </p:nvSpPr>
        <p:spPr>
          <a:xfrm>
            <a:off x="6263640" y="2240280"/>
            <a:ext cx="2423160" cy="868680"/>
          </a:xfrm>
          <a:prstGeom prst="roundRect">
            <a:avLst>
              <a:gd name="adj" fmla="val 8421"/>
            </a:avLst>
          </a:prstGeom>
          <a:solidFill>
            <a:srgbClr val="221B14"/>
          </a:solidFill>
          <a:ln w="9525">
            <a:solidFill>
              <a:srgbClr val="4A3C2C"/>
            </a:solidFill>
            <a:prstDash val="solid"/>
          </a:ln>
        </p:spPr>
      </p:sp>
      <p:sp>
        <p:nvSpPr>
          <p:cNvPr id="32" name="Text 29"/>
          <p:cNvSpPr txBox="1"/>
          <p:nvPr/>
        </p:nvSpPr>
        <p:spPr>
          <a:xfrm>
            <a:off x="6391656" y="2313432"/>
            <a:ext cx="2194560" cy="219456"/>
          </a:xfrm>
          <a:prstGeom prst="rect">
            <a:avLst/>
          </a:prstGeom>
          <a:noFill/>
          <a:ln/>
        </p:spPr>
        <p:txBody>
          <a:bodyPr wrap="square" lIns="0" tIns="0" rIns="0" bIns="0" rtlCol="0" anchor="t"/>
          <a:lstStyle/>
          <a:p>
            <a:pPr indent="0" marL="0">
              <a:buNone/>
            </a:pPr>
            <a:r>
              <a:rPr lang="en-US" sz="1100" b="1" dirty="0">
                <a:solidFill>
                  <a:srgbClr val="F2A93B"/>
                </a:solidFill>
                <a:latin typeface="Calibri" pitchFamily="34" charset="0"/>
                <a:ea typeface="Calibri" pitchFamily="34" charset="-122"/>
                <a:cs typeface="Calibri" pitchFamily="34" charset="-120"/>
              </a:rPr>
              <a:t>Access</a:t>
            </a:r>
            <a:endParaRPr lang="en-US" sz="1100" dirty="0"/>
          </a:p>
        </p:txBody>
      </p:sp>
      <p:sp>
        <p:nvSpPr>
          <p:cNvPr id="33" name="Text 30"/>
          <p:cNvSpPr txBox="1"/>
          <p:nvPr/>
        </p:nvSpPr>
        <p:spPr>
          <a:xfrm>
            <a:off x="6391656" y="2542032"/>
            <a:ext cx="2212848" cy="521208"/>
          </a:xfrm>
          <a:prstGeom prst="rect">
            <a:avLst/>
          </a:prstGeom>
          <a:noFill/>
          <a:ln/>
        </p:spPr>
        <p:txBody>
          <a:bodyPr wrap="square" lIns="0" tIns="0" rIns="0" bIns="0" rtlCol="0" anchor="t"/>
          <a:lstStyle/>
          <a:p>
            <a:pPr indent="0" marL="0">
              <a:buNone/>
            </a:pPr>
            <a:r>
              <a:rPr lang="en-US" sz="950" dirty="0">
                <a:solidFill>
                  <a:srgbClr val="F5EEE3"/>
                </a:solidFill>
                <a:latin typeface="Calibri" pitchFamily="34" charset="0"/>
                <a:ea typeface="Calibri" pitchFamily="34" charset="-122"/>
                <a:cs typeface="Calibri" pitchFamily="34" charset="-120"/>
              </a:rPr>
              <a:t>Legal group reads via #contracts. Commercial AI sees metadata only.</a:t>
            </a:r>
            <a:endParaRPr lang="en-US" sz="950" dirty="0"/>
          </a:p>
        </p:txBody>
      </p:sp>
      <p:sp>
        <p:nvSpPr>
          <p:cNvPr id="34" name="Shape 31"/>
          <p:cNvSpPr/>
          <p:nvPr/>
        </p:nvSpPr>
        <p:spPr>
          <a:xfrm flipH="1" flipV="1">
            <a:off x="5897880" y="2606040"/>
            <a:ext cx="365760" cy="64008"/>
          </a:xfrm>
          <a:prstGeom prst="line">
            <a:avLst/>
          </a:prstGeom>
          <a:noFill/>
          <a:ln w="12700">
            <a:solidFill>
              <a:srgbClr val="F2A93B">
                <a:alpha val="50000"/>
              </a:srgbClr>
            </a:solidFill>
            <a:prstDash val="solid"/>
          </a:ln>
        </p:spPr>
      </p:sp>
      <p:sp>
        <p:nvSpPr>
          <p:cNvPr id="35" name="Shape 32"/>
          <p:cNvSpPr/>
          <p:nvPr/>
        </p:nvSpPr>
        <p:spPr>
          <a:xfrm>
            <a:off x="6263640" y="3246120"/>
            <a:ext cx="2423160" cy="868680"/>
          </a:xfrm>
          <a:prstGeom prst="roundRect">
            <a:avLst>
              <a:gd name="adj" fmla="val 8421"/>
            </a:avLst>
          </a:prstGeom>
          <a:solidFill>
            <a:srgbClr val="221B14"/>
          </a:solidFill>
          <a:ln w="9525">
            <a:solidFill>
              <a:srgbClr val="4A3C2C"/>
            </a:solidFill>
            <a:prstDash val="solid"/>
          </a:ln>
        </p:spPr>
      </p:sp>
      <p:sp>
        <p:nvSpPr>
          <p:cNvPr id="36" name="Text 33"/>
          <p:cNvSpPr txBox="1"/>
          <p:nvPr/>
        </p:nvSpPr>
        <p:spPr>
          <a:xfrm>
            <a:off x="6391656" y="3319272"/>
            <a:ext cx="2194560" cy="219456"/>
          </a:xfrm>
          <a:prstGeom prst="rect">
            <a:avLst/>
          </a:prstGeom>
          <a:noFill/>
          <a:ln/>
        </p:spPr>
        <p:txBody>
          <a:bodyPr wrap="square" lIns="0" tIns="0" rIns="0" bIns="0" rtlCol="0" anchor="t"/>
          <a:lstStyle/>
          <a:p>
            <a:pPr indent="0" marL="0">
              <a:buNone/>
            </a:pPr>
            <a:r>
              <a:rPr lang="en-US" sz="1100" b="1" dirty="0">
                <a:solidFill>
                  <a:srgbClr val="F2A93B"/>
                </a:solidFill>
                <a:latin typeface="Calibri" pitchFamily="34" charset="0"/>
                <a:ea typeface="Calibri" pitchFamily="34" charset="-122"/>
                <a:cs typeface="Calibri" pitchFamily="34" charset="-120"/>
              </a:rPr>
              <a:t>History</a:t>
            </a:r>
            <a:endParaRPr lang="en-US" sz="1100" dirty="0"/>
          </a:p>
        </p:txBody>
      </p:sp>
      <p:sp>
        <p:nvSpPr>
          <p:cNvPr id="37" name="Text 34"/>
          <p:cNvSpPr txBox="1"/>
          <p:nvPr/>
        </p:nvSpPr>
        <p:spPr>
          <a:xfrm>
            <a:off x="6391656" y="3547872"/>
            <a:ext cx="2212848" cy="521208"/>
          </a:xfrm>
          <a:prstGeom prst="rect">
            <a:avLst/>
          </a:prstGeom>
          <a:noFill/>
          <a:ln/>
        </p:spPr>
        <p:txBody>
          <a:bodyPr wrap="square" lIns="0" tIns="0" rIns="0" bIns="0" rtlCol="0" anchor="t"/>
          <a:lstStyle/>
          <a:p>
            <a:pPr indent="0" marL="0">
              <a:buNone/>
            </a:pPr>
            <a:r>
              <a:rPr lang="en-US" sz="950" dirty="0">
                <a:solidFill>
                  <a:srgbClr val="F5EEE3"/>
                </a:solidFill>
                <a:latin typeface="Calibri" pitchFamily="34" charset="0"/>
                <a:ea typeface="Calibri" pitchFamily="34" charset="-122"/>
                <a:cs typeface="Calibri" pitchFamily="34" charset="-120"/>
              </a:rPr>
              <a:t>Viewed by Sam 09:02, opened via Claude 09:05. Every read audited.</a:t>
            </a:r>
            <a:endParaRPr lang="en-US" sz="950" dirty="0"/>
          </a:p>
        </p:txBody>
      </p:sp>
      <p:sp>
        <p:nvSpPr>
          <p:cNvPr id="38" name="Shape 35"/>
          <p:cNvSpPr/>
          <p:nvPr/>
        </p:nvSpPr>
        <p:spPr>
          <a:xfrm flipH="1" flipV="1">
            <a:off x="5897880" y="2606040"/>
            <a:ext cx="365760" cy="1069848"/>
          </a:xfrm>
          <a:prstGeom prst="line">
            <a:avLst/>
          </a:prstGeom>
          <a:noFill/>
          <a:ln w="12700">
            <a:solidFill>
              <a:srgbClr val="F2A93B">
                <a:alpha val="50000"/>
              </a:srgbClr>
            </a:solidFill>
            <a:prstDash val="solid"/>
          </a:ln>
        </p:spPr>
      </p:sp>
      <p:sp>
        <p:nvSpPr>
          <p:cNvPr id="39" name="Text 36"/>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000" i="1" dirty="0">
                <a:solidFill>
                  <a:srgbClr val="B5A994"/>
                </a:solidFill>
                <a:latin typeface="Calibri" pitchFamily="34" charset="0"/>
                <a:ea typeface="Calibri" pitchFamily="34" charset="-122"/>
                <a:cs typeface="Calibri" pitchFamily="34" charset="-120"/>
              </a:rPr>
              <a:t>Illustrative example. A folder becomes just one more tag, so the same file can live in several 'places' at once.</a:t>
            </a:r>
            <a:endParaRPr lang="en-US" sz="1000" dirty="0"/>
          </a:p>
        </p:txBody>
      </p:sp>
      <p:pic>
        <p:nvPicPr>
          <p:cNvPr id="40" name="Image 1" descr="preencoded.png">    </p:cNvPr>
          <p:cNvPicPr>
            <a:picLocks noChangeAspect="1"/>
          </p:cNvPicPr>
          <p:nvPr/>
        </p:nvPicPr>
        <p:blipFill>
          <a:blip r:embed="rId2"/>
          <a:stretch>
            <a:fillRect/>
          </a:stretch>
        </p:blipFill>
        <p:spPr>
          <a:xfrm>
            <a:off x="457200" y="4754880"/>
            <a:ext cx="182880" cy="182880"/>
          </a:xfrm>
          <a:prstGeom prst="rect">
            <a:avLst/>
          </a:prstGeom>
        </p:spPr>
      </p:pic>
      <p:sp>
        <p:nvSpPr>
          <p:cNvPr id="41" name="Text 37"/>
          <p:cNvSpPr txBox="1"/>
          <p:nvPr/>
        </p:nvSpPr>
        <p:spPr>
          <a:xfrm>
            <a:off x="694944" y="4754880"/>
            <a:ext cx="1828800" cy="182880"/>
          </a:xfrm>
          <a:prstGeom prst="rect">
            <a:avLst/>
          </a:prstGeom>
          <a:noFill/>
          <a:ln/>
        </p:spPr>
        <p:txBody>
          <a:bodyPr wrap="square" lIns="0" tIns="0" rIns="0" bIns="0" rtlCol="0" anchor="ctr"/>
          <a:lstStyle/>
          <a:p>
            <a:pPr indent="0" marL="0">
              <a:buNone/>
            </a:pPr>
            <a:r>
              <a:rPr lang="en-US" sz="900" dirty="0">
                <a:solidFill>
                  <a:srgbClr val="B5A994"/>
                </a:solidFill>
                <a:latin typeface="Calibri" pitchFamily="34" charset="0"/>
                <a:ea typeface="Calibri" pitchFamily="34" charset="-122"/>
                <a:cs typeface="Calibri" pitchFamily="34" charset="-120"/>
              </a:rPr>
              <a:t>OpenHoard</a:t>
            </a:r>
            <a:endParaRPr lang="en-US" sz="900" dirty="0"/>
          </a:p>
        </p:txBody>
      </p:sp>
      <p:sp>
        <p:nvSpPr>
          <p:cNvPr id="42" name="Text 38"/>
          <p:cNvSpPr txBox="1"/>
          <p:nvPr/>
        </p:nvSpPr>
        <p:spPr>
          <a:xfrm>
            <a:off x="7772400" y="4754880"/>
            <a:ext cx="914400" cy="182880"/>
          </a:xfrm>
          <a:prstGeom prst="rect">
            <a:avLst/>
          </a:prstGeom>
          <a:noFill/>
          <a:ln/>
        </p:spPr>
        <p:txBody>
          <a:bodyPr wrap="square" lIns="0" tIns="0" rIns="0" bIns="0" rtlCol="0" anchor="ctr"/>
          <a:lstStyle/>
          <a:p>
            <a:pPr algn="r" indent="0" marL="0">
              <a:buNone/>
            </a:pPr>
            <a:r>
              <a:rPr lang="en-US" sz="900" dirty="0">
                <a:solidFill>
                  <a:srgbClr val="B5A99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110D"/>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indent="0" marL="0">
              <a:buNone/>
            </a:pPr>
            <a:r>
              <a:rPr lang="en-US" sz="1000" b="1" spc="400" kern="0" dirty="0">
                <a:solidFill>
                  <a:srgbClr val="F2A93B"/>
                </a:solidFill>
                <a:latin typeface="Calibri" pitchFamily="34" charset="0"/>
                <a:ea typeface="Calibri" pitchFamily="34" charset="-122"/>
                <a:cs typeface="Calibri" pitchFamily="34" charset="-120"/>
              </a:rPr>
              <a:t>TAGS AND PERMISSIONS</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800" b="1" dirty="0">
                <a:solidFill>
                  <a:srgbClr val="F5EEE3"/>
                </a:solidFill>
                <a:latin typeface="Cambria" pitchFamily="34" charset="0"/>
                <a:ea typeface="Cambria" pitchFamily="34" charset="-122"/>
                <a:cs typeface="Cambria" pitchFamily="34" charset="-120"/>
              </a:rPr>
              <a:t>Tags replace folders, and carry the permissions</a:t>
            </a:r>
            <a:endParaRPr lang="en-US" sz="2800" dirty="0"/>
          </a:p>
        </p:txBody>
      </p:sp>
      <p:pic>
        <p:nvPicPr>
          <p:cNvPr id="4" name="Image 0" descr="preencoded.png">    </p:cNvPr>
          <p:cNvPicPr>
            <a:picLocks noChangeAspect="1"/>
          </p:cNvPicPr>
          <p:nvPr/>
        </p:nvPicPr>
        <p:blipFill>
          <a:blip r:embed="rId1"/>
          <a:stretch>
            <a:fillRect/>
          </a:stretch>
        </p:blipFill>
        <p:spPr>
          <a:xfrm>
            <a:off x="457200" y="1325880"/>
            <a:ext cx="548640" cy="548640"/>
          </a:xfrm>
          <a:prstGeom prst="rect">
            <a:avLst/>
          </a:prstGeom>
        </p:spPr>
      </p:pic>
      <p:sp>
        <p:nvSpPr>
          <p:cNvPr id="5" name="Text 2"/>
          <p:cNvSpPr txBox="1"/>
          <p:nvPr/>
        </p:nvSpPr>
        <p:spPr>
          <a:xfrm>
            <a:off x="1170432" y="1344168"/>
            <a:ext cx="3840480" cy="256032"/>
          </a:xfrm>
          <a:prstGeom prst="rect">
            <a:avLst/>
          </a:prstGeom>
          <a:noFill/>
          <a:ln/>
        </p:spPr>
        <p:txBody>
          <a:bodyPr wrap="square" lIns="0" tIns="0" rIns="0" bIns="0" rtlCol="0" anchor="t"/>
          <a:lstStyle/>
          <a:p>
            <a:pPr indent="0" marL="0">
              <a:buNone/>
            </a:pPr>
            <a:r>
              <a:rPr lang="en-US" sz="1300" b="1" dirty="0">
                <a:solidFill>
                  <a:srgbClr val="F5EEE3"/>
                </a:solidFill>
                <a:latin typeface="Calibri" pitchFamily="34" charset="0"/>
                <a:ea typeface="Calibri" pitchFamily="34" charset="-122"/>
                <a:cs typeface="Calibri" pitchFamily="34" charset="-120"/>
              </a:rPr>
              <a:t>Many tags, one home</a:t>
            </a:r>
            <a:endParaRPr lang="en-US" sz="1300" dirty="0"/>
          </a:p>
        </p:txBody>
      </p:sp>
      <p:sp>
        <p:nvSpPr>
          <p:cNvPr id="6" name="Text 3"/>
          <p:cNvSpPr txBox="1"/>
          <p:nvPr/>
        </p:nvSpPr>
        <p:spPr>
          <a:xfrm>
            <a:off x="1170432" y="1609344"/>
            <a:ext cx="3840480" cy="457200"/>
          </a:xfrm>
          <a:prstGeom prst="rect">
            <a:avLst/>
          </a:prstGeom>
          <a:noFill/>
          <a:ln/>
        </p:spPr>
        <p:txBody>
          <a:bodyPr wrap="square" lIns="0" tIns="0" rIns="0" bIns="0" rtlCol="0" anchor="t"/>
          <a:lstStyle/>
          <a:p>
            <a:pPr indent="0" marL="0">
              <a:buNone/>
            </a:pPr>
            <a:r>
              <a:rPr lang="en-US" sz="1050" dirty="0">
                <a:solidFill>
                  <a:srgbClr val="B5A994"/>
                </a:solidFill>
                <a:latin typeface="Calibri" pitchFamily="34" charset="0"/>
                <a:ea typeface="Calibri" pitchFamily="34" charset="-122"/>
                <a:cs typeface="Calibri" pitchFamily="34" charset="-120"/>
              </a:rPr>
              <a:t>A file can sit in Contracts, Acme and Q3 at once. One primary tag is its home.</a:t>
            </a:r>
            <a:endParaRPr lang="en-US" sz="1050" dirty="0"/>
          </a:p>
        </p:txBody>
      </p:sp>
      <p:pic>
        <p:nvPicPr>
          <p:cNvPr id="7" name="Image 1" descr="preencoded.png">    </p:cNvPr>
          <p:cNvPicPr>
            <a:picLocks noChangeAspect="1"/>
          </p:cNvPicPr>
          <p:nvPr/>
        </p:nvPicPr>
        <p:blipFill>
          <a:blip r:embed="rId2"/>
          <a:stretch>
            <a:fillRect/>
          </a:stretch>
        </p:blipFill>
        <p:spPr>
          <a:xfrm>
            <a:off x="457200" y="2148840"/>
            <a:ext cx="548640" cy="548640"/>
          </a:xfrm>
          <a:prstGeom prst="rect">
            <a:avLst/>
          </a:prstGeom>
        </p:spPr>
      </p:pic>
      <p:sp>
        <p:nvSpPr>
          <p:cNvPr id="8" name="Text 4"/>
          <p:cNvSpPr txBox="1"/>
          <p:nvPr/>
        </p:nvSpPr>
        <p:spPr>
          <a:xfrm>
            <a:off x="1170432" y="2167128"/>
            <a:ext cx="3840480" cy="256032"/>
          </a:xfrm>
          <a:prstGeom prst="rect">
            <a:avLst/>
          </a:prstGeom>
          <a:noFill/>
          <a:ln/>
        </p:spPr>
        <p:txBody>
          <a:bodyPr wrap="square" lIns="0" tIns="0" rIns="0" bIns="0" rtlCol="0" anchor="t"/>
          <a:lstStyle/>
          <a:p>
            <a:pPr indent="0" marL="0">
              <a:buNone/>
            </a:pPr>
            <a:r>
              <a:rPr lang="en-US" sz="1300" b="1" dirty="0">
                <a:solidFill>
                  <a:srgbClr val="F5EEE3"/>
                </a:solidFill>
                <a:latin typeface="Calibri" pitchFamily="34" charset="0"/>
                <a:ea typeface="Calibri" pitchFamily="34" charset="-122"/>
                <a:cs typeface="Calibri" pitchFamily="34" charset="-120"/>
              </a:rPr>
              <a:t>People, rules and AI all tag</a:t>
            </a:r>
            <a:endParaRPr lang="en-US" sz="1300" dirty="0"/>
          </a:p>
        </p:txBody>
      </p:sp>
      <p:sp>
        <p:nvSpPr>
          <p:cNvPr id="9" name="Text 5"/>
          <p:cNvSpPr txBox="1"/>
          <p:nvPr/>
        </p:nvSpPr>
        <p:spPr>
          <a:xfrm>
            <a:off x="1170432" y="2432304"/>
            <a:ext cx="3840480" cy="457200"/>
          </a:xfrm>
          <a:prstGeom prst="rect">
            <a:avLst/>
          </a:prstGeom>
          <a:noFill/>
          <a:ln/>
        </p:spPr>
        <p:txBody>
          <a:bodyPr wrap="square" lIns="0" tIns="0" rIns="0" bIns="0" rtlCol="0" anchor="t"/>
          <a:lstStyle/>
          <a:p>
            <a:pPr indent="0" marL="0">
              <a:buNone/>
            </a:pPr>
            <a:r>
              <a:rPr lang="en-US" sz="1050" dirty="0">
                <a:solidFill>
                  <a:srgbClr val="B5A994"/>
                </a:solidFill>
                <a:latin typeface="Calibri" pitchFamily="34" charset="0"/>
                <a:ea typeface="Calibri" pitchFamily="34" charset="-122"/>
                <a:cs typeface="Calibri" pitchFamily="34" charset="-120"/>
              </a:rPr>
              <a:t>Rules tag on ingest. AI suggestions stay untrusted until a person approves them.</a:t>
            </a:r>
            <a:endParaRPr lang="en-US" sz="1050" dirty="0"/>
          </a:p>
        </p:txBody>
      </p:sp>
      <p:pic>
        <p:nvPicPr>
          <p:cNvPr id="10" name="Image 2" descr="preencoded.png">    </p:cNvPr>
          <p:cNvPicPr>
            <a:picLocks noChangeAspect="1"/>
          </p:cNvPicPr>
          <p:nvPr/>
        </p:nvPicPr>
        <p:blipFill>
          <a:blip r:embed="rId3"/>
          <a:stretch>
            <a:fillRect/>
          </a:stretch>
        </p:blipFill>
        <p:spPr>
          <a:xfrm>
            <a:off x="457200" y="2971800"/>
            <a:ext cx="548640" cy="548640"/>
          </a:xfrm>
          <a:prstGeom prst="rect">
            <a:avLst/>
          </a:prstGeom>
        </p:spPr>
      </p:pic>
      <p:sp>
        <p:nvSpPr>
          <p:cNvPr id="11" name="Text 6"/>
          <p:cNvSpPr txBox="1"/>
          <p:nvPr/>
        </p:nvSpPr>
        <p:spPr>
          <a:xfrm>
            <a:off x="1170432" y="2990088"/>
            <a:ext cx="3840480" cy="256032"/>
          </a:xfrm>
          <a:prstGeom prst="rect">
            <a:avLst/>
          </a:prstGeom>
          <a:noFill/>
          <a:ln/>
        </p:spPr>
        <p:txBody>
          <a:bodyPr wrap="square" lIns="0" tIns="0" rIns="0" bIns="0" rtlCol="0" anchor="t"/>
          <a:lstStyle/>
          <a:p>
            <a:pPr indent="0" marL="0">
              <a:buNone/>
            </a:pPr>
            <a:r>
              <a:rPr lang="en-US" sz="1300" b="1" dirty="0">
                <a:solidFill>
                  <a:srgbClr val="F5EEE3"/>
                </a:solidFill>
                <a:latin typeface="Calibri" pitchFamily="34" charset="0"/>
                <a:ea typeface="Calibri" pitchFamily="34" charset="-122"/>
                <a:cs typeface="Calibri" pitchFamily="34" charset="-120"/>
              </a:rPr>
              <a:t>Grant access to tags, not files</a:t>
            </a:r>
            <a:endParaRPr lang="en-US" sz="1300" dirty="0"/>
          </a:p>
        </p:txBody>
      </p:sp>
      <p:sp>
        <p:nvSpPr>
          <p:cNvPr id="12" name="Text 7"/>
          <p:cNvSpPr txBox="1"/>
          <p:nvPr/>
        </p:nvSpPr>
        <p:spPr>
          <a:xfrm>
            <a:off x="1170432" y="3255264"/>
            <a:ext cx="3840480" cy="457200"/>
          </a:xfrm>
          <a:prstGeom prst="rect">
            <a:avLst/>
          </a:prstGeom>
          <a:noFill/>
          <a:ln/>
        </p:spPr>
        <p:txBody>
          <a:bodyPr wrap="square" lIns="0" tIns="0" rIns="0" bIns="0" rtlCol="0" anchor="t"/>
          <a:lstStyle/>
          <a:p>
            <a:pPr indent="0" marL="0">
              <a:buNone/>
            </a:pPr>
            <a:r>
              <a:rPr lang="en-US" sz="1050" dirty="0">
                <a:solidFill>
                  <a:srgbClr val="B5A994"/>
                </a:solidFill>
                <a:latin typeface="Calibri" pitchFamily="34" charset="0"/>
                <a:ea typeface="Calibri" pitchFamily="34" charset="-122"/>
                <a:cs typeface="Calibri" pitchFamily="34" charset="-120"/>
              </a:rPr>
              <a:t>'Legal can read #contracts' covers every current and future contract.</a:t>
            </a:r>
            <a:endParaRPr lang="en-US" sz="1050" dirty="0"/>
          </a:p>
        </p:txBody>
      </p:sp>
      <p:pic>
        <p:nvPicPr>
          <p:cNvPr id="13" name="Image 3" descr="preencoded.png">    </p:cNvPr>
          <p:cNvPicPr>
            <a:picLocks noChangeAspect="1"/>
          </p:cNvPicPr>
          <p:nvPr/>
        </p:nvPicPr>
        <p:blipFill>
          <a:blip r:embed="rId4"/>
          <a:stretch>
            <a:fillRect/>
          </a:stretch>
        </p:blipFill>
        <p:spPr>
          <a:xfrm>
            <a:off x="457200" y="3794760"/>
            <a:ext cx="548640" cy="548640"/>
          </a:xfrm>
          <a:prstGeom prst="rect">
            <a:avLst/>
          </a:prstGeom>
        </p:spPr>
      </p:pic>
      <p:sp>
        <p:nvSpPr>
          <p:cNvPr id="14" name="Text 8"/>
          <p:cNvSpPr txBox="1"/>
          <p:nvPr/>
        </p:nvSpPr>
        <p:spPr>
          <a:xfrm>
            <a:off x="1170432" y="3813048"/>
            <a:ext cx="3840480" cy="256032"/>
          </a:xfrm>
          <a:prstGeom prst="rect">
            <a:avLst/>
          </a:prstGeom>
          <a:noFill/>
          <a:ln/>
        </p:spPr>
        <p:txBody>
          <a:bodyPr wrap="square" lIns="0" tIns="0" rIns="0" bIns="0" rtlCol="0" anchor="t"/>
          <a:lstStyle/>
          <a:p>
            <a:pPr indent="0" marL="0">
              <a:buNone/>
            </a:pPr>
            <a:r>
              <a:rPr lang="en-US" sz="1300" b="1" dirty="0">
                <a:solidFill>
                  <a:srgbClr val="F5EEE3"/>
                </a:solidFill>
                <a:latin typeface="Calibri" pitchFamily="34" charset="0"/>
                <a:ea typeface="Calibri" pitchFamily="34" charset="-122"/>
                <a:cs typeface="Calibri" pitchFamily="34" charset="-120"/>
              </a:rPr>
              <a:t>Untrusted tags only tighten</a:t>
            </a:r>
            <a:endParaRPr lang="en-US" sz="1300" dirty="0"/>
          </a:p>
        </p:txBody>
      </p:sp>
      <p:sp>
        <p:nvSpPr>
          <p:cNvPr id="15" name="Text 9"/>
          <p:cNvSpPr txBox="1"/>
          <p:nvPr/>
        </p:nvSpPr>
        <p:spPr>
          <a:xfrm>
            <a:off x="1170432" y="4078224"/>
            <a:ext cx="3840480" cy="457200"/>
          </a:xfrm>
          <a:prstGeom prst="rect">
            <a:avLst/>
          </a:prstGeom>
          <a:noFill/>
          <a:ln/>
        </p:spPr>
        <p:txBody>
          <a:bodyPr wrap="square" lIns="0" tIns="0" rIns="0" bIns="0" rtlCol="0" anchor="t"/>
          <a:lstStyle/>
          <a:p>
            <a:pPr indent="0" marL="0">
              <a:buNone/>
            </a:pPr>
            <a:r>
              <a:rPr lang="en-US" sz="1050" dirty="0">
                <a:solidFill>
                  <a:srgbClr val="B5A994"/>
                </a:solidFill>
                <a:latin typeface="Calibri" pitchFamily="34" charset="0"/>
                <a:ea typeface="Calibri" pitchFamily="34" charset="-122"/>
                <a:cs typeface="Calibri" pitchFamily="34" charset="-120"/>
              </a:rPr>
              <a:t>An AI guess can make a file more private, never less.</a:t>
            </a:r>
            <a:endParaRPr lang="en-US" sz="1050" dirty="0"/>
          </a:p>
        </p:txBody>
      </p:sp>
      <p:sp>
        <p:nvSpPr>
          <p:cNvPr id="16" name="Shape 10"/>
          <p:cNvSpPr/>
          <p:nvPr/>
        </p:nvSpPr>
        <p:spPr>
          <a:xfrm>
            <a:off x="5486400" y="1280160"/>
            <a:ext cx="3200400" cy="3291840"/>
          </a:xfrm>
          <a:prstGeom prst="roundRect">
            <a:avLst>
              <a:gd name="adj" fmla="val 2286"/>
            </a:avLst>
          </a:prstGeom>
          <a:solidFill>
            <a:srgbClr val="221B14"/>
          </a:solidFill>
          <a:ln w="9525">
            <a:solidFill>
              <a:srgbClr val="4A3C2C"/>
            </a:solidFill>
            <a:prstDash val="solid"/>
          </a:ln>
        </p:spPr>
      </p:sp>
      <p:sp>
        <p:nvSpPr>
          <p:cNvPr id="17" name="Text 11"/>
          <p:cNvSpPr txBox="1"/>
          <p:nvPr/>
        </p:nvSpPr>
        <p:spPr>
          <a:xfrm>
            <a:off x="5650992" y="1389888"/>
            <a:ext cx="2926080" cy="182880"/>
          </a:xfrm>
          <a:prstGeom prst="rect">
            <a:avLst/>
          </a:prstGeom>
          <a:noFill/>
          <a:ln/>
        </p:spPr>
        <p:txBody>
          <a:bodyPr wrap="square" lIns="0" tIns="0" rIns="0" bIns="0" rtlCol="0" anchor="t"/>
          <a:lstStyle/>
          <a:p>
            <a:pPr indent="0" marL="0">
              <a:buNone/>
            </a:pPr>
            <a:r>
              <a:rPr lang="en-US" sz="900" b="1" spc="200" kern="0" dirty="0">
                <a:solidFill>
                  <a:srgbClr val="B5A994"/>
                </a:solidFill>
                <a:latin typeface="Calibri" pitchFamily="34" charset="0"/>
                <a:ea typeface="Calibri" pitchFamily="34" charset="-122"/>
                <a:cs typeface="Calibri" pitchFamily="34" charset="-120"/>
              </a:rPr>
              <a:t>VISIBILITY LEVELS (PER TAG)</a:t>
            </a:r>
            <a:endParaRPr lang="en-US" sz="900" dirty="0"/>
          </a:p>
        </p:txBody>
      </p:sp>
      <p:sp>
        <p:nvSpPr>
          <p:cNvPr id="18" name="Shape 12"/>
          <p:cNvSpPr/>
          <p:nvPr/>
        </p:nvSpPr>
        <p:spPr>
          <a:xfrm>
            <a:off x="5650992" y="1664208"/>
            <a:ext cx="2871216" cy="457200"/>
          </a:xfrm>
          <a:prstGeom prst="roundRect">
            <a:avLst>
              <a:gd name="adj" fmla="val 12000"/>
            </a:avLst>
          </a:prstGeom>
          <a:solidFill>
            <a:srgbClr val="F2A93B"/>
          </a:solidFill>
          <a:ln w="9525">
            <a:solidFill>
              <a:srgbClr val="F2A93B"/>
            </a:solidFill>
            <a:prstDash val="solid"/>
          </a:ln>
        </p:spPr>
      </p:sp>
      <p:sp>
        <p:nvSpPr>
          <p:cNvPr id="19" name="Text 13"/>
          <p:cNvSpPr txBox="1"/>
          <p:nvPr/>
        </p:nvSpPr>
        <p:spPr>
          <a:xfrm>
            <a:off x="5760720" y="1664208"/>
            <a:ext cx="2697480" cy="457200"/>
          </a:xfrm>
          <a:prstGeom prst="rect">
            <a:avLst/>
          </a:prstGeom>
          <a:noFill/>
          <a:ln/>
        </p:spPr>
        <p:txBody>
          <a:bodyPr wrap="square" lIns="0" tIns="0" rIns="0" bIns="0" rtlCol="0" anchor="ctr"/>
          <a:lstStyle/>
          <a:p>
            <a:pPr indent="0" marL="0">
              <a:buNone/>
            </a:pPr>
            <a:r>
              <a:rPr lang="en-US" sz="1200" b="1" dirty="0">
                <a:solidFill>
                  <a:srgbClr val="15110D"/>
                </a:solidFill>
                <a:latin typeface="Calibri" pitchFamily="34" charset="0"/>
                <a:ea typeface="Calibri" pitchFamily="34" charset="-122"/>
                <a:cs typeface="Calibri" pitchFamily="34" charset="-120"/>
              </a:rPr>
              <a:t>Readable</a:t>
            </a:r>
            <a:pPr indent="0" marL="0">
              <a:buNone/>
            </a:pPr>
            <a:r>
              <a:rPr lang="en-US" sz="950" dirty="0">
                <a:solidFill>
                  <a:srgbClr val="15110D"/>
                </a:solidFill>
                <a:latin typeface="Calibri" pitchFamily="34" charset="0"/>
                <a:ea typeface="Calibri" pitchFamily="34" charset="-122"/>
                <a:cs typeface="Calibri" pitchFamily="34" charset="-120"/>
              </a:rPr>
              <a:t>   open and read the content</a:t>
            </a:r>
            <a:endParaRPr lang="en-US" sz="1200" dirty="0"/>
          </a:p>
        </p:txBody>
      </p:sp>
      <p:sp>
        <p:nvSpPr>
          <p:cNvPr id="20" name="Shape 14"/>
          <p:cNvSpPr/>
          <p:nvPr/>
        </p:nvSpPr>
        <p:spPr>
          <a:xfrm>
            <a:off x="5650992" y="2212848"/>
            <a:ext cx="2871216" cy="457200"/>
          </a:xfrm>
          <a:prstGeom prst="roundRect">
            <a:avLst>
              <a:gd name="adj" fmla="val 12000"/>
            </a:avLst>
          </a:prstGeom>
          <a:solidFill>
            <a:srgbClr val="2D241B"/>
          </a:solidFill>
          <a:ln w="9525">
            <a:solidFill>
              <a:srgbClr val="F2A93B"/>
            </a:solidFill>
            <a:prstDash val="solid"/>
          </a:ln>
        </p:spPr>
      </p:sp>
      <p:sp>
        <p:nvSpPr>
          <p:cNvPr id="21" name="Text 15"/>
          <p:cNvSpPr txBox="1"/>
          <p:nvPr/>
        </p:nvSpPr>
        <p:spPr>
          <a:xfrm>
            <a:off x="5760720" y="2212848"/>
            <a:ext cx="2697480" cy="457200"/>
          </a:xfrm>
          <a:prstGeom prst="rect">
            <a:avLst/>
          </a:prstGeom>
          <a:noFill/>
          <a:ln/>
        </p:spPr>
        <p:txBody>
          <a:bodyPr wrap="square" lIns="0" tIns="0" rIns="0" bIns="0" rtlCol="0" anchor="ctr"/>
          <a:lstStyle/>
          <a:p>
            <a:pPr indent="0" marL="0">
              <a:buNone/>
            </a:pPr>
            <a:r>
              <a:rPr lang="en-US" sz="1200" b="1" dirty="0">
                <a:solidFill>
                  <a:srgbClr val="F7C85C"/>
                </a:solidFill>
                <a:latin typeface="Calibri" pitchFamily="34" charset="0"/>
                <a:ea typeface="Calibri" pitchFamily="34" charset="-122"/>
                <a:cs typeface="Calibri" pitchFamily="34" charset="-120"/>
              </a:rPr>
              <a:t>Discoverable</a:t>
            </a:r>
            <a:pPr indent="0" marL="0">
              <a:buNone/>
            </a:pPr>
            <a:r>
              <a:rPr lang="en-US" sz="950" dirty="0">
                <a:solidFill>
                  <a:srgbClr val="F7C85C"/>
                </a:solidFill>
                <a:latin typeface="Calibri" pitchFamily="34" charset="0"/>
                <a:ea typeface="Calibri" pitchFamily="34" charset="-122"/>
                <a:cs typeface="Calibri" pitchFamily="34" charset="-120"/>
              </a:rPr>
              <a:t>   sees it exists, title only</a:t>
            </a:r>
            <a:endParaRPr lang="en-US" sz="1200" dirty="0"/>
          </a:p>
        </p:txBody>
      </p:sp>
      <p:sp>
        <p:nvSpPr>
          <p:cNvPr id="22" name="Shape 16"/>
          <p:cNvSpPr/>
          <p:nvPr/>
        </p:nvSpPr>
        <p:spPr>
          <a:xfrm>
            <a:off x="5650992" y="2761488"/>
            <a:ext cx="2871216" cy="457200"/>
          </a:xfrm>
          <a:prstGeom prst="roundRect">
            <a:avLst>
              <a:gd name="adj" fmla="val 12000"/>
            </a:avLst>
          </a:prstGeom>
          <a:solidFill>
            <a:srgbClr val="15110D"/>
          </a:solidFill>
          <a:ln w="9525">
            <a:solidFill>
              <a:srgbClr val="F2A93B"/>
            </a:solidFill>
            <a:prstDash val="solid"/>
          </a:ln>
        </p:spPr>
      </p:sp>
      <p:sp>
        <p:nvSpPr>
          <p:cNvPr id="23" name="Text 17"/>
          <p:cNvSpPr txBox="1"/>
          <p:nvPr/>
        </p:nvSpPr>
        <p:spPr>
          <a:xfrm>
            <a:off x="5760720" y="2761488"/>
            <a:ext cx="2697480" cy="457200"/>
          </a:xfrm>
          <a:prstGeom prst="rect">
            <a:avLst/>
          </a:prstGeom>
          <a:noFill/>
          <a:ln/>
        </p:spPr>
        <p:txBody>
          <a:bodyPr wrap="square" lIns="0" tIns="0" rIns="0" bIns="0" rtlCol="0" anchor="ctr"/>
          <a:lstStyle/>
          <a:p>
            <a:pPr indent="0" marL="0">
              <a:buNone/>
            </a:pPr>
            <a:r>
              <a:rPr lang="en-US" sz="1200" b="1" dirty="0">
                <a:solidFill>
                  <a:srgbClr val="B5A994"/>
                </a:solidFill>
                <a:latin typeface="Calibri" pitchFamily="34" charset="0"/>
                <a:ea typeface="Calibri" pitchFamily="34" charset="-122"/>
                <a:cs typeface="Calibri" pitchFamily="34" charset="-120"/>
              </a:rPr>
              <a:t>Hidden</a:t>
            </a:r>
            <a:pPr indent="0" marL="0">
              <a:buNone/>
            </a:pPr>
            <a:r>
              <a:rPr lang="en-US" sz="950" dirty="0">
                <a:solidFill>
                  <a:srgbClr val="B5A994"/>
                </a:solidFill>
                <a:latin typeface="Calibri" pitchFamily="34" charset="0"/>
                <a:ea typeface="Calibri" pitchFamily="34" charset="-122"/>
                <a:cs typeface="Calibri" pitchFamily="34" charset="-120"/>
              </a:rPr>
              <a:t>   not in search at all</a:t>
            </a:r>
            <a:endParaRPr lang="en-US" sz="1200" dirty="0"/>
          </a:p>
        </p:txBody>
      </p:sp>
      <p:sp>
        <p:nvSpPr>
          <p:cNvPr id="24" name="Text 18"/>
          <p:cNvSpPr txBox="1"/>
          <p:nvPr/>
        </p:nvSpPr>
        <p:spPr>
          <a:xfrm>
            <a:off x="5650992" y="3401568"/>
            <a:ext cx="2926080" cy="182880"/>
          </a:xfrm>
          <a:prstGeom prst="rect">
            <a:avLst/>
          </a:prstGeom>
          <a:noFill/>
          <a:ln/>
        </p:spPr>
        <p:txBody>
          <a:bodyPr wrap="square" lIns="0" tIns="0" rIns="0" bIns="0" rtlCol="0" anchor="t"/>
          <a:lstStyle/>
          <a:p>
            <a:pPr indent="0" marL="0">
              <a:buNone/>
            </a:pPr>
            <a:r>
              <a:rPr lang="en-US" sz="900" b="1" spc="200" kern="0" dirty="0">
                <a:solidFill>
                  <a:srgbClr val="B5A994"/>
                </a:solidFill>
                <a:latin typeface="Calibri" pitchFamily="34" charset="0"/>
                <a:ea typeface="Calibri" pitchFamily="34" charset="-122"/>
                <a:cs typeface="Calibri" pitchFamily="34" charset="-120"/>
              </a:rPr>
              <a:t>AI EXPOSURE</a:t>
            </a:r>
            <a:endParaRPr lang="en-US" sz="900" dirty="0"/>
          </a:p>
        </p:txBody>
      </p:sp>
      <p:sp>
        <p:nvSpPr>
          <p:cNvPr id="25" name="Text 19"/>
          <p:cNvSpPr txBox="1"/>
          <p:nvPr/>
        </p:nvSpPr>
        <p:spPr>
          <a:xfrm>
            <a:off x="5650992" y="3630168"/>
            <a:ext cx="2880360" cy="822960"/>
          </a:xfrm>
          <a:prstGeom prst="rect">
            <a:avLst/>
          </a:prstGeom>
          <a:noFill/>
          <a:ln/>
        </p:spPr>
        <p:txBody>
          <a:bodyPr wrap="square" lIns="0" tIns="0" rIns="0" bIns="0" rtlCol="0" anchor="t"/>
          <a:lstStyle/>
          <a:p>
            <a:pPr indent="0" marL="0">
              <a:buNone/>
            </a:pPr>
            <a:r>
              <a:rPr lang="en-US" sz="1050" dirty="0">
                <a:solidFill>
                  <a:srgbClr val="F5EEE3"/>
                </a:solidFill>
                <a:latin typeface="Calibri" pitchFamily="34" charset="0"/>
                <a:ea typeface="Calibri" pitchFamily="34" charset="-122"/>
                <a:cs typeface="Calibri" pitchFamily="34" charset="-120"/>
              </a:rPr>
              <a:t>Set per tag and per AI client trust. Example: Confidential files reach a commercial AI as metadata only, never content.</a:t>
            </a:r>
            <a:endParaRPr lang="en-US" sz="1050" dirty="0"/>
          </a:p>
        </p:txBody>
      </p:sp>
      <p:pic>
        <p:nvPicPr>
          <p:cNvPr id="26" name="Image 4" descr="preencoded.png">    </p:cNvPr>
          <p:cNvPicPr>
            <a:picLocks noChangeAspect="1"/>
          </p:cNvPicPr>
          <p:nvPr/>
        </p:nvPicPr>
        <p:blipFill>
          <a:blip r:embed="rId5"/>
          <a:stretch>
            <a:fillRect/>
          </a:stretch>
        </p:blipFill>
        <p:spPr>
          <a:xfrm>
            <a:off x="457200" y="4754880"/>
            <a:ext cx="182880" cy="182880"/>
          </a:xfrm>
          <a:prstGeom prst="rect">
            <a:avLst/>
          </a:prstGeom>
        </p:spPr>
      </p:pic>
      <p:sp>
        <p:nvSpPr>
          <p:cNvPr id="27" name="Text 20"/>
          <p:cNvSpPr txBox="1"/>
          <p:nvPr/>
        </p:nvSpPr>
        <p:spPr>
          <a:xfrm>
            <a:off x="694944" y="4754880"/>
            <a:ext cx="1828800" cy="182880"/>
          </a:xfrm>
          <a:prstGeom prst="rect">
            <a:avLst/>
          </a:prstGeom>
          <a:noFill/>
          <a:ln/>
        </p:spPr>
        <p:txBody>
          <a:bodyPr wrap="square" lIns="0" tIns="0" rIns="0" bIns="0" rtlCol="0" anchor="ctr"/>
          <a:lstStyle/>
          <a:p>
            <a:pPr indent="0" marL="0">
              <a:buNone/>
            </a:pPr>
            <a:r>
              <a:rPr lang="en-US" sz="900" dirty="0">
                <a:solidFill>
                  <a:srgbClr val="B5A994"/>
                </a:solidFill>
                <a:latin typeface="Calibri" pitchFamily="34" charset="0"/>
                <a:ea typeface="Calibri" pitchFamily="34" charset="-122"/>
                <a:cs typeface="Calibri" pitchFamily="34" charset="-120"/>
              </a:rPr>
              <a:t>OpenHoard</a:t>
            </a:r>
            <a:endParaRPr lang="en-US" sz="900" dirty="0"/>
          </a:p>
        </p:txBody>
      </p:sp>
      <p:sp>
        <p:nvSpPr>
          <p:cNvPr id="28" name="Text 21"/>
          <p:cNvSpPr txBox="1"/>
          <p:nvPr/>
        </p:nvSpPr>
        <p:spPr>
          <a:xfrm>
            <a:off x="7772400" y="4754880"/>
            <a:ext cx="914400" cy="182880"/>
          </a:xfrm>
          <a:prstGeom prst="rect">
            <a:avLst/>
          </a:prstGeom>
          <a:noFill/>
          <a:ln/>
        </p:spPr>
        <p:txBody>
          <a:bodyPr wrap="square" lIns="0" tIns="0" rIns="0" bIns="0" rtlCol="0" anchor="ctr"/>
          <a:lstStyle/>
          <a:p>
            <a:pPr algn="r" indent="0" marL="0">
              <a:buNone/>
            </a:pPr>
            <a:r>
              <a:rPr lang="en-US" sz="900" dirty="0">
                <a:solidFill>
                  <a:srgbClr val="B5A99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110D"/>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indent="0" marL="0">
              <a:buNone/>
            </a:pPr>
            <a:r>
              <a:rPr lang="en-US" sz="1000" b="1" spc="400" kern="0" dirty="0">
                <a:solidFill>
                  <a:srgbClr val="F2A93B"/>
                </a:solidFill>
                <a:latin typeface="Calibri" pitchFamily="34" charset="0"/>
                <a:ea typeface="Calibri" pitchFamily="34" charset="-122"/>
                <a:cs typeface="Calibri" pitchFamily="34" charset="-120"/>
              </a:rPr>
              <a:t>SEARCH</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800" b="1" dirty="0">
                <a:solidFill>
                  <a:srgbClr val="F5EEE3"/>
                </a:solidFill>
                <a:latin typeface="Cambria" pitchFamily="34" charset="0"/>
                <a:ea typeface="Cambria" pitchFamily="34" charset="-122"/>
                <a:cs typeface="Cambria" pitchFamily="34" charset="-120"/>
              </a:rPr>
              <a:t>Permission-aware search, zero AI tokens per query</a:t>
            </a:r>
            <a:endParaRPr lang="en-US" sz="2800" dirty="0"/>
          </a:p>
        </p:txBody>
      </p:sp>
      <p:sp>
        <p:nvSpPr>
          <p:cNvPr id="4" name="Shape 2"/>
          <p:cNvSpPr/>
          <p:nvPr/>
        </p:nvSpPr>
        <p:spPr>
          <a:xfrm>
            <a:off x="457200" y="1280160"/>
            <a:ext cx="1499616" cy="1417320"/>
          </a:xfrm>
          <a:prstGeom prst="roundRect">
            <a:avLst>
              <a:gd name="adj" fmla="val 5161"/>
            </a:avLst>
          </a:prstGeom>
          <a:solidFill>
            <a:srgbClr val="221B14"/>
          </a:solidFill>
          <a:ln w="9525">
            <a:solidFill>
              <a:srgbClr val="4A3C2C"/>
            </a:solidFill>
            <a:prstDash val="solid"/>
          </a:ln>
        </p:spPr>
      </p:sp>
      <p:pic>
        <p:nvPicPr>
          <p:cNvPr id="5" name="Image 0" descr="preencoded.png">    </p:cNvPr>
          <p:cNvPicPr>
            <a:picLocks noChangeAspect="1"/>
          </p:cNvPicPr>
          <p:nvPr/>
        </p:nvPicPr>
        <p:blipFill>
          <a:blip r:embed="rId1"/>
          <a:stretch>
            <a:fillRect/>
          </a:stretch>
        </p:blipFill>
        <p:spPr>
          <a:xfrm>
            <a:off x="585216" y="1389888"/>
            <a:ext cx="457200" cy="457200"/>
          </a:xfrm>
          <a:prstGeom prst="rect">
            <a:avLst/>
          </a:prstGeom>
        </p:spPr>
      </p:pic>
      <p:sp>
        <p:nvSpPr>
          <p:cNvPr id="6" name="Text 3"/>
          <p:cNvSpPr txBox="1"/>
          <p:nvPr/>
        </p:nvSpPr>
        <p:spPr>
          <a:xfrm>
            <a:off x="585216" y="1901952"/>
            <a:ext cx="1280160" cy="237744"/>
          </a:xfrm>
          <a:prstGeom prst="rect">
            <a:avLst/>
          </a:prstGeom>
          <a:noFill/>
          <a:ln/>
        </p:spPr>
        <p:txBody>
          <a:bodyPr wrap="square" lIns="0" tIns="0" rIns="0" bIns="0" rtlCol="0" anchor="t"/>
          <a:lstStyle/>
          <a:p>
            <a:pPr indent="0" marL="0">
              <a:buNone/>
            </a:pPr>
            <a:r>
              <a:rPr lang="en-US" sz="1250" b="1" dirty="0">
                <a:solidFill>
                  <a:srgbClr val="F5EEE3"/>
                </a:solidFill>
                <a:latin typeface="Calibri" pitchFamily="34" charset="0"/>
                <a:ea typeface="Calibri" pitchFamily="34" charset="-122"/>
                <a:cs typeface="Calibri" pitchFamily="34" charset="-120"/>
              </a:rPr>
              <a:t>Scope</a:t>
            </a:r>
            <a:endParaRPr lang="en-US" sz="1250" dirty="0"/>
          </a:p>
        </p:txBody>
      </p:sp>
      <p:sp>
        <p:nvSpPr>
          <p:cNvPr id="7" name="Text 4"/>
          <p:cNvSpPr txBox="1"/>
          <p:nvPr/>
        </p:nvSpPr>
        <p:spPr>
          <a:xfrm>
            <a:off x="585216" y="2157984"/>
            <a:ext cx="1280160" cy="502920"/>
          </a:xfrm>
          <a:prstGeom prst="rect">
            <a:avLst/>
          </a:prstGeom>
          <a:noFill/>
          <a:ln/>
        </p:spPr>
        <p:txBody>
          <a:bodyPr wrap="square" lIns="0" tIns="0" rIns="0" bIns="0" rtlCol="0" anchor="t"/>
          <a:lstStyle/>
          <a:p>
            <a:pPr indent="0" marL="0">
              <a:buNone/>
            </a:pPr>
            <a:r>
              <a:rPr lang="en-US" sz="950" dirty="0">
                <a:solidFill>
                  <a:srgbClr val="B5A994"/>
                </a:solidFill>
                <a:latin typeface="Calibri" pitchFamily="34" charset="0"/>
                <a:ea typeface="Calibri" pitchFamily="34" charset="-122"/>
                <a:cs typeface="Calibri" pitchFamily="34" charset="-120"/>
              </a:rPr>
              <a:t>SQL picks only files this person could see</a:t>
            </a:r>
            <a:endParaRPr lang="en-US" sz="950" dirty="0"/>
          </a:p>
        </p:txBody>
      </p:sp>
      <p:sp>
        <p:nvSpPr>
          <p:cNvPr id="8" name="Shape 5"/>
          <p:cNvSpPr/>
          <p:nvPr/>
        </p:nvSpPr>
        <p:spPr>
          <a:xfrm>
            <a:off x="1956816" y="1984248"/>
            <a:ext cx="182880" cy="914"/>
          </a:xfrm>
          <a:prstGeom prst="line">
            <a:avLst/>
          </a:prstGeom>
          <a:noFill/>
          <a:ln w="15875">
            <a:solidFill>
              <a:srgbClr val="F2A93B"/>
            </a:solidFill>
            <a:prstDash val="solid"/>
            <a:tailEnd type="triangle"/>
          </a:ln>
        </p:spPr>
      </p:sp>
      <p:sp>
        <p:nvSpPr>
          <p:cNvPr id="9" name="Shape 6"/>
          <p:cNvSpPr/>
          <p:nvPr/>
        </p:nvSpPr>
        <p:spPr>
          <a:xfrm>
            <a:off x="2139696" y="1280160"/>
            <a:ext cx="1499616" cy="1417320"/>
          </a:xfrm>
          <a:prstGeom prst="roundRect">
            <a:avLst>
              <a:gd name="adj" fmla="val 5161"/>
            </a:avLst>
          </a:prstGeom>
          <a:solidFill>
            <a:srgbClr val="221B14"/>
          </a:solidFill>
          <a:ln w="9525">
            <a:solidFill>
              <a:srgbClr val="4A3C2C"/>
            </a:solidFill>
            <a:prstDash val="solid"/>
          </a:ln>
        </p:spPr>
      </p:sp>
      <p:pic>
        <p:nvPicPr>
          <p:cNvPr id="10" name="Image 1" descr="preencoded.png">    </p:cNvPr>
          <p:cNvPicPr>
            <a:picLocks noChangeAspect="1"/>
          </p:cNvPicPr>
          <p:nvPr/>
        </p:nvPicPr>
        <p:blipFill>
          <a:blip r:embed="rId2"/>
          <a:stretch>
            <a:fillRect/>
          </a:stretch>
        </p:blipFill>
        <p:spPr>
          <a:xfrm>
            <a:off x="2267712" y="1389888"/>
            <a:ext cx="457200" cy="457200"/>
          </a:xfrm>
          <a:prstGeom prst="rect">
            <a:avLst/>
          </a:prstGeom>
        </p:spPr>
      </p:pic>
      <p:sp>
        <p:nvSpPr>
          <p:cNvPr id="11" name="Text 7"/>
          <p:cNvSpPr txBox="1"/>
          <p:nvPr/>
        </p:nvSpPr>
        <p:spPr>
          <a:xfrm>
            <a:off x="2267712" y="1901952"/>
            <a:ext cx="1280160" cy="237744"/>
          </a:xfrm>
          <a:prstGeom prst="rect">
            <a:avLst/>
          </a:prstGeom>
          <a:noFill/>
          <a:ln/>
        </p:spPr>
        <p:txBody>
          <a:bodyPr wrap="square" lIns="0" tIns="0" rIns="0" bIns="0" rtlCol="0" anchor="t"/>
          <a:lstStyle/>
          <a:p>
            <a:pPr indent="0" marL="0">
              <a:buNone/>
            </a:pPr>
            <a:r>
              <a:rPr lang="en-US" sz="1250" b="1" dirty="0">
                <a:solidFill>
                  <a:srgbClr val="F5EEE3"/>
                </a:solidFill>
                <a:latin typeface="Calibri" pitchFamily="34" charset="0"/>
                <a:ea typeface="Calibri" pitchFamily="34" charset="-122"/>
                <a:cs typeface="Calibri" pitchFamily="34" charset="-120"/>
              </a:rPr>
              <a:t>Match</a:t>
            </a:r>
            <a:endParaRPr lang="en-US" sz="1250" dirty="0"/>
          </a:p>
        </p:txBody>
      </p:sp>
      <p:sp>
        <p:nvSpPr>
          <p:cNvPr id="12" name="Text 8"/>
          <p:cNvSpPr txBox="1"/>
          <p:nvPr/>
        </p:nvSpPr>
        <p:spPr>
          <a:xfrm>
            <a:off x="2267712" y="2157984"/>
            <a:ext cx="1280160" cy="502920"/>
          </a:xfrm>
          <a:prstGeom prst="rect">
            <a:avLst/>
          </a:prstGeom>
          <a:noFill/>
          <a:ln/>
        </p:spPr>
        <p:txBody>
          <a:bodyPr wrap="square" lIns="0" tIns="0" rIns="0" bIns="0" rtlCol="0" anchor="t"/>
          <a:lstStyle/>
          <a:p>
            <a:pPr indent="0" marL="0">
              <a:buNone/>
            </a:pPr>
            <a:r>
              <a:rPr lang="en-US" sz="950" dirty="0">
                <a:solidFill>
                  <a:srgbClr val="B5A994"/>
                </a:solidFill>
                <a:latin typeface="Calibri" pitchFamily="34" charset="0"/>
                <a:ea typeface="Calibri" pitchFamily="34" charset="-122"/>
                <a:cs typeface="Calibri" pitchFamily="34" charset="-120"/>
              </a:rPr>
              <a:t>keywords (full-text) plus meaning (vectors)</a:t>
            </a:r>
            <a:endParaRPr lang="en-US" sz="950" dirty="0"/>
          </a:p>
        </p:txBody>
      </p:sp>
      <p:sp>
        <p:nvSpPr>
          <p:cNvPr id="13" name="Shape 9"/>
          <p:cNvSpPr/>
          <p:nvPr/>
        </p:nvSpPr>
        <p:spPr>
          <a:xfrm>
            <a:off x="3639312" y="1984248"/>
            <a:ext cx="182880" cy="914"/>
          </a:xfrm>
          <a:prstGeom prst="line">
            <a:avLst/>
          </a:prstGeom>
          <a:noFill/>
          <a:ln w="15875">
            <a:solidFill>
              <a:srgbClr val="F2A93B"/>
            </a:solidFill>
            <a:prstDash val="solid"/>
            <a:tailEnd type="triangle"/>
          </a:ln>
        </p:spPr>
      </p:sp>
      <p:sp>
        <p:nvSpPr>
          <p:cNvPr id="14" name="Shape 10"/>
          <p:cNvSpPr/>
          <p:nvPr/>
        </p:nvSpPr>
        <p:spPr>
          <a:xfrm>
            <a:off x="3822192" y="1280160"/>
            <a:ext cx="1499616" cy="1417320"/>
          </a:xfrm>
          <a:prstGeom prst="roundRect">
            <a:avLst>
              <a:gd name="adj" fmla="val 5161"/>
            </a:avLst>
          </a:prstGeom>
          <a:solidFill>
            <a:srgbClr val="221B14"/>
          </a:solidFill>
          <a:ln w="9525">
            <a:solidFill>
              <a:srgbClr val="4A3C2C"/>
            </a:solidFill>
            <a:prstDash val="solid"/>
          </a:ln>
        </p:spPr>
      </p:sp>
      <p:pic>
        <p:nvPicPr>
          <p:cNvPr id="15" name="Image 2" descr="preencoded.png">    </p:cNvPr>
          <p:cNvPicPr>
            <a:picLocks noChangeAspect="1"/>
          </p:cNvPicPr>
          <p:nvPr/>
        </p:nvPicPr>
        <p:blipFill>
          <a:blip r:embed="rId3"/>
          <a:stretch>
            <a:fillRect/>
          </a:stretch>
        </p:blipFill>
        <p:spPr>
          <a:xfrm>
            <a:off x="3950208" y="1389888"/>
            <a:ext cx="457200" cy="457200"/>
          </a:xfrm>
          <a:prstGeom prst="rect">
            <a:avLst/>
          </a:prstGeom>
        </p:spPr>
      </p:pic>
      <p:sp>
        <p:nvSpPr>
          <p:cNvPr id="16" name="Text 11"/>
          <p:cNvSpPr txBox="1"/>
          <p:nvPr/>
        </p:nvSpPr>
        <p:spPr>
          <a:xfrm>
            <a:off x="3950208" y="1901952"/>
            <a:ext cx="1280160" cy="237744"/>
          </a:xfrm>
          <a:prstGeom prst="rect">
            <a:avLst/>
          </a:prstGeom>
          <a:noFill/>
          <a:ln/>
        </p:spPr>
        <p:txBody>
          <a:bodyPr wrap="square" lIns="0" tIns="0" rIns="0" bIns="0" rtlCol="0" anchor="t"/>
          <a:lstStyle/>
          <a:p>
            <a:pPr indent="0" marL="0">
              <a:buNone/>
            </a:pPr>
            <a:r>
              <a:rPr lang="en-US" sz="1250" b="1" dirty="0">
                <a:solidFill>
                  <a:srgbClr val="F5EEE3"/>
                </a:solidFill>
                <a:latin typeface="Calibri" pitchFamily="34" charset="0"/>
                <a:ea typeface="Calibri" pitchFamily="34" charset="-122"/>
                <a:cs typeface="Calibri" pitchFamily="34" charset="-120"/>
              </a:rPr>
              <a:t>Fuse</a:t>
            </a:r>
            <a:endParaRPr lang="en-US" sz="1250" dirty="0"/>
          </a:p>
        </p:txBody>
      </p:sp>
      <p:sp>
        <p:nvSpPr>
          <p:cNvPr id="17" name="Text 12"/>
          <p:cNvSpPr txBox="1"/>
          <p:nvPr/>
        </p:nvSpPr>
        <p:spPr>
          <a:xfrm>
            <a:off x="3950208" y="2157984"/>
            <a:ext cx="1280160" cy="502920"/>
          </a:xfrm>
          <a:prstGeom prst="rect">
            <a:avLst/>
          </a:prstGeom>
          <a:noFill/>
          <a:ln/>
        </p:spPr>
        <p:txBody>
          <a:bodyPr wrap="square" lIns="0" tIns="0" rIns="0" bIns="0" rtlCol="0" anchor="t"/>
          <a:lstStyle/>
          <a:p>
            <a:pPr indent="0" marL="0">
              <a:buNone/>
            </a:pPr>
            <a:r>
              <a:rPr lang="en-US" sz="950" dirty="0">
                <a:solidFill>
                  <a:srgbClr val="B5A994"/>
                </a:solidFill>
                <a:latin typeface="Calibri" pitchFamily="34" charset="0"/>
                <a:ea typeface="Calibri" pitchFamily="34" charset="-122"/>
                <a:cs typeface="Calibri" pitchFamily="34" charset="-120"/>
              </a:rPr>
              <a:t>rank fusion, boosted by recent activity</a:t>
            </a:r>
            <a:endParaRPr lang="en-US" sz="950" dirty="0"/>
          </a:p>
        </p:txBody>
      </p:sp>
      <p:sp>
        <p:nvSpPr>
          <p:cNvPr id="18" name="Shape 13"/>
          <p:cNvSpPr/>
          <p:nvPr/>
        </p:nvSpPr>
        <p:spPr>
          <a:xfrm>
            <a:off x="5321808" y="1984248"/>
            <a:ext cx="182880" cy="914"/>
          </a:xfrm>
          <a:prstGeom prst="line">
            <a:avLst/>
          </a:prstGeom>
          <a:noFill/>
          <a:ln w="15875">
            <a:solidFill>
              <a:srgbClr val="F2A93B"/>
            </a:solidFill>
            <a:prstDash val="solid"/>
            <a:tailEnd type="triangle"/>
          </a:ln>
        </p:spPr>
      </p:sp>
      <p:sp>
        <p:nvSpPr>
          <p:cNvPr id="19" name="Shape 14"/>
          <p:cNvSpPr/>
          <p:nvPr/>
        </p:nvSpPr>
        <p:spPr>
          <a:xfrm>
            <a:off x="5504688" y="1280160"/>
            <a:ext cx="1499616" cy="1417320"/>
          </a:xfrm>
          <a:prstGeom prst="roundRect">
            <a:avLst>
              <a:gd name="adj" fmla="val 5161"/>
            </a:avLst>
          </a:prstGeom>
          <a:solidFill>
            <a:srgbClr val="221B14"/>
          </a:solidFill>
          <a:ln w="9525">
            <a:solidFill>
              <a:srgbClr val="4A3C2C"/>
            </a:solidFill>
            <a:prstDash val="solid"/>
          </a:ln>
        </p:spPr>
      </p:sp>
      <p:pic>
        <p:nvPicPr>
          <p:cNvPr id="20" name="Image 3" descr="preencoded.png">    </p:cNvPr>
          <p:cNvPicPr>
            <a:picLocks noChangeAspect="1"/>
          </p:cNvPicPr>
          <p:nvPr/>
        </p:nvPicPr>
        <p:blipFill>
          <a:blip r:embed="rId4"/>
          <a:stretch>
            <a:fillRect/>
          </a:stretch>
        </p:blipFill>
        <p:spPr>
          <a:xfrm>
            <a:off x="5632704" y="1389888"/>
            <a:ext cx="457200" cy="457200"/>
          </a:xfrm>
          <a:prstGeom prst="rect">
            <a:avLst/>
          </a:prstGeom>
        </p:spPr>
      </p:pic>
      <p:sp>
        <p:nvSpPr>
          <p:cNvPr id="21" name="Text 15"/>
          <p:cNvSpPr txBox="1"/>
          <p:nvPr/>
        </p:nvSpPr>
        <p:spPr>
          <a:xfrm>
            <a:off x="5632704" y="1901952"/>
            <a:ext cx="1280160" cy="237744"/>
          </a:xfrm>
          <a:prstGeom prst="rect">
            <a:avLst/>
          </a:prstGeom>
          <a:noFill/>
          <a:ln/>
        </p:spPr>
        <p:txBody>
          <a:bodyPr wrap="square" lIns="0" tIns="0" rIns="0" bIns="0" rtlCol="0" anchor="t"/>
          <a:lstStyle/>
          <a:p>
            <a:pPr indent="0" marL="0">
              <a:buNone/>
            </a:pPr>
            <a:r>
              <a:rPr lang="en-US" sz="1250" b="1" dirty="0">
                <a:solidFill>
                  <a:srgbClr val="F5EEE3"/>
                </a:solidFill>
                <a:latin typeface="Calibri" pitchFamily="34" charset="0"/>
                <a:ea typeface="Calibri" pitchFamily="34" charset="-122"/>
                <a:cs typeface="Calibri" pitchFamily="34" charset="-120"/>
              </a:rPr>
              <a:t>Gate</a:t>
            </a:r>
            <a:endParaRPr lang="en-US" sz="1250" dirty="0"/>
          </a:p>
        </p:txBody>
      </p:sp>
      <p:sp>
        <p:nvSpPr>
          <p:cNvPr id="22" name="Text 16"/>
          <p:cNvSpPr txBox="1"/>
          <p:nvPr/>
        </p:nvSpPr>
        <p:spPr>
          <a:xfrm>
            <a:off x="5632704" y="2157984"/>
            <a:ext cx="1280160" cy="502920"/>
          </a:xfrm>
          <a:prstGeom prst="rect">
            <a:avLst/>
          </a:prstGeom>
          <a:noFill/>
          <a:ln/>
        </p:spPr>
        <p:txBody>
          <a:bodyPr wrap="square" lIns="0" tIns="0" rIns="0" bIns="0" rtlCol="0" anchor="t"/>
          <a:lstStyle/>
          <a:p>
            <a:pPr indent="0" marL="0">
              <a:buNone/>
            </a:pPr>
            <a:r>
              <a:rPr lang="en-US" sz="950" dirty="0">
                <a:solidFill>
                  <a:srgbClr val="B5A994"/>
                </a:solidFill>
                <a:latin typeface="Calibri" pitchFamily="34" charset="0"/>
                <a:ea typeface="Calibri" pitchFamily="34" charset="-122"/>
                <a:cs typeface="Calibri" pitchFamily="34" charset="-120"/>
              </a:rPr>
              <a:t>policy re-checks every single result</a:t>
            </a:r>
            <a:endParaRPr lang="en-US" sz="950" dirty="0"/>
          </a:p>
        </p:txBody>
      </p:sp>
      <p:sp>
        <p:nvSpPr>
          <p:cNvPr id="23" name="Shape 17"/>
          <p:cNvSpPr/>
          <p:nvPr/>
        </p:nvSpPr>
        <p:spPr>
          <a:xfrm>
            <a:off x="7004304" y="1984248"/>
            <a:ext cx="182880" cy="914"/>
          </a:xfrm>
          <a:prstGeom prst="line">
            <a:avLst/>
          </a:prstGeom>
          <a:noFill/>
          <a:ln w="15875">
            <a:solidFill>
              <a:srgbClr val="F2A93B"/>
            </a:solidFill>
            <a:prstDash val="solid"/>
            <a:tailEnd type="triangle"/>
          </a:ln>
        </p:spPr>
      </p:sp>
      <p:sp>
        <p:nvSpPr>
          <p:cNvPr id="24" name="Shape 18"/>
          <p:cNvSpPr/>
          <p:nvPr/>
        </p:nvSpPr>
        <p:spPr>
          <a:xfrm>
            <a:off x="7187184" y="1280160"/>
            <a:ext cx="1499616" cy="1417320"/>
          </a:xfrm>
          <a:prstGeom prst="roundRect">
            <a:avLst>
              <a:gd name="adj" fmla="val 5161"/>
            </a:avLst>
          </a:prstGeom>
          <a:solidFill>
            <a:srgbClr val="221B14"/>
          </a:solidFill>
          <a:ln w="9525">
            <a:solidFill>
              <a:srgbClr val="4A3C2C"/>
            </a:solidFill>
            <a:prstDash val="solid"/>
          </a:ln>
        </p:spPr>
      </p:sp>
      <p:pic>
        <p:nvPicPr>
          <p:cNvPr id="25" name="Image 4" descr="preencoded.png">    </p:cNvPr>
          <p:cNvPicPr>
            <a:picLocks noChangeAspect="1"/>
          </p:cNvPicPr>
          <p:nvPr/>
        </p:nvPicPr>
        <p:blipFill>
          <a:blip r:embed="rId5"/>
          <a:stretch>
            <a:fillRect/>
          </a:stretch>
        </p:blipFill>
        <p:spPr>
          <a:xfrm>
            <a:off x="7315200" y="1389888"/>
            <a:ext cx="457200" cy="457200"/>
          </a:xfrm>
          <a:prstGeom prst="rect">
            <a:avLst/>
          </a:prstGeom>
        </p:spPr>
      </p:pic>
      <p:sp>
        <p:nvSpPr>
          <p:cNvPr id="26" name="Text 19"/>
          <p:cNvSpPr txBox="1"/>
          <p:nvPr/>
        </p:nvSpPr>
        <p:spPr>
          <a:xfrm>
            <a:off x="7315200" y="1901952"/>
            <a:ext cx="1280160" cy="237744"/>
          </a:xfrm>
          <a:prstGeom prst="rect">
            <a:avLst/>
          </a:prstGeom>
          <a:noFill/>
          <a:ln/>
        </p:spPr>
        <p:txBody>
          <a:bodyPr wrap="square" lIns="0" tIns="0" rIns="0" bIns="0" rtlCol="0" anchor="t"/>
          <a:lstStyle/>
          <a:p>
            <a:pPr indent="0" marL="0">
              <a:buNone/>
            </a:pPr>
            <a:r>
              <a:rPr lang="en-US" sz="1250" b="1" dirty="0">
                <a:solidFill>
                  <a:srgbClr val="F5EEE3"/>
                </a:solidFill>
                <a:latin typeface="Calibri" pitchFamily="34" charset="0"/>
                <a:ea typeface="Calibri" pitchFamily="34" charset="-122"/>
                <a:cs typeface="Calibri" pitchFamily="34" charset="-120"/>
              </a:rPr>
              <a:t>Explain</a:t>
            </a:r>
            <a:endParaRPr lang="en-US" sz="1250" dirty="0"/>
          </a:p>
        </p:txBody>
      </p:sp>
      <p:sp>
        <p:nvSpPr>
          <p:cNvPr id="27" name="Text 20"/>
          <p:cNvSpPr txBox="1"/>
          <p:nvPr/>
        </p:nvSpPr>
        <p:spPr>
          <a:xfrm>
            <a:off x="7315200" y="2157984"/>
            <a:ext cx="1280160" cy="502920"/>
          </a:xfrm>
          <a:prstGeom prst="rect">
            <a:avLst/>
          </a:prstGeom>
          <a:noFill/>
          <a:ln/>
        </p:spPr>
        <p:txBody>
          <a:bodyPr wrap="square" lIns="0" tIns="0" rIns="0" bIns="0" rtlCol="0" anchor="t"/>
          <a:lstStyle/>
          <a:p>
            <a:pPr indent="0" marL="0">
              <a:buNone/>
            </a:pPr>
            <a:r>
              <a:rPr lang="en-US" sz="950" dirty="0">
                <a:solidFill>
                  <a:srgbClr val="B5A994"/>
                </a:solidFill>
                <a:latin typeface="Calibri" pitchFamily="34" charset="0"/>
                <a:ea typeface="Calibri" pitchFamily="34" charset="-122"/>
                <a:cs typeface="Calibri" pitchFamily="34" charset="-120"/>
              </a:rPr>
              <a:t>why it matched and why you can see it</a:t>
            </a:r>
            <a:endParaRPr lang="en-US" sz="950" dirty="0"/>
          </a:p>
        </p:txBody>
      </p:sp>
      <p:sp>
        <p:nvSpPr>
          <p:cNvPr id="28" name="Text 21"/>
          <p:cNvSpPr txBox="1"/>
          <p:nvPr/>
        </p:nvSpPr>
        <p:spPr>
          <a:xfrm>
            <a:off x="457200" y="2971800"/>
            <a:ext cx="2697480" cy="731520"/>
          </a:xfrm>
          <a:prstGeom prst="rect">
            <a:avLst/>
          </a:prstGeom>
          <a:noFill/>
          <a:ln/>
        </p:spPr>
        <p:txBody>
          <a:bodyPr wrap="square" lIns="0" tIns="0" rIns="0" bIns="0" rtlCol="0" anchor="t"/>
          <a:lstStyle/>
          <a:p>
            <a:pPr indent="0" marL="0">
              <a:buNone/>
            </a:pPr>
            <a:r>
              <a:rPr lang="en-US" sz="4000" b="1" dirty="0">
                <a:solidFill>
                  <a:srgbClr val="F2A93B"/>
                </a:solidFill>
                <a:latin typeface="Cambria" pitchFamily="34" charset="0"/>
                <a:ea typeface="Cambria" pitchFamily="34" charset="-122"/>
                <a:cs typeface="Cambria" pitchFamily="34" charset="-120"/>
              </a:rPr>
              <a:t>1M</a:t>
            </a:r>
            <a:endParaRPr lang="en-US" sz="4000" dirty="0"/>
          </a:p>
        </p:txBody>
      </p:sp>
      <p:sp>
        <p:nvSpPr>
          <p:cNvPr id="29" name="Text 22"/>
          <p:cNvSpPr txBox="1"/>
          <p:nvPr/>
        </p:nvSpPr>
        <p:spPr>
          <a:xfrm>
            <a:off x="457200" y="3703320"/>
            <a:ext cx="2560320" cy="411480"/>
          </a:xfrm>
          <a:prstGeom prst="rect">
            <a:avLst/>
          </a:prstGeom>
          <a:noFill/>
          <a:ln/>
        </p:spPr>
        <p:txBody>
          <a:bodyPr wrap="square" lIns="0" tIns="0" rIns="0" bIns="0" rtlCol="0" anchor="t"/>
          <a:lstStyle/>
          <a:p>
            <a:pPr indent="0" marL="0">
              <a:buNone/>
            </a:pPr>
            <a:r>
              <a:rPr lang="en-US" sz="1150" dirty="0">
                <a:solidFill>
                  <a:srgbClr val="F5EEE3"/>
                </a:solidFill>
                <a:latin typeface="Calibri" pitchFamily="34" charset="0"/>
                <a:ea typeface="Calibri" pitchFamily="34" charset="-122"/>
                <a:cs typeface="Calibri" pitchFamily="34" charset="-120"/>
              </a:rPr>
              <a:t>file versions in the vector search benchmark</a:t>
            </a:r>
            <a:endParaRPr lang="en-US" sz="1150" dirty="0"/>
          </a:p>
        </p:txBody>
      </p:sp>
      <p:sp>
        <p:nvSpPr>
          <p:cNvPr id="30" name="Text 23"/>
          <p:cNvSpPr txBox="1"/>
          <p:nvPr/>
        </p:nvSpPr>
        <p:spPr>
          <a:xfrm>
            <a:off x="3264408" y="2971800"/>
            <a:ext cx="2697480" cy="731520"/>
          </a:xfrm>
          <a:prstGeom prst="rect">
            <a:avLst/>
          </a:prstGeom>
          <a:noFill/>
          <a:ln/>
        </p:spPr>
        <p:txBody>
          <a:bodyPr wrap="square" lIns="0" tIns="0" rIns="0" bIns="0" rtlCol="0" anchor="t"/>
          <a:lstStyle/>
          <a:p>
            <a:pPr indent="0" marL="0">
              <a:buNone/>
            </a:pPr>
            <a:r>
              <a:rPr lang="en-US" sz="4000" b="1" dirty="0">
                <a:solidFill>
                  <a:srgbClr val="F2A93B"/>
                </a:solidFill>
                <a:latin typeface="Cambria" pitchFamily="34" charset="0"/>
                <a:ea typeface="Cambria" pitchFamily="34" charset="-122"/>
                <a:cs typeface="Cambria" pitchFamily="34" charset="-120"/>
              </a:rPr>
              <a:t>312 ms</a:t>
            </a:r>
            <a:endParaRPr lang="en-US" sz="4000" dirty="0"/>
          </a:p>
        </p:txBody>
      </p:sp>
      <p:sp>
        <p:nvSpPr>
          <p:cNvPr id="31" name="Text 24"/>
          <p:cNvSpPr txBox="1"/>
          <p:nvPr/>
        </p:nvSpPr>
        <p:spPr>
          <a:xfrm>
            <a:off x="3264408" y="3703320"/>
            <a:ext cx="2560320" cy="411480"/>
          </a:xfrm>
          <a:prstGeom prst="rect">
            <a:avLst/>
          </a:prstGeom>
          <a:noFill/>
          <a:ln/>
        </p:spPr>
        <p:txBody>
          <a:bodyPr wrap="square" lIns="0" tIns="0" rIns="0" bIns="0" rtlCol="0" anchor="t"/>
          <a:lstStyle/>
          <a:p>
            <a:pPr indent="0" marL="0">
              <a:buNone/>
            </a:pPr>
            <a:r>
              <a:rPr lang="en-US" sz="1150" dirty="0">
                <a:solidFill>
                  <a:srgbClr val="F5EEE3"/>
                </a:solidFill>
                <a:latin typeface="Calibri" pitchFamily="34" charset="0"/>
                <a:ea typeface="Calibri" pitchFamily="34" charset="-122"/>
                <a:cs typeface="Calibri" pitchFamily="34" charset="-120"/>
              </a:rPr>
              <a:t>worst-case p95 query time at 1M</a:t>
            </a:r>
            <a:endParaRPr lang="en-US" sz="1150" dirty="0"/>
          </a:p>
        </p:txBody>
      </p:sp>
      <p:sp>
        <p:nvSpPr>
          <p:cNvPr id="32" name="Text 25"/>
          <p:cNvSpPr txBox="1"/>
          <p:nvPr/>
        </p:nvSpPr>
        <p:spPr>
          <a:xfrm>
            <a:off x="6071616" y="2971800"/>
            <a:ext cx="2697480" cy="731520"/>
          </a:xfrm>
          <a:prstGeom prst="rect">
            <a:avLst/>
          </a:prstGeom>
          <a:noFill/>
          <a:ln/>
        </p:spPr>
        <p:txBody>
          <a:bodyPr wrap="square" lIns="0" tIns="0" rIns="0" bIns="0" rtlCol="0" anchor="t"/>
          <a:lstStyle/>
          <a:p>
            <a:pPr indent="0" marL="0">
              <a:buNone/>
            </a:pPr>
            <a:r>
              <a:rPr lang="en-US" sz="4000" b="1" dirty="0">
                <a:solidFill>
                  <a:srgbClr val="F2A93B"/>
                </a:solidFill>
                <a:latin typeface="Cambria" pitchFamily="34" charset="0"/>
                <a:ea typeface="Cambria" pitchFamily="34" charset="-122"/>
                <a:cs typeface="Cambria" pitchFamily="34" charset="-120"/>
              </a:rPr>
              <a:t>0</a:t>
            </a:r>
            <a:endParaRPr lang="en-US" sz="4000" dirty="0"/>
          </a:p>
        </p:txBody>
      </p:sp>
      <p:sp>
        <p:nvSpPr>
          <p:cNvPr id="33" name="Text 26"/>
          <p:cNvSpPr txBox="1"/>
          <p:nvPr/>
        </p:nvSpPr>
        <p:spPr>
          <a:xfrm>
            <a:off x="6071616" y="3703320"/>
            <a:ext cx="2560320" cy="411480"/>
          </a:xfrm>
          <a:prstGeom prst="rect">
            <a:avLst/>
          </a:prstGeom>
          <a:noFill/>
          <a:ln/>
        </p:spPr>
        <p:txBody>
          <a:bodyPr wrap="square" lIns="0" tIns="0" rIns="0" bIns="0" rtlCol="0" anchor="t"/>
          <a:lstStyle/>
          <a:p>
            <a:pPr indent="0" marL="0">
              <a:buNone/>
            </a:pPr>
            <a:r>
              <a:rPr lang="en-US" sz="1150" dirty="0">
                <a:solidFill>
                  <a:srgbClr val="F5EEE3"/>
                </a:solidFill>
                <a:latin typeface="Calibri" pitchFamily="34" charset="0"/>
                <a:ea typeface="Calibri" pitchFamily="34" charset="-122"/>
                <a:cs typeface="Calibri" pitchFamily="34" charset="-120"/>
              </a:rPr>
              <a:t>LLM tokens spent per search</a:t>
            </a:r>
            <a:endParaRPr lang="en-US" sz="1150" dirty="0"/>
          </a:p>
        </p:txBody>
      </p:sp>
      <p:sp>
        <p:nvSpPr>
          <p:cNvPr id="34" name="Text 27"/>
          <p:cNvSpPr txBox="1"/>
          <p:nvPr/>
        </p:nvSpPr>
        <p:spPr>
          <a:xfrm>
            <a:off x="457200" y="4315968"/>
            <a:ext cx="8229600" cy="228600"/>
          </a:xfrm>
          <a:prstGeom prst="rect">
            <a:avLst/>
          </a:prstGeom>
          <a:noFill/>
          <a:ln/>
        </p:spPr>
        <p:txBody>
          <a:bodyPr wrap="square" lIns="0" tIns="0" rIns="0" bIns="0" rtlCol="0" anchor="t"/>
          <a:lstStyle/>
          <a:p>
            <a:pPr indent="0" marL="0">
              <a:buNone/>
            </a:pPr>
            <a:r>
              <a:rPr lang="en-US" sz="950" i="1" dirty="0">
                <a:solidFill>
                  <a:srgbClr val="B5A994"/>
                </a:solidFill>
                <a:latin typeface="Calibri" pitchFamily="34" charset="0"/>
                <a:ea typeface="Calibri" pitchFamily="34" charset="-122"/>
                <a:cs typeface="Calibri" pitchFamily="34" charset="-120"/>
              </a:rPr>
              <a:t>Benchmark: PostgreSQL 18.3 with pgvector 0.8.1. Query embeddings run locally by default.</a:t>
            </a:r>
            <a:endParaRPr lang="en-US" sz="950" dirty="0"/>
          </a:p>
        </p:txBody>
      </p:sp>
      <p:pic>
        <p:nvPicPr>
          <p:cNvPr id="35" name="Image 5" descr="preencoded.png">    </p:cNvPr>
          <p:cNvPicPr>
            <a:picLocks noChangeAspect="1"/>
          </p:cNvPicPr>
          <p:nvPr/>
        </p:nvPicPr>
        <p:blipFill>
          <a:blip r:embed="rId6"/>
          <a:stretch>
            <a:fillRect/>
          </a:stretch>
        </p:blipFill>
        <p:spPr>
          <a:xfrm>
            <a:off x="457200" y="4754880"/>
            <a:ext cx="182880" cy="182880"/>
          </a:xfrm>
          <a:prstGeom prst="rect">
            <a:avLst/>
          </a:prstGeom>
        </p:spPr>
      </p:pic>
      <p:sp>
        <p:nvSpPr>
          <p:cNvPr id="36" name="Text 28"/>
          <p:cNvSpPr txBox="1"/>
          <p:nvPr/>
        </p:nvSpPr>
        <p:spPr>
          <a:xfrm>
            <a:off x="694944" y="4754880"/>
            <a:ext cx="1828800" cy="182880"/>
          </a:xfrm>
          <a:prstGeom prst="rect">
            <a:avLst/>
          </a:prstGeom>
          <a:noFill/>
          <a:ln/>
        </p:spPr>
        <p:txBody>
          <a:bodyPr wrap="square" lIns="0" tIns="0" rIns="0" bIns="0" rtlCol="0" anchor="ctr"/>
          <a:lstStyle/>
          <a:p>
            <a:pPr indent="0" marL="0">
              <a:buNone/>
            </a:pPr>
            <a:r>
              <a:rPr lang="en-US" sz="900" dirty="0">
                <a:solidFill>
                  <a:srgbClr val="B5A994"/>
                </a:solidFill>
                <a:latin typeface="Calibri" pitchFamily="34" charset="0"/>
                <a:ea typeface="Calibri" pitchFamily="34" charset="-122"/>
                <a:cs typeface="Calibri" pitchFamily="34" charset="-120"/>
              </a:rPr>
              <a:t>OpenHoard</a:t>
            </a:r>
            <a:endParaRPr lang="en-US" sz="900" dirty="0"/>
          </a:p>
        </p:txBody>
      </p:sp>
      <p:sp>
        <p:nvSpPr>
          <p:cNvPr id="37" name="Text 29"/>
          <p:cNvSpPr txBox="1"/>
          <p:nvPr/>
        </p:nvSpPr>
        <p:spPr>
          <a:xfrm>
            <a:off x="7772400" y="4754880"/>
            <a:ext cx="914400" cy="182880"/>
          </a:xfrm>
          <a:prstGeom prst="rect">
            <a:avLst/>
          </a:prstGeom>
          <a:noFill/>
          <a:ln/>
        </p:spPr>
        <p:txBody>
          <a:bodyPr wrap="square" lIns="0" tIns="0" rIns="0" bIns="0" rtlCol="0" anchor="ctr"/>
          <a:lstStyle/>
          <a:p>
            <a:pPr algn="r" indent="0" marL="0">
              <a:buNone/>
            </a:pPr>
            <a:r>
              <a:rPr lang="en-US" sz="900" dirty="0">
                <a:solidFill>
                  <a:srgbClr val="B5A99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110D"/>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indent="0" marL="0">
              <a:buNone/>
            </a:pPr>
            <a:r>
              <a:rPr lang="en-US" sz="1000" b="1" spc="400" kern="0" dirty="0">
                <a:solidFill>
                  <a:srgbClr val="F2A93B"/>
                </a:solidFill>
                <a:latin typeface="Calibri" pitchFamily="34" charset="0"/>
                <a:ea typeface="Calibri" pitchFamily="34" charset="-122"/>
                <a:cs typeface="Calibri" pitchFamily="34" charset="-120"/>
              </a:rPr>
              <a:t>SECURITY</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800" b="1" dirty="0">
                <a:solidFill>
                  <a:srgbClr val="F5EEE3"/>
                </a:solidFill>
                <a:latin typeface="Cambria" pitchFamily="34" charset="0"/>
                <a:ea typeface="Cambria" pitchFamily="34" charset="-122"/>
                <a:cs typeface="Cambria" pitchFamily="34" charset="-120"/>
              </a:rPr>
              <a:t>Built to survive the security review</a:t>
            </a:r>
            <a:endParaRPr lang="en-US" sz="2800" dirty="0"/>
          </a:p>
        </p:txBody>
      </p:sp>
      <p:sp>
        <p:nvSpPr>
          <p:cNvPr id="4" name="Shape 2"/>
          <p:cNvSpPr/>
          <p:nvPr/>
        </p:nvSpPr>
        <p:spPr>
          <a:xfrm>
            <a:off x="457200" y="1280160"/>
            <a:ext cx="1965960" cy="1527048"/>
          </a:xfrm>
          <a:prstGeom prst="roundRect">
            <a:avLst>
              <a:gd name="adj" fmla="val 4790"/>
            </a:avLst>
          </a:prstGeom>
          <a:solidFill>
            <a:srgbClr val="221B14"/>
          </a:solidFill>
          <a:ln w="9525">
            <a:solidFill>
              <a:srgbClr val="4A3C2C"/>
            </a:solidFill>
            <a:prstDash val="solid"/>
          </a:ln>
        </p:spPr>
      </p:sp>
      <p:pic>
        <p:nvPicPr>
          <p:cNvPr id="5" name="Image 0" descr="preencoded.png">    </p:cNvPr>
          <p:cNvPicPr>
            <a:picLocks noChangeAspect="1"/>
          </p:cNvPicPr>
          <p:nvPr/>
        </p:nvPicPr>
        <p:blipFill>
          <a:blip r:embed="rId1"/>
          <a:stretch>
            <a:fillRect/>
          </a:stretch>
        </p:blipFill>
        <p:spPr>
          <a:xfrm>
            <a:off x="585216" y="1408176"/>
            <a:ext cx="457200" cy="457200"/>
          </a:xfrm>
          <a:prstGeom prst="rect">
            <a:avLst/>
          </a:prstGeom>
        </p:spPr>
      </p:pic>
      <p:sp>
        <p:nvSpPr>
          <p:cNvPr id="6" name="Text 3"/>
          <p:cNvSpPr txBox="1"/>
          <p:nvPr/>
        </p:nvSpPr>
        <p:spPr>
          <a:xfrm>
            <a:off x="585216" y="1938528"/>
            <a:ext cx="1737360" cy="237744"/>
          </a:xfrm>
          <a:prstGeom prst="rect">
            <a:avLst/>
          </a:prstGeom>
          <a:noFill/>
          <a:ln/>
        </p:spPr>
        <p:txBody>
          <a:bodyPr wrap="square" lIns="0" tIns="0" rIns="0" bIns="0" rtlCol="0" anchor="t"/>
          <a:lstStyle/>
          <a:p>
            <a:pPr indent="0" marL="0">
              <a:buNone/>
            </a:pPr>
            <a:r>
              <a:rPr lang="en-US" sz="1200" b="1" dirty="0">
                <a:solidFill>
                  <a:srgbClr val="F5EEE3"/>
                </a:solidFill>
                <a:latin typeface="Calibri" pitchFamily="34" charset="0"/>
                <a:ea typeface="Calibri" pitchFamily="34" charset="-122"/>
                <a:cs typeface="Calibri" pitchFamily="34" charset="-120"/>
              </a:rPr>
              <a:t>Tenant isolation</a:t>
            </a:r>
            <a:endParaRPr lang="en-US" sz="1200" dirty="0"/>
          </a:p>
        </p:txBody>
      </p:sp>
      <p:sp>
        <p:nvSpPr>
          <p:cNvPr id="7" name="Text 4"/>
          <p:cNvSpPr txBox="1"/>
          <p:nvPr/>
        </p:nvSpPr>
        <p:spPr>
          <a:xfrm>
            <a:off x="585216" y="2194560"/>
            <a:ext cx="1737360" cy="566928"/>
          </a:xfrm>
          <a:prstGeom prst="rect">
            <a:avLst/>
          </a:prstGeom>
          <a:noFill/>
          <a:ln/>
        </p:spPr>
        <p:txBody>
          <a:bodyPr wrap="square" lIns="0" tIns="0" rIns="0" bIns="0" rtlCol="0" anchor="t"/>
          <a:lstStyle/>
          <a:p>
            <a:pPr indent="0" marL="0">
              <a:buNone/>
            </a:pPr>
            <a:r>
              <a:rPr lang="en-US" sz="950" dirty="0">
                <a:solidFill>
                  <a:srgbClr val="B5A994"/>
                </a:solidFill>
                <a:latin typeface="Calibri" pitchFamily="34" charset="0"/>
                <a:ea typeface="Calibri" pitchFamily="34" charset="-122"/>
                <a:cs typeface="Calibri" pitchFamily="34" charset="-120"/>
              </a:rPr>
              <a:t>Postgres row-level security, forced even for the app's own account.</a:t>
            </a:r>
            <a:endParaRPr lang="en-US" sz="950" dirty="0"/>
          </a:p>
        </p:txBody>
      </p:sp>
      <p:sp>
        <p:nvSpPr>
          <p:cNvPr id="8" name="Shape 5"/>
          <p:cNvSpPr/>
          <p:nvPr/>
        </p:nvSpPr>
        <p:spPr>
          <a:xfrm>
            <a:off x="2560320" y="1280160"/>
            <a:ext cx="1965960" cy="1527048"/>
          </a:xfrm>
          <a:prstGeom prst="roundRect">
            <a:avLst>
              <a:gd name="adj" fmla="val 4790"/>
            </a:avLst>
          </a:prstGeom>
          <a:solidFill>
            <a:srgbClr val="221B14"/>
          </a:solidFill>
          <a:ln w="9525">
            <a:solidFill>
              <a:srgbClr val="4A3C2C"/>
            </a:solidFill>
            <a:prstDash val="solid"/>
          </a:ln>
        </p:spPr>
      </p:sp>
      <p:pic>
        <p:nvPicPr>
          <p:cNvPr id="9" name="Image 1" descr="preencoded.png">    </p:cNvPr>
          <p:cNvPicPr>
            <a:picLocks noChangeAspect="1"/>
          </p:cNvPicPr>
          <p:nvPr/>
        </p:nvPicPr>
        <p:blipFill>
          <a:blip r:embed="rId2"/>
          <a:stretch>
            <a:fillRect/>
          </a:stretch>
        </p:blipFill>
        <p:spPr>
          <a:xfrm>
            <a:off x="2688336" y="1408176"/>
            <a:ext cx="457200" cy="457200"/>
          </a:xfrm>
          <a:prstGeom prst="rect">
            <a:avLst/>
          </a:prstGeom>
        </p:spPr>
      </p:pic>
      <p:sp>
        <p:nvSpPr>
          <p:cNvPr id="10" name="Text 6"/>
          <p:cNvSpPr txBox="1"/>
          <p:nvPr/>
        </p:nvSpPr>
        <p:spPr>
          <a:xfrm>
            <a:off x="2688336" y="1938528"/>
            <a:ext cx="1737360" cy="237744"/>
          </a:xfrm>
          <a:prstGeom prst="rect">
            <a:avLst/>
          </a:prstGeom>
          <a:noFill/>
          <a:ln/>
        </p:spPr>
        <p:txBody>
          <a:bodyPr wrap="square" lIns="0" tIns="0" rIns="0" bIns="0" rtlCol="0" anchor="t"/>
          <a:lstStyle/>
          <a:p>
            <a:pPr indent="0" marL="0">
              <a:buNone/>
            </a:pPr>
            <a:r>
              <a:rPr lang="en-US" sz="1200" b="1" dirty="0">
                <a:solidFill>
                  <a:srgbClr val="F5EEE3"/>
                </a:solidFill>
                <a:latin typeface="Calibri" pitchFamily="34" charset="0"/>
                <a:ea typeface="Calibri" pitchFamily="34" charset="-122"/>
                <a:cs typeface="Calibri" pitchFamily="34" charset="-120"/>
              </a:rPr>
              <a:t>Fail-closed policy</a:t>
            </a:r>
            <a:endParaRPr lang="en-US" sz="1200" dirty="0"/>
          </a:p>
        </p:txBody>
      </p:sp>
      <p:sp>
        <p:nvSpPr>
          <p:cNvPr id="11" name="Text 7"/>
          <p:cNvSpPr txBox="1"/>
          <p:nvPr/>
        </p:nvSpPr>
        <p:spPr>
          <a:xfrm>
            <a:off x="2688336" y="2194560"/>
            <a:ext cx="1737360" cy="566928"/>
          </a:xfrm>
          <a:prstGeom prst="rect">
            <a:avLst/>
          </a:prstGeom>
          <a:noFill/>
          <a:ln/>
        </p:spPr>
        <p:txBody>
          <a:bodyPr wrap="square" lIns="0" tIns="0" rIns="0" bIns="0" rtlCol="0" anchor="t"/>
          <a:lstStyle/>
          <a:p>
            <a:pPr indent="0" marL="0">
              <a:buNone/>
            </a:pPr>
            <a:r>
              <a:rPr lang="en-US" sz="950" dirty="0">
                <a:solidFill>
                  <a:srgbClr val="B5A994"/>
                </a:solidFill>
                <a:latin typeface="Calibri" pitchFamily="34" charset="0"/>
                <a:ea typeface="Calibri" pitchFamily="34" charset="-122"/>
                <a:cs typeface="Calibri" pitchFamily="34" charset="-120"/>
              </a:rPr>
              <a:t>Cedar policy engine. Any error or ambiguity means deny.</a:t>
            </a:r>
            <a:endParaRPr lang="en-US" sz="950" dirty="0"/>
          </a:p>
        </p:txBody>
      </p:sp>
      <p:sp>
        <p:nvSpPr>
          <p:cNvPr id="12" name="Shape 8"/>
          <p:cNvSpPr/>
          <p:nvPr/>
        </p:nvSpPr>
        <p:spPr>
          <a:xfrm>
            <a:off x="4663440" y="1280160"/>
            <a:ext cx="1965960" cy="1527048"/>
          </a:xfrm>
          <a:prstGeom prst="roundRect">
            <a:avLst>
              <a:gd name="adj" fmla="val 4790"/>
            </a:avLst>
          </a:prstGeom>
          <a:solidFill>
            <a:srgbClr val="221B14"/>
          </a:solidFill>
          <a:ln w="9525">
            <a:solidFill>
              <a:srgbClr val="4A3C2C"/>
            </a:solidFill>
            <a:prstDash val="solid"/>
          </a:ln>
        </p:spPr>
      </p:sp>
      <p:pic>
        <p:nvPicPr>
          <p:cNvPr id="13" name="Image 2" descr="preencoded.png">    </p:cNvPr>
          <p:cNvPicPr>
            <a:picLocks noChangeAspect="1"/>
          </p:cNvPicPr>
          <p:nvPr/>
        </p:nvPicPr>
        <p:blipFill>
          <a:blip r:embed="rId3"/>
          <a:stretch>
            <a:fillRect/>
          </a:stretch>
        </p:blipFill>
        <p:spPr>
          <a:xfrm>
            <a:off x="4791456" y="1408176"/>
            <a:ext cx="457200" cy="457200"/>
          </a:xfrm>
          <a:prstGeom prst="rect">
            <a:avLst/>
          </a:prstGeom>
        </p:spPr>
      </p:pic>
      <p:sp>
        <p:nvSpPr>
          <p:cNvPr id="14" name="Text 9"/>
          <p:cNvSpPr txBox="1"/>
          <p:nvPr/>
        </p:nvSpPr>
        <p:spPr>
          <a:xfrm>
            <a:off x="4791456" y="1938528"/>
            <a:ext cx="1737360" cy="237744"/>
          </a:xfrm>
          <a:prstGeom prst="rect">
            <a:avLst/>
          </a:prstGeom>
          <a:noFill/>
          <a:ln/>
        </p:spPr>
        <p:txBody>
          <a:bodyPr wrap="square" lIns="0" tIns="0" rIns="0" bIns="0" rtlCol="0" anchor="t"/>
          <a:lstStyle/>
          <a:p>
            <a:pPr indent="0" marL="0">
              <a:buNone/>
            </a:pPr>
            <a:r>
              <a:rPr lang="en-US" sz="1200" b="1" dirty="0">
                <a:solidFill>
                  <a:srgbClr val="F5EEE3"/>
                </a:solidFill>
                <a:latin typeface="Calibri" pitchFamily="34" charset="0"/>
                <a:ea typeface="Calibri" pitchFamily="34" charset="-122"/>
                <a:cs typeface="Calibri" pitchFamily="34" charset="-120"/>
              </a:rPr>
              <a:t>Instant offboarding</a:t>
            </a:r>
            <a:endParaRPr lang="en-US" sz="1200" dirty="0"/>
          </a:p>
        </p:txBody>
      </p:sp>
      <p:sp>
        <p:nvSpPr>
          <p:cNvPr id="15" name="Text 10"/>
          <p:cNvSpPr txBox="1"/>
          <p:nvPr/>
        </p:nvSpPr>
        <p:spPr>
          <a:xfrm>
            <a:off x="4791456" y="2194560"/>
            <a:ext cx="1737360" cy="566928"/>
          </a:xfrm>
          <a:prstGeom prst="rect">
            <a:avLst/>
          </a:prstGeom>
          <a:noFill/>
          <a:ln/>
        </p:spPr>
        <p:txBody>
          <a:bodyPr wrap="square" lIns="0" tIns="0" rIns="0" bIns="0" rtlCol="0" anchor="t"/>
          <a:lstStyle/>
          <a:p>
            <a:pPr indent="0" marL="0">
              <a:buNone/>
            </a:pPr>
            <a:r>
              <a:rPr lang="en-US" sz="950" dirty="0">
                <a:solidFill>
                  <a:srgbClr val="B5A994"/>
                </a:solidFill>
                <a:latin typeface="Calibri" pitchFamily="34" charset="0"/>
                <a:ea typeface="Calibri" pitchFamily="34" charset="-122"/>
                <a:cs typeface="Calibri" pitchFamily="34" charset="-120"/>
              </a:rPr>
              <a:t>Disable in Entra and the next request is refused (measured 3–60 ms).</a:t>
            </a:r>
            <a:endParaRPr lang="en-US" sz="950" dirty="0"/>
          </a:p>
        </p:txBody>
      </p:sp>
      <p:sp>
        <p:nvSpPr>
          <p:cNvPr id="16" name="Shape 11"/>
          <p:cNvSpPr/>
          <p:nvPr/>
        </p:nvSpPr>
        <p:spPr>
          <a:xfrm>
            <a:off x="6766560" y="1280160"/>
            <a:ext cx="1965960" cy="1527048"/>
          </a:xfrm>
          <a:prstGeom prst="roundRect">
            <a:avLst>
              <a:gd name="adj" fmla="val 4790"/>
            </a:avLst>
          </a:prstGeom>
          <a:solidFill>
            <a:srgbClr val="221B14"/>
          </a:solidFill>
          <a:ln w="9525">
            <a:solidFill>
              <a:srgbClr val="4A3C2C"/>
            </a:solidFill>
            <a:prstDash val="solid"/>
          </a:ln>
        </p:spPr>
      </p:sp>
      <p:pic>
        <p:nvPicPr>
          <p:cNvPr id="17" name="Image 3" descr="preencoded.png">    </p:cNvPr>
          <p:cNvPicPr>
            <a:picLocks noChangeAspect="1"/>
          </p:cNvPicPr>
          <p:nvPr/>
        </p:nvPicPr>
        <p:blipFill>
          <a:blip r:embed="rId4"/>
          <a:stretch>
            <a:fillRect/>
          </a:stretch>
        </p:blipFill>
        <p:spPr>
          <a:xfrm>
            <a:off x="6894576" y="1408176"/>
            <a:ext cx="457200" cy="457200"/>
          </a:xfrm>
          <a:prstGeom prst="rect">
            <a:avLst/>
          </a:prstGeom>
        </p:spPr>
      </p:pic>
      <p:sp>
        <p:nvSpPr>
          <p:cNvPr id="18" name="Text 12"/>
          <p:cNvSpPr txBox="1"/>
          <p:nvPr/>
        </p:nvSpPr>
        <p:spPr>
          <a:xfrm>
            <a:off x="6894576" y="1938528"/>
            <a:ext cx="1737360" cy="237744"/>
          </a:xfrm>
          <a:prstGeom prst="rect">
            <a:avLst/>
          </a:prstGeom>
          <a:noFill/>
          <a:ln/>
        </p:spPr>
        <p:txBody>
          <a:bodyPr wrap="square" lIns="0" tIns="0" rIns="0" bIns="0" rtlCol="0" anchor="t"/>
          <a:lstStyle/>
          <a:p>
            <a:pPr indent="0" marL="0">
              <a:buNone/>
            </a:pPr>
            <a:r>
              <a:rPr lang="en-US" sz="1200" b="1" dirty="0">
                <a:solidFill>
                  <a:srgbClr val="F5EEE3"/>
                </a:solidFill>
                <a:latin typeface="Calibri" pitchFamily="34" charset="0"/>
                <a:ea typeface="Calibri" pitchFamily="34" charset="-122"/>
                <a:cs typeface="Calibri" pitchFamily="34" charset="-120"/>
              </a:rPr>
              <a:t>Approved AI only</a:t>
            </a:r>
            <a:endParaRPr lang="en-US" sz="1200" dirty="0"/>
          </a:p>
        </p:txBody>
      </p:sp>
      <p:sp>
        <p:nvSpPr>
          <p:cNvPr id="19" name="Text 13"/>
          <p:cNvSpPr txBox="1"/>
          <p:nvPr/>
        </p:nvSpPr>
        <p:spPr>
          <a:xfrm>
            <a:off x="6894576" y="2194560"/>
            <a:ext cx="1737360" cy="566928"/>
          </a:xfrm>
          <a:prstGeom prst="rect">
            <a:avLst/>
          </a:prstGeom>
          <a:noFill/>
          <a:ln/>
        </p:spPr>
        <p:txBody>
          <a:bodyPr wrap="square" lIns="0" tIns="0" rIns="0" bIns="0" rtlCol="0" anchor="t"/>
          <a:lstStyle/>
          <a:p>
            <a:pPr indent="0" marL="0">
              <a:buNone/>
            </a:pPr>
            <a:r>
              <a:rPr lang="en-US" sz="950" dirty="0">
                <a:solidFill>
                  <a:srgbClr val="B5A994"/>
                </a:solidFill>
                <a:latin typeface="Calibri" pitchFamily="34" charset="0"/>
                <a:ea typeface="Calibri" pitchFamily="34" charset="-122"/>
                <a:cs typeface="Calibri" pitchFamily="34" charset="-120"/>
              </a:rPr>
              <a:t>OAuth 2.1. An admin approves each AI client and its trust level.</a:t>
            </a:r>
            <a:endParaRPr lang="en-US" sz="950" dirty="0"/>
          </a:p>
        </p:txBody>
      </p:sp>
      <p:sp>
        <p:nvSpPr>
          <p:cNvPr id="20" name="Shape 14"/>
          <p:cNvSpPr/>
          <p:nvPr/>
        </p:nvSpPr>
        <p:spPr>
          <a:xfrm>
            <a:off x="457200" y="2944368"/>
            <a:ext cx="1965960" cy="1527048"/>
          </a:xfrm>
          <a:prstGeom prst="roundRect">
            <a:avLst>
              <a:gd name="adj" fmla="val 4790"/>
            </a:avLst>
          </a:prstGeom>
          <a:solidFill>
            <a:srgbClr val="221B14"/>
          </a:solidFill>
          <a:ln w="9525">
            <a:solidFill>
              <a:srgbClr val="4A3C2C"/>
            </a:solidFill>
            <a:prstDash val="solid"/>
          </a:ln>
        </p:spPr>
      </p:sp>
      <p:pic>
        <p:nvPicPr>
          <p:cNvPr id="21" name="Image 4" descr="preencoded.png">    </p:cNvPr>
          <p:cNvPicPr>
            <a:picLocks noChangeAspect="1"/>
          </p:cNvPicPr>
          <p:nvPr/>
        </p:nvPicPr>
        <p:blipFill>
          <a:blip r:embed="rId5"/>
          <a:stretch>
            <a:fillRect/>
          </a:stretch>
        </p:blipFill>
        <p:spPr>
          <a:xfrm>
            <a:off x="585216" y="3072384"/>
            <a:ext cx="457200" cy="457200"/>
          </a:xfrm>
          <a:prstGeom prst="rect">
            <a:avLst/>
          </a:prstGeom>
        </p:spPr>
      </p:pic>
      <p:sp>
        <p:nvSpPr>
          <p:cNvPr id="22" name="Text 15"/>
          <p:cNvSpPr txBox="1"/>
          <p:nvPr/>
        </p:nvSpPr>
        <p:spPr>
          <a:xfrm>
            <a:off x="585216" y="3602736"/>
            <a:ext cx="1737360" cy="237744"/>
          </a:xfrm>
          <a:prstGeom prst="rect">
            <a:avLst/>
          </a:prstGeom>
          <a:noFill/>
          <a:ln/>
        </p:spPr>
        <p:txBody>
          <a:bodyPr wrap="square" lIns="0" tIns="0" rIns="0" bIns="0" rtlCol="0" anchor="t"/>
          <a:lstStyle/>
          <a:p>
            <a:pPr indent="0" marL="0">
              <a:buNone/>
            </a:pPr>
            <a:r>
              <a:rPr lang="en-US" sz="1200" b="1" dirty="0">
                <a:solidFill>
                  <a:srgbClr val="F5EEE3"/>
                </a:solidFill>
                <a:latin typeface="Calibri" pitchFamily="34" charset="0"/>
                <a:ea typeface="Calibri" pitchFamily="34" charset="-122"/>
                <a:cs typeface="Calibri" pitchFamily="34" charset="-120"/>
              </a:rPr>
              <a:t>Injection defense</a:t>
            </a:r>
            <a:endParaRPr lang="en-US" sz="1200" dirty="0"/>
          </a:p>
        </p:txBody>
      </p:sp>
      <p:sp>
        <p:nvSpPr>
          <p:cNvPr id="23" name="Text 16"/>
          <p:cNvSpPr txBox="1"/>
          <p:nvPr/>
        </p:nvSpPr>
        <p:spPr>
          <a:xfrm>
            <a:off x="585216" y="3858768"/>
            <a:ext cx="1737360" cy="566928"/>
          </a:xfrm>
          <a:prstGeom prst="rect">
            <a:avLst/>
          </a:prstGeom>
          <a:noFill/>
          <a:ln/>
        </p:spPr>
        <p:txBody>
          <a:bodyPr wrap="square" lIns="0" tIns="0" rIns="0" bIns="0" rtlCol="0" anchor="t"/>
          <a:lstStyle/>
          <a:p>
            <a:pPr indent="0" marL="0">
              <a:buNone/>
            </a:pPr>
            <a:r>
              <a:rPr lang="en-US" sz="950" dirty="0">
                <a:solidFill>
                  <a:srgbClr val="B5A994"/>
                </a:solidFill>
                <a:latin typeface="Calibri" pitchFamily="34" charset="0"/>
                <a:ea typeface="Calibri" pitchFamily="34" charset="-122"/>
                <a:cs typeface="Calibri" pitchFamily="34" charset="-120"/>
              </a:rPr>
              <a:t>48 of 50 attack payloads flagged, 0 of 20 benign files.</a:t>
            </a:r>
            <a:endParaRPr lang="en-US" sz="950" dirty="0"/>
          </a:p>
        </p:txBody>
      </p:sp>
      <p:sp>
        <p:nvSpPr>
          <p:cNvPr id="24" name="Shape 17"/>
          <p:cNvSpPr/>
          <p:nvPr/>
        </p:nvSpPr>
        <p:spPr>
          <a:xfrm>
            <a:off x="2560320" y="2944368"/>
            <a:ext cx="1965960" cy="1527048"/>
          </a:xfrm>
          <a:prstGeom prst="roundRect">
            <a:avLst>
              <a:gd name="adj" fmla="val 4790"/>
            </a:avLst>
          </a:prstGeom>
          <a:solidFill>
            <a:srgbClr val="221B14"/>
          </a:solidFill>
          <a:ln w="9525">
            <a:solidFill>
              <a:srgbClr val="4A3C2C"/>
            </a:solidFill>
            <a:prstDash val="solid"/>
          </a:ln>
        </p:spPr>
      </p:sp>
      <p:pic>
        <p:nvPicPr>
          <p:cNvPr id="25" name="Image 5" descr="preencoded.png">    </p:cNvPr>
          <p:cNvPicPr>
            <a:picLocks noChangeAspect="1"/>
          </p:cNvPicPr>
          <p:nvPr/>
        </p:nvPicPr>
        <p:blipFill>
          <a:blip r:embed="rId6"/>
          <a:stretch>
            <a:fillRect/>
          </a:stretch>
        </p:blipFill>
        <p:spPr>
          <a:xfrm>
            <a:off x="2688336" y="3072384"/>
            <a:ext cx="457200" cy="457200"/>
          </a:xfrm>
          <a:prstGeom prst="rect">
            <a:avLst/>
          </a:prstGeom>
        </p:spPr>
      </p:pic>
      <p:sp>
        <p:nvSpPr>
          <p:cNvPr id="26" name="Text 18"/>
          <p:cNvSpPr txBox="1"/>
          <p:nvPr/>
        </p:nvSpPr>
        <p:spPr>
          <a:xfrm>
            <a:off x="2688336" y="3602736"/>
            <a:ext cx="1737360" cy="237744"/>
          </a:xfrm>
          <a:prstGeom prst="rect">
            <a:avLst/>
          </a:prstGeom>
          <a:noFill/>
          <a:ln/>
        </p:spPr>
        <p:txBody>
          <a:bodyPr wrap="square" lIns="0" tIns="0" rIns="0" bIns="0" rtlCol="0" anchor="t"/>
          <a:lstStyle/>
          <a:p>
            <a:pPr indent="0" marL="0">
              <a:buNone/>
            </a:pPr>
            <a:r>
              <a:rPr lang="en-US" sz="1200" b="1" dirty="0">
                <a:solidFill>
                  <a:srgbClr val="F5EEE3"/>
                </a:solidFill>
                <a:latin typeface="Calibri" pitchFamily="34" charset="0"/>
                <a:ea typeface="Calibri" pitchFamily="34" charset="-122"/>
                <a:cs typeface="Calibri" pitchFamily="34" charset="-120"/>
              </a:rPr>
              <a:t>Sandboxed parsing</a:t>
            </a:r>
            <a:endParaRPr lang="en-US" sz="1200" dirty="0"/>
          </a:p>
        </p:txBody>
      </p:sp>
      <p:sp>
        <p:nvSpPr>
          <p:cNvPr id="27" name="Text 19"/>
          <p:cNvSpPr txBox="1"/>
          <p:nvPr/>
        </p:nvSpPr>
        <p:spPr>
          <a:xfrm>
            <a:off x="2688336" y="3858768"/>
            <a:ext cx="1737360" cy="566928"/>
          </a:xfrm>
          <a:prstGeom prst="rect">
            <a:avLst/>
          </a:prstGeom>
          <a:noFill/>
          <a:ln/>
        </p:spPr>
        <p:txBody>
          <a:bodyPr wrap="square" lIns="0" tIns="0" rIns="0" bIns="0" rtlCol="0" anchor="t"/>
          <a:lstStyle/>
          <a:p>
            <a:pPr indent="0" marL="0">
              <a:buNone/>
            </a:pPr>
            <a:r>
              <a:rPr lang="en-US" sz="950" dirty="0">
                <a:solidFill>
                  <a:srgbClr val="B5A994"/>
                </a:solidFill>
                <a:latin typeface="Calibri" pitchFamily="34" charset="0"/>
                <a:ea typeface="Calibri" pitchFamily="34" charset="-122"/>
                <a:cs typeface="Calibri" pitchFamily="34" charset="-120"/>
              </a:rPr>
              <a:t>Parsers run in a locked-down process: read-only files, no add-ons, capped memory and time.</a:t>
            </a:r>
            <a:endParaRPr lang="en-US" sz="950" dirty="0"/>
          </a:p>
        </p:txBody>
      </p:sp>
      <p:sp>
        <p:nvSpPr>
          <p:cNvPr id="28" name="Shape 20"/>
          <p:cNvSpPr/>
          <p:nvPr/>
        </p:nvSpPr>
        <p:spPr>
          <a:xfrm>
            <a:off x="4663440" y="2944368"/>
            <a:ext cx="1965960" cy="1527048"/>
          </a:xfrm>
          <a:prstGeom prst="roundRect">
            <a:avLst>
              <a:gd name="adj" fmla="val 4790"/>
            </a:avLst>
          </a:prstGeom>
          <a:solidFill>
            <a:srgbClr val="221B14"/>
          </a:solidFill>
          <a:ln w="9525">
            <a:solidFill>
              <a:srgbClr val="4A3C2C"/>
            </a:solidFill>
            <a:prstDash val="solid"/>
          </a:ln>
        </p:spPr>
      </p:sp>
      <p:pic>
        <p:nvPicPr>
          <p:cNvPr id="29" name="Image 6" descr="preencoded.png">    </p:cNvPr>
          <p:cNvPicPr>
            <a:picLocks noChangeAspect="1"/>
          </p:cNvPicPr>
          <p:nvPr/>
        </p:nvPicPr>
        <p:blipFill>
          <a:blip r:embed="rId7"/>
          <a:stretch>
            <a:fillRect/>
          </a:stretch>
        </p:blipFill>
        <p:spPr>
          <a:xfrm>
            <a:off x="4791456" y="3072384"/>
            <a:ext cx="457200" cy="457200"/>
          </a:xfrm>
          <a:prstGeom prst="rect">
            <a:avLst/>
          </a:prstGeom>
        </p:spPr>
      </p:pic>
      <p:sp>
        <p:nvSpPr>
          <p:cNvPr id="30" name="Text 21"/>
          <p:cNvSpPr txBox="1"/>
          <p:nvPr/>
        </p:nvSpPr>
        <p:spPr>
          <a:xfrm>
            <a:off x="4791456" y="3602736"/>
            <a:ext cx="1737360" cy="237744"/>
          </a:xfrm>
          <a:prstGeom prst="rect">
            <a:avLst/>
          </a:prstGeom>
          <a:noFill/>
          <a:ln/>
        </p:spPr>
        <p:txBody>
          <a:bodyPr wrap="square" lIns="0" tIns="0" rIns="0" bIns="0" rtlCol="0" anchor="t"/>
          <a:lstStyle/>
          <a:p>
            <a:pPr indent="0" marL="0">
              <a:buNone/>
            </a:pPr>
            <a:r>
              <a:rPr lang="en-US" sz="1200" b="1" dirty="0">
                <a:solidFill>
                  <a:srgbClr val="F5EEE3"/>
                </a:solidFill>
                <a:latin typeface="Calibri" pitchFamily="34" charset="0"/>
                <a:ea typeface="Calibri" pitchFamily="34" charset="-122"/>
                <a:cs typeface="Calibri" pitchFamily="34" charset="-120"/>
              </a:rPr>
              <a:t>Tamper-evident audit</a:t>
            </a:r>
            <a:endParaRPr lang="en-US" sz="1200" dirty="0"/>
          </a:p>
        </p:txBody>
      </p:sp>
      <p:sp>
        <p:nvSpPr>
          <p:cNvPr id="31" name="Text 22"/>
          <p:cNvSpPr txBox="1"/>
          <p:nvPr/>
        </p:nvSpPr>
        <p:spPr>
          <a:xfrm>
            <a:off x="4791456" y="3858768"/>
            <a:ext cx="1737360" cy="566928"/>
          </a:xfrm>
          <a:prstGeom prst="rect">
            <a:avLst/>
          </a:prstGeom>
          <a:noFill/>
          <a:ln/>
        </p:spPr>
        <p:txBody>
          <a:bodyPr wrap="square" lIns="0" tIns="0" rIns="0" bIns="0" rtlCol="0" anchor="t"/>
          <a:lstStyle/>
          <a:p>
            <a:pPr indent="0" marL="0">
              <a:buNone/>
            </a:pPr>
            <a:r>
              <a:rPr lang="en-US" sz="950" dirty="0">
                <a:solidFill>
                  <a:srgbClr val="B5A994"/>
                </a:solidFill>
                <a:latin typeface="Calibri" pitchFamily="34" charset="0"/>
                <a:ea typeface="Calibri" pitchFamily="34" charset="-122"/>
                <a:cs typeface="Calibri" pitchFamily="34" charset="-120"/>
              </a:rPr>
              <a:t>Hash-chained log of sign-ins, admin changes and every AI read.</a:t>
            </a:r>
            <a:endParaRPr lang="en-US" sz="950" dirty="0"/>
          </a:p>
        </p:txBody>
      </p:sp>
      <p:sp>
        <p:nvSpPr>
          <p:cNvPr id="32" name="Shape 23"/>
          <p:cNvSpPr/>
          <p:nvPr/>
        </p:nvSpPr>
        <p:spPr>
          <a:xfrm>
            <a:off x="6766560" y="2944368"/>
            <a:ext cx="1965960" cy="1527048"/>
          </a:xfrm>
          <a:prstGeom prst="roundRect">
            <a:avLst>
              <a:gd name="adj" fmla="val 4790"/>
            </a:avLst>
          </a:prstGeom>
          <a:solidFill>
            <a:srgbClr val="221B14"/>
          </a:solidFill>
          <a:ln w="9525">
            <a:solidFill>
              <a:srgbClr val="4A3C2C"/>
            </a:solidFill>
            <a:prstDash val="solid"/>
          </a:ln>
        </p:spPr>
      </p:sp>
      <p:pic>
        <p:nvPicPr>
          <p:cNvPr id="33" name="Image 7" descr="preencoded.png">    </p:cNvPr>
          <p:cNvPicPr>
            <a:picLocks noChangeAspect="1"/>
          </p:cNvPicPr>
          <p:nvPr/>
        </p:nvPicPr>
        <p:blipFill>
          <a:blip r:embed="rId8"/>
          <a:stretch>
            <a:fillRect/>
          </a:stretch>
        </p:blipFill>
        <p:spPr>
          <a:xfrm>
            <a:off x="6894576" y="3072384"/>
            <a:ext cx="457200" cy="457200"/>
          </a:xfrm>
          <a:prstGeom prst="rect">
            <a:avLst/>
          </a:prstGeom>
        </p:spPr>
      </p:pic>
      <p:sp>
        <p:nvSpPr>
          <p:cNvPr id="34" name="Text 24"/>
          <p:cNvSpPr txBox="1"/>
          <p:nvPr/>
        </p:nvSpPr>
        <p:spPr>
          <a:xfrm>
            <a:off x="6894576" y="3602736"/>
            <a:ext cx="1737360" cy="237744"/>
          </a:xfrm>
          <a:prstGeom prst="rect">
            <a:avLst/>
          </a:prstGeom>
          <a:noFill/>
          <a:ln/>
        </p:spPr>
        <p:txBody>
          <a:bodyPr wrap="square" lIns="0" tIns="0" rIns="0" bIns="0" rtlCol="0" anchor="t"/>
          <a:lstStyle/>
          <a:p>
            <a:pPr indent="0" marL="0">
              <a:buNone/>
            </a:pPr>
            <a:r>
              <a:rPr lang="en-US" sz="1200" b="1" dirty="0">
                <a:solidFill>
                  <a:srgbClr val="E2603F"/>
                </a:solidFill>
                <a:latin typeface="Calibri" pitchFamily="34" charset="0"/>
                <a:ea typeface="Calibri" pitchFamily="34" charset="-122"/>
                <a:cs typeface="Calibri" pitchFamily="34" charset="-120"/>
              </a:rPr>
              <a:t>Text never authorizes</a:t>
            </a:r>
            <a:endParaRPr lang="en-US" sz="1200" dirty="0"/>
          </a:p>
        </p:txBody>
      </p:sp>
      <p:sp>
        <p:nvSpPr>
          <p:cNvPr id="35" name="Text 25"/>
          <p:cNvSpPr txBox="1"/>
          <p:nvPr/>
        </p:nvSpPr>
        <p:spPr>
          <a:xfrm>
            <a:off x="6894576" y="3858768"/>
            <a:ext cx="1737360" cy="566928"/>
          </a:xfrm>
          <a:prstGeom prst="rect">
            <a:avLst/>
          </a:prstGeom>
          <a:noFill/>
          <a:ln/>
        </p:spPr>
        <p:txBody>
          <a:bodyPr wrap="square" lIns="0" tIns="0" rIns="0" bIns="0" rtlCol="0" anchor="t"/>
          <a:lstStyle/>
          <a:p>
            <a:pPr indent="0" marL="0">
              <a:buNone/>
            </a:pPr>
            <a:r>
              <a:rPr lang="en-US" sz="950" dirty="0">
                <a:solidFill>
                  <a:srgbClr val="B5A994"/>
                </a:solidFill>
                <a:latin typeface="Calibri" pitchFamily="34" charset="0"/>
                <a:ea typeface="Calibri" pitchFamily="34" charset="-122"/>
                <a:cs typeface="Calibri" pitchFamily="34" charset="-120"/>
              </a:rPr>
              <a:t>A document can inform an agent, but can't grant access or trigger actions.</a:t>
            </a:r>
            <a:endParaRPr lang="en-US" sz="950" dirty="0"/>
          </a:p>
        </p:txBody>
      </p:sp>
      <p:pic>
        <p:nvPicPr>
          <p:cNvPr id="36" name="Image 8" descr="preencoded.png">    </p:cNvPr>
          <p:cNvPicPr>
            <a:picLocks noChangeAspect="1"/>
          </p:cNvPicPr>
          <p:nvPr/>
        </p:nvPicPr>
        <p:blipFill>
          <a:blip r:embed="rId9"/>
          <a:stretch>
            <a:fillRect/>
          </a:stretch>
        </p:blipFill>
        <p:spPr>
          <a:xfrm>
            <a:off x="457200" y="4754880"/>
            <a:ext cx="182880" cy="182880"/>
          </a:xfrm>
          <a:prstGeom prst="rect">
            <a:avLst/>
          </a:prstGeom>
        </p:spPr>
      </p:pic>
      <p:sp>
        <p:nvSpPr>
          <p:cNvPr id="37" name="Text 26"/>
          <p:cNvSpPr txBox="1"/>
          <p:nvPr/>
        </p:nvSpPr>
        <p:spPr>
          <a:xfrm>
            <a:off x="694944" y="4754880"/>
            <a:ext cx="1828800" cy="182880"/>
          </a:xfrm>
          <a:prstGeom prst="rect">
            <a:avLst/>
          </a:prstGeom>
          <a:noFill/>
          <a:ln/>
        </p:spPr>
        <p:txBody>
          <a:bodyPr wrap="square" lIns="0" tIns="0" rIns="0" bIns="0" rtlCol="0" anchor="ctr"/>
          <a:lstStyle/>
          <a:p>
            <a:pPr indent="0" marL="0">
              <a:buNone/>
            </a:pPr>
            <a:r>
              <a:rPr lang="en-US" sz="900" dirty="0">
                <a:solidFill>
                  <a:srgbClr val="B5A994"/>
                </a:solidFill>
                <a:latin typeface="Calibri" pitchFamily="34" charset="0"/>
                <a:ea typeface="Calibri" pitchFamily="34" charset="-122"/>
                <a:cs typeface="Calibri" pitchFamily="34" charset="-120"/>
              </a:rPr>
              <a:t>OpenHoard</a:t>
            </a:r>
            <a:endParaRPr lang="en-US" sz="900" dirty="0"/>
          </a:p>
        </p:txBody>
      </p:sp>
      <p:sp>
        <p:nvSpPr>
          <p:cNvPr id="38" name="Text 27"/>
          <p:cNvSpPr txBox="1"/>
          <p:nvPr/>
        </p:nvSpPr>
        <p:spPr>
          <a:xfrm>
            <a:off x="7772400" y="4754880"/>
            <a:ext cx="914400" cy="182880"/>
          </a:xfrm>
          <a:prstGeom prst="rect">
            <a:avLst/>
          </a:prstGeom>
          <a:noFill/>
          <a:ln/>
        </p:spPr>
        <p:txBody>
          <a:bodyPr wrap="square" lIns="0" tIns="0" rIns="0" bIns="0" rtlCol="0" anchor="ctr"/>
          <a:lstStyle/>
          <a:p>
            <a:pPr algn="r" indent="0" marL="0">
              <a:buNone/>
            </a:pPr>
            <a:r>
              <a:rPr lang="en-US" sz="900" dirty="0">
                <a:solidFill>
                  <a:srgbClr val="B5A99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10D"/>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indent="0" marL="0">
              <a:buNone/>
            </a:pPr>
            <a:r>
              <a:rPr lang="en-US" sz="1000" b="1" spc="400" kern="0" dirty="0">
                <a:solidFill>
                  <a:srgbClr val="F2A93B"/>
                </a:solidFill>
                <a:latin typeface="Calibri" pitchFamily="34" charset="0"/>
                <a:ea typeface="Calibri" pitchFamily="34" charset="-122"/>
                <a:cs typeface="Calibri" pitchFamily="34" charset="-120"/>
              </a:rPr>
              <a:t>USER EXPERIENCE</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800" b="1" dirty="0">
                <a:solidFill>
                  <a:srgbClr val="F5EEE3"/>
                </a:solidFill>
                <a:latin typeface="Cambria" pitchFamily="34" charset="0"/>
                <a:ea typeface="Cambria" pitchFamily="34" charset="-122"/>
                <a:cs typeface="Cambria" pitchFamily="34" charset="-120"/>
              </a:rPr>
              <a:t>What people see: they just ask their AI</a:t>
            </a:r>
            <a:endParaRPr lang="en-US" sz="2800" dirty="0"/>
          </a:p>
        </p:txBody>
      </p:sp>
      <p:sp>
        <p:nvSpPr>
          <p:cNvPr id="4" name="Shape 2"/>
          <p:cNvSpPr/>
          <p:nvPr/>
        </p:nvSpPr>
        <p:spPr>
          <a:xfrm>
            <a:off x="457200" y="1280160"/>
            <a:ext cx="4937760" cy="3291840"/>
          </a:xfrm>
          <a:prstGeom prst="roundRect">
            <a:avLst>
              <a:gd name="adj" fmla="val 2222"/>
            </a:avLst>
          </a:prstGeom>
          <a:solidFill>
            <a:srgbClr val="221B14"/>
          </a:solidFill>
          <a:ln w="9525">
            <a:solidFill>
              <a:srgbClr val="4A3C2C"/>
            </a:solidFill>
            <a:prstDash val="solid"/>
          </a:ln>
        </p:spPr>
      </p:sp>
      <p:sp>
        <p:nvSpPr>
          <p:cNvPr id="5" name="Shape 3"/>
          <p:cNvSpPr/>
          <p:nvPr/>
        </p:nvSpPr>
        <p:spPr>
          <a:xfrm>
            <a:off x="2103120" y="1444752"/>
            <a:ext cx="3154680" cy="566928"/>
          </a:xfrm>
          <a:prstGeom prst="roundRect">
            <a:avLst>
              <a:gd name="adj" fmla="val 12903"/>
            </a:avLst>
          </a:prstGeom>
          <a:solidFill>
            <a:srgbClr val="2D241B"/>
          </a:solidFill>
          <a:ln w="9525">
            <a:solidFill>
              <a:srgbClr val="F2A93B"/>
            </a:solidFill>
            <a:prstDash val="solid"/>
          </a:ln>
        </p:spPr>
      </p:sp>
      <p:sp>
        <p:nvSpPr>
          <p:cNvPr id="6" name="Text 4"/>
          <p:cNvSpPr txBox="1"/>
          <p:nvPr/>
        </p:nvSpPr>
        <p:spPr>
          <a:xfrm>
            <a:off x="2212848" y="1444752"/>
            <a:ext cx="2971800" cy="566928"/>
          </a:xfrm>
          <a:prstGeom prst="rect">
            <a:avLst/>
          </a:prstGeom>
          <a:noFill/>
          <a:ln/>
        </p:spPr>
        <p:txBody>
          <a:bodyPr wrap="square" lIns="0" tIns="0" rIns="0" bIns="0" rtlCol="0" anchor="ctr"/>
          <a:lstStyle/>
          <a:p>
            <a:pPr indent="0" marL="0">
              <a:buNone/>
            </a:pPr>
            <a:r>
              <a:rPr lang="en-US" sz="1100" dirty="0">
                <a:solidFill>
                  <a:srgbClr val="F5EEE3"/>
                </a:solidFill>
                <a:latin typeface="Calibri" pitchFamily="34" charset="0"/>
                <a:ea typeface="Calibri" pitchFamily="34" charset="-122"/>
                <a:cs typeface="Calibri" pitchFamily="34" charset="-120"/>
              </a:rPr>
              <a:t>Catch me up on the Acme renewal. What changed this week?</a:t>
            </a:r>
            <a:endParaRPr lang="en-US" sz="1100" dirty="0"/>
          </a:p>
        </p:txBody>
      </p:sp>
      <p:sp>
        <p:nvSpPr>
          <p:cNvPr id="7" name="Text 5"/>
          <p:cNvSpPr txBox="1"/>
          <p:nvPr/>
        </p:nvSpPr>
        <p:spPr>
          <a:xfrm>
            <a:off x="640080" y="2130552"/>
            <a:ext cx="4572000" cy="201168"/>
          </a:xfrm>
          <a:prstGeom prst="rect">
            <a:avLst/>
          </a:prstGeom>
          <a:noFill/>
          <a:ln/>
        </p:spPr>
        <p:txBody>
          <a:bodyPr wrap="square" lIns="0" tIns="0" rIns="0" bIns="0" rtlCol="0" anchor="t"/>
          <a:lstStyle/>
          <a:p>
            <a:pPr indent="0" marL="0">
              <a:buNone/>
            </a:pPr>
            <a:r>
              <a:rPr lang="en-US" sz="900" dirty="0">
                <a:solidFill>
                  <a:srgbClr val="B5A994"/>
                </a:solidFill>
                <a:latin typeface="Courier New" pitchFamily="34" charset="0"/>
                <a:ea typeface="Courier New" pitchFamily="34" charset="-122"/>
                <a:cs typeface="Courier New" pitchFamily="34" charset="-120"/>
              </a:rPr>
              <a:t>→ openhoard.recent   → openhoard.find</a:t>
            </a:r>
            <a:endParaRPr lang="en-US" sz="900" dirty="0"/>
          </a:p>
        </p:txBody>
      </p:sp>
      <p:sp>
        <p:nvSpPr>
          <p:cNvPr id="8" name="Text 6"/>
          <p:cNvSpPr txBox="1"/>
          <p:nvPr/>
        </p:nvSpPr>
        <p:spPr>
          <a:xfrm>
            <a:off x="640080" y="2395728"/>
            <a:ext cx="4572000" cy="868680"/>
          </a:xfrm>
          <a:prstGeom prst="rect">
            <a:avLst/>
          </a:prstGeom>
          <a:noFill/>
          <a:ln/>
        </p:spPr>
        <p:txBody>
          <a:bodyPr wrap="square" lIns="0" tIns="0" rIns="0" bIns="0" rtlCol="0" anchor="t"/>
          <a:lstStyle/>
          <a:p>
            <a:pPr indent="0" marL="0">
              <a:buNone/>
            </a:pPr>
            <a:r>
              <a:rPr lang="en-US" sz="1100" dirty="0">
                <a:solidFill>
                  <a:srgbClr val="F5EEE3"/>
                </a:solidFill>
                <a:latin typeface="Calibri" pitchFamily="34" charset="0"/>
                <a:ea typeface="Calibri" pitchFamily="34" charset="-122"/>
                <a:cs typeface="Calibri" pitchFamily="34" charset="-120"/>
              </a:rPr>
              <a:t>Two files changed:</a:t>
            </a:r>
            <a:endParaRPr lang="en-US" sz="1100" dirty="0"/>
          </a:p>
          <a:p>
            <a:pPr marL="152400" indent="-152400">
              <a:buSzPct val="100000"/>
              <a:buChar char="•"/>
            </a:pPr>
            <a:r>
              <a:rPr lang="en-US" sz="1100" dirty="0">
                <a:solidFill>
                  <a:srgbClr val="F5EEE3"/>
                </a:solidFill>
                <a:latin typeface="Calibri" pitchFamily="34" charset="0"/>
                <a:ea typeface="Calibri" pitchFamily="34" charset="-122"/>
                <a:cs typeface="Calibri" pitchFamily="34" charset="-120"/>
              </a:rPr>
              <a:t>Acme MSA 2026: Dana edited the renewal term on Tuesday.</a:t>
            </a:r>
            <a:endParaRPr lang="en-US" sz="1100" dirty="0"/>
          </a:p>
          <a:p>
            <a:pPr marL="152400" indent="-152400">
              <a:buSzPct val="100000"/>
              <a:buChar char="•"/>
            </a:pPr>
            <a:r>
              <a:rPr lang="en-US" sz="1100" dirty="0">
                <a:solidFill>
                  <a:srgbClr val="F5EEE3"/>
                </a:solidFill>
                <a:latin typeface="Calibri" pitchFamily="34" charset="0"/>
                <a:ea typeface="Calibri" pitchFamily="34" charset="-122"/>
                <a:cs typeface="Calibri" pitchFamily="34" charset="-120"/>
              </a:rPr>
              <a:t>Acme pricing.xlsx: Sam added Q4 rates.</a:t>
            </a:r>
            <a:endParaRPr lang="en-US" sz="1100" dirty="0"/>
          </a:p>
        </p:txBody>
      </p:sp>
      <p:sp>
        <p:nvSpPr>
          <p:cNvPr id="9" name="Shape 7"/>
          <p:cNvSpPr/>
          <p:nvPr/>
        </p:nvSpPr>
        <p:spPr>
          <a:xfrm>
            <a:off x="640080" y="3337560"/>
            <a:ext cx="4572000" cy="566928"/>
          </a:xfrm>
          <a:prstGeom prst="roundRect">
            <a:avLst>
              <a:gd name="adj" fmla="val 12903"/>
            </a:avLst>
          </a:prstGeom>
          <a:solidFill>
            <a:srgbClr val="2D241B"/>
          </a:solidFill>
          <a:ln w="9525">
            <a:solidFill>
              <a:srgbClr val="4A3C2C"/>
            </a:solidFill>
            <a:prstDash val="solid"/>
          </a:ln>
        </p:spPr>
      </p:sp>
      <p:pic>
        <p:nvPicPr>
          <p:cNvPr id="10" name="Image 0" descr="preencoded.png">    </p:cNvPr>
          <p:cNvPicPr>
            <a:picLocks noChangeAspect="1"/>
          </p:cNvPicPr>
          <p:nvPr/>
        </p:nvPicPr>
        <p:blipFill>
          <a:blip r:embed="rId1"/>
          <a:stretch>
            <a:fillRect/>
          </a:stretch>
        </p:blipFill>
        <p:spPr>
          <a:xfrm>
            <a:off x="731520" y="3401568"/>
            <a:ext cx="438912" cy="438912"/>
          </a:xfrm>
          <a:prstGeom prst="rect">
            <a:avLst/>
          </a:prstGeom>
        </p:spPr>
      </p:pic>
      <p:sp>
        <p:nvSpPr>
          <p:cNvPr id="11" name="Text 8"/>
          <p:cNvSpPr txBox="1"/>
          <p:nvPr/>
        </p:nvSpPr>
        <p:spPr>
          <a:xfrm>
            <a:off x="1261872" y="3355848"/>
            <a:ext cx="2834640" cy="530352"/>
          </a:xfrm>
          <a:prstGeom prst="rect">
            <a:avLst/>
          </a:prstGeom>
          <a:noFill/>
          <a:ln/>
        </p:spPr>
        <p:txBody>
          <a:bodyPr wrap="square" lIns="0" tIns="0" rIns="0" bIns="0" rtlCol="0" anchor="ctr"/>
          <a:lstStyle/>
          <a:p>
            <a:pPr indent="0" marL="0">
              <a:buNone/>
            </a:pPr>
            <a:r>
              <a:rPr lang="en-US" sz="1100" b="1" dirty="0">
                <a:solidFill>
                  <a:srgbClr val="F5EEE3"/>
                </a:solidFill>
                <a:latin typeface="Calibri" pitchFamily="34" charset="0"/>
                <a:ea typeface="Calibri" pitchFamily="34" charset="-122"/>
                <a:cs typeface="Calibri" pitchFamily="34" charset="-120"/>
              </a:rPr>
              <a:t>Acme MSA 2026.docx</a:t>
            </a:r>
            <a:endParaRPr lang="en-US" sz="1100" dirty="0"/>
          </a:p>
          <a:p>
            <a:pPr indent="0" marL="0">
              <a:buNone/>
            </a:pPr>
            <a:r>
              <a:rPr lang="en-US" sz="900" dirty="0">
                <a:solidFill>
                  <a:srgbClr val="B5A994"/>
                </a:solidFill>
                <a:latin typeface="Calibri" pitchFamily="34" charset="0"/>
                <a:ea typeface="Calibri" pitchFamily="34" charset="-122"/>
                <a:cs typeface="Calibri" pitchFamily="34" charset="-120"/>
              </a:rPr>
              <a:t>Contracts · Acme · v3 · edited Tue</a:t>
            </a:r>
            <a:endParaRPr lang="en-US" sz="1100" dirty="0"/>
          </a:p>
        </p:txBody>
      </p:sp>
      <p:sp>
        <p:nvSpPr>
          <p:cNvPr id="12" name="Text 9"/>
          <p:cNvSpPr txBox="1"/>
          <p:nvPr/>
        </p:nvSpPr>
        <p:spPr>
          <a:xfrm>
            <a:off x="4251960" y="3337560"/>
            <a:ext cx="822960" cy="56692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Open ↗</a:t>
            </a:r>
            <a:endParaRPr lang="en-US" sz="1100" dirty="0"/>
          </a:p>
        </p:txBody>
      </p:sp>
      <p:sp>
        <p:nvSpPr>
          <p:cNvPr id="13" name="Text 10"/>
          <p:cNvSpPr txBox="1"/>
          <p:nvPr/>
        </p:nvSpPr>
        <p:spPr>
          <a:xfrm>
            <a:off x="640080" y="4114800"/>
            <a:ext cx="4572000" cy="274320"/>
          </a:xfrm>
          <a:prstGeom prst="rect">
            <a:avLst/>
          </a:prstGeom>
          <a:noFill/>
          <a:ln/>
        </p:spPr>
        <p:txBody>
          <a:bodyPr wrap="square" lIns="0" tIns="0" rIns="0" bIns="0" rtlCol="0" anchor="t"/>
          <a:lstStyle/>
          <a:p>
            <a:pPr indent="0" marL="0">
              <a:buNone/>
            </a:pPr>
            <a:r>
              <a:rPr lang="en-US" sz="950" i="1" dirty="0">
                <a:solidFill>
                  <a:srgbClr val="B5A994"/>
                </a:solidFill>
                <a:latin typeface="Calibri" pitchFamily="34" charset="0"/>
                <a:ea typeface="Calibri" pitchFamily="34" charset="-122"/>
                <a:cs typeface="Calibri" pitchFamily="34" charset="-120"/>
              </a:rPr>
              <a:t>Illustrative. The assistant only sees what this person can see.</a:t>
            </a:r>
            <a:endParaRPr lang="en-US" sz="950" dirty="0"/>
          </a:p>
        </p:txBody>
      </p:sp>
      <p:sp>
        <p:nvSpPr>
          <p:cNvPr id="14" name="Text 11"/>
          <p:cNvSpPr txBox="1"/>
          <p:nvPr/>
        </p:nvSpPr>
        <p:spPr>
          <a:xfrm>
            <a:off x="5669280" y="1280160"/>
            <a:ext cx="3017520" cy="182880"/>
          </a:xfrm>
          <a:prstGeom prst="rect">
            <a:avLst/>
          </a:prstGeom>
          <a:noFill/>
          <a:ln/>
        </p:spPr>
        <p:txBody>
          <a:bodyPr wrap="square" lIns="0" tIns="0" rIns="0" bIns="0" rtlCol="0" anchor="t"/>
          <a:lstStyle/>
          <a:p>
            <a:pPr indent="0" marL="0">
              <a:buNone/>
            </a:pPr>
            <a:r>
              <a:rPr lang="en-US" sz="900" b="1" spc="200" kern="0" dirty="0">
                <a:solidFill>
                  <a:srgbClr val="B5A994"/>
                </a:solidFill>
                <a:latin typeface="Calibri" pitchFamily="34" charset="0"/>
                <a:ea typeface="Calibri" pitchFamily="34" charset="-122"/>
                <a:cs typeface="Calibri" pitchFamily="34" charset="-120"/>
              </a:rPr>
              <a:t>MCP TOOLS</a:t>
            </a:r>
            <a:endParaRPr lang="en-US" sz="900" dirty="0"/>
          </a:p>
        </p:txBody>
      </p:sp>
      <p:sp>
        <p:nvSpPr>
          <p:cNvPr id="15" name="Shape 12"/>
          <p:cNvSpPr/>
          <p:nvPr/>
        </p:nvSpPr>
        <p:spPr>
          <a:xfrm>
            <a:off x="5669280" y="1536192"/>
            <a:ext cx="1435608" cy="365760"/>
          </a:xfrm>
          <a:prstGeom prst="roundRect">
            <a:avLst>
              <a:gd name="adj" fmla="val 20000"/>
            </a:avLst>
          </a:prstGeom>
          <a:solidFill>
            <a:srgbClr val="2D241B"/>
          </a:solidFill>
          <a:ln w="9525">
            <a:solidFill>
              <a:srgbClr val="4A3C2C"/>
            </a:solidFill>
            <a:prstDash val="solid"/>
          </a:ln>
        </p:spPr>
      </p:sp>
      <p:sp>
        <p:nvSpPr>
          <p:cNvPr id="16" name="Text 13"/>
          <p:cNvSpPr txBox="1"/>
          <p:nvPr/>
        </p:nvSpPr>
        <p:spPr>
          <a:xfrm>
            <a:off x="5742432" y="1536192"/>
            <a:ext cx="1344168" cy="365760"/>
          </a:xfrm>
          <a:prstGeom prst="rect">
            <a:avLst/>
          </a:prstGeom>
          <a:noFill/>
          <a:ln/>
        </p:spPr>
        <p:txBody>
          <a:bodyPr wrap="square" lIns="0" tIns="0" rIns="0" bIns="0" rtlCol="0" anchor="ctr"/>
          <a:lstStyle/>
          <a:p>
            <a:pPr indent="0" marL="0">
              <a:buNone/>
            </a:pPr>
            <a:r>
              <a:rPr lang="en-US" sz="1000" b="1" dirty="0">
                <a:solidFill>
                  <a:srgbClr val="F7C85C"/>
                </a:solidFill>
                <a:latin typeface="Courier New" pitchFamily="34" charset="0"/>
                <a:ea typeface="Courier New" pitchFamily="34" charset="-122"/>
                <a:cs typeface="Courier New" pitchFamily="34" charset="-120"/>
              </a:rPr>
              <a:t>find</a:t>
            </a:r>
            <a:pPr indent="0" marL="0">
              <a:buNone/>
            </a:pPr>
            <a:r>
              <a:rPr lang="en-US" sz="850" dirty="0">
                <a:solidFill>
                  <a:srgbClr val="B5A994"/>
                </a:solidFill>
                <a:latin typeface="Calibri" pitchFamily="34" charset="0"/>
                <a:ea typeface="Calibri" pitchFamily="34" charset="-122"/>
                <a:cs typeface="Calibri" pitchFamily="34" charset="-120"/>
              </a:rPr>
              <a:t>  search</a:t>
            </a:r>
            <a:endParaRPr lang="en-US" sz="1000" dirty="0"/>
          </a:p>
        </p:txBody>
      </p:sp>
      <p:sp>
        <p:nvSpPr>
          <p:cNvPr id="17" name="Shape 14"/>
          <p:cNvSpPr/>
          <p:nvPr/>
        </p:nvSpPr>
        <p:spPr>
          <a:xfrm>
            <a:off x="7196328" y="1536192"/>
            <a:ext cx="1435608" cy="365760"/>
          </a:xfrm>
          <a:prstGeom prst="roundRect">
            <a:avLst>
              <a:gd name="adj" fmla="val 20000"/>
            </a:avLst>
          </a:prstGeom>
          <a:solidFill>
            <a:srgbClr val="2D241B"/>
          </a:solidFill>
          <a:ln w="9525">
            <a:solidFill>
              <a:srgbClr val="4A3C2C"/>
            </a:solidFill>
            <a:prstDash val="solid"/>
          </a:ln>
        </p:spPr>
      </p:sp>
      <p:sp>
        <p:nvSpPr>
          <p:cNvPr id="18" name="Text 15"/>
          <p:cNvSpPr txBox="1"/>
          <p:nvPr/>
        </p:nvSpPr>
        <p:spPr>
          <a:xfrm>
            <a:off x="7269480" y="1536192"/>
            <a:ext cx="1344168" cy="365760"/>
          </a:xfrm>
          <a:prstGeom prst="rect">
            <a:avLst/>
          </a:prstGeom>
          <a:noFill/>
          <a:ln/>
        </p:spPr>
        <p:txBody>
          <a:bodyPr wrap="square" lIns="0" tIns="0" rIns="0" bIns="0" rtlCol="0" anchor="ctr"/>
          <a:lstStyle/>
          <a:p>
            <a:pPr indent="0" marL="0">
              <a:buNone/>
            </a:pPr>
            <a:r>
              <a:rPr lang="en-US" sz="1000" b="1" dirty="0">
                <a:solidFill>
                  <a:srgbClr val="F7C85C"/>
                </a:solidFill>
                <a:latin typeface="Courier New" pitchFamily="34" charset="0"/>
                <a:ea typeface="Courier New" pitchFamily="34" charset="-122"/>
                <a:cs typeface="Courier New" pitchFamily="34" charset="-120"/>
              </a:rPr>
              <a:t>recent</a:t>
            </a:r>
            <a:pPr indent="0" marL="0">
              <a:buNone/>
            </a:pPr>
            <a:r>
              <a:rPr lang="en-US" sz="850" dirty="0">
                <a:solidFill>
                  <a:srgbClr val="B5A994"/>
                </a:solidFill>
                <a:latin typeface="Calibri" pitchFamily="34" charset="0"/>
                <a:ea typeface="Calibri" pitchFamily="34" charset="-122"/>
                <a:cs typeface="Calibri" pitchFamily="34" charset="-120"/>
              </a:rPr>
              <a:t>  what changed</a:t>
            </a:r>
            <a:endParaRPr lang="en-US" sz="1000" dirty="0"/>
          </a:p>
        </p:txBody>
      </p:sp>
      <p:sp>
        <p:nvSpPr>
          <p:cNvPr id="19" name="Shape 16"/>
          <p:cNvSpPr/>
          <p:nvPr/>
        </p:nvSpPr>
        <p:spPr>
          <a:xfrm>
            <a:off x="5669280" y="1993392"/>
            <a:ext cx="1435608" cy="365760"/>
          </a:xfrm>
          <a:prstGeom prst="roundRect">
            <a:avLst>
              <a:gd name="adj" fmla="val 20000"/>
            </a:avLst>
          </a:prstGeom>
          <a:solidFill>
            <a:srgbClr val="2D241B"/>
          </a:solidFill>
          <a:ln w="9525">
            <a:solidFill>
              <a:srgbClr val="4A3C2C"/>
            </a:solidFill>
            <a:prstDash val="solid"/>
          </a:ln>
        </p:spPr>
      </p:sp>
      <p:sp>
        <p:nvSpPr>
          <p:cNvPr id="20" name="Text 17"/>
          <p:cNvSpPr txBox="1"/>
          <p:nvPr/>
        </p:nvSpPr>
        <p:spPr>
          <a:xfrm>
            <a:off x="5742432" y="1993392"/>
            <a:ext cx="1344168" cy="365760"/>
          </a:xfrm>
          <a:prstGeom prst="rect">
            <a:avLst/>
          </a:prstGeom>
          <a:noFill/>
          <a:ln/>
        </p:spPr>
        <p:txBody>
          <a:bodyPr wrap="square" lIns="0" tIns="0" rIns="0" bIns="0" rtlCol="0" anchor="ctr"/>
          <a:lstStyle/>
          <a:p>
            <a:pPr indent="0" marL="0">
              <a:buNone/>
            </a:pPr>
            <a:r>
              <a:rPr lang="en-US" sz="1000" b="1" dirty="0">
                <a:solidFill>
                  <a:srgbClr val="F7C85C"/>
                </a:solidFill>
                <a:latin typeface="Courier New" pitchFamily="34" charset="0"/>
                <a:ea typeface="Courier New" pitchFamily="34" charset="-122"/>
                <a:cs typeface="Courier New" pitchFamily="34" charset="-120"/>
              </a:rPr>
              <a:t>describe</a:t>
            </a:r>
            <a:pPr indent="0" marL="0">
              <a:buNone/>
            </a:pPr>
            <a:r>
              <a:rPr lang="en-US" sz="850" dirty="0">
                <a:solidFill>
                  <a:srgbClr val="B5A994"/>
                </a:solidFill>
                <a:latin typeface="Calibri" pitchFamily="34" charset="0"/>
                <a:ea typeface="Calibri" pitchFamily="34" charset="-122"/>
                <a:cs typeface="Calibri" pitchFamily="34" charset="-120"/>
              </a:rPr>
              <a:t>  summary card</a:t>
            </a:r>
            <a:endParaRPr lang="en-US" sz="1000" dirty="0"/>
          </a:p>
        </p:txBody>
      </p:sp>
      <p:sp>
        <p:nvSpPr>
          <p:cNvPr id="21" name="Shape 18"/>
          <p:cNvSpPr/>
          <p:nvPr/>
        </p:nvSpPr>
        <p:spPr>
          <a:xfrm>
            <a:off x="7196328" y="1993392"/>
            <a:ext cx="1435608" cy="365760"/>
          </a:xfrm>
          <a:prstGeom prst="roundRect">
            <a:avLst>
              <a:gd name="adj" fmla="val 20000"/>
            </a:avLst>
          </a:prstGeom>
          <a:solidFill>
            <a:srgbClr val="2D241B"/>
          </a:solidFill>
          <a:ln w="9525">
            <a:solidFill>
              <a:srgbClr val="4A3C2C"/>
            </a:solidFill>
            <a:prstDash val="solid"/>
          </a:ln>
        </p:spPr>
      </p:sp>
      <p:sp>
        <p:nvSpPr>
          <p:cNvPr id="22" name="Text 19"/>
          <p:cNvSpPr txBox="1"/>
          <p:nvPr/>
        </p:nvSpPr>
        <p:spPr>
          <a:xfrm>
            <a:off x="7269480" y="1993392"/>
            <a:ext cx="1344168" cy="365760"/>
          </a:xfrm>
          <a:prstGeom prst="rect">
            <a:avLst/>
          </a:prstGeom>
          <a:noFill/>
          <a:ln/>
        </p:spPr>
        <p:txBody>
          <a:bodyPr wrap="square" lIns="0" tIns="0" rIns="0" bIns="0" rtlCol="0" anchor="ctr"/>
          <a:lstStyle/>
          <a:p>
            <a:pPr indent="0" marL="0">
              <a:buNone/>
            </a:pPr>
            <a:r>
              <a:rPr lang="en-US" sz="1000" b="1" dirty="0">
                <a:solidFill>
                  <a:srgbClr val="F7C85C"/>
                </a:solidFill>
                <a:latin typeface="Courier New" pitchFamily="34" charset="0"/>
                <a:ea typeface="Courier New" pitchFamily="34" charset="-122"/>
                <a:cs typeface="Courier New" pitchFamily="34" charset="-120"/>
              </a:rPr>
              <a:t>open</a:t>
            </a:r>
            <a:pPr indent="0" marL="0">
              <a:buNone/>
            </a:pPr>
            <a:r>
              <a:rPr lang="en-US" sz="850" dirty="0">
                <a:solidFill>
                  <a:srgbClr val="B5A994"/>
                </a:solidFill>
                <a:latin typeface="Calibri" pitchFamily="34" charset="0"/>
                <a:ea typeface="Calibri" pitchFamily="34" charset="-122"/>
                <a:cs typeface="Calibri" pitchFamily="34" charset="-120"/>
              </a:rPr>
              <a:t>  link to open</a:t>
            </a:r>
            <a:endParaRPr lang="en-US" sz="1000" dirty="0"/>
          </a:p>
        </p:txBody>
      </p:sp>
      <p:sp>
        <p:nvSpPr>
          <p:cNvPr id="23" name="Shape 20"/>
          <p:cNvSpPr/>
          <p:nvPr/>
        </p:nvSpPr>
        <p:spPr>
          <a:xfrm>
            <a:off x="5669280" y="2450592"/>
            <a:ext cx="1435608" cy="365760"/>
          </a:xfrm>
          <a:prstGeom prst="roundRect">
            <a:avLst>
              <a:gd name="adj" fmla="val 20000"/>
            </a:avLst>
          </a:prstGeom>
          <a:solidFill>
            <a:srgbClr val="2D241B"/>
          </a:solidFill>
          <a:ln w="9525">
            <a:solidFill>
              <a:srgbClr val="4A3C2C"/>
            </a:solidFill>
            <a:prstDash val="solid"/>
          </a:ln>
        </p:spPr>
      </p:sp>
      <p:sp>
        <p:nvSpPr>
          <p:cNvPr id="24" name="Text 21"/>
          <p:cNvSpPr txBox="1"/>
          <p:nvPr/>
        </p:nvSpPr>
        <p:spPr>
          <a:xfrm>
            <a:off x="5742432" y="2450592"/>
            <a:ext cx="1344168" cy="365760"/>
          </a:xfrm>
          <a:prstGeom prst="rect">
            <a:avLst/>
          </a:prstGeom>
          <a:noFill/>
          <a:ln/>
        </p:spPr>
        <p:txBody>
          <a:bodyPr wrap="square" lIns="0" tIns="0" rIns="0" bIns="0" rtlCol="0" anchor="ctr"/>
          <a:lstStyle/>
          <a:p>
            <a:pPr indent="0" marL="0">
              <a:buNone/>
            </a:pPr>
            <a:r>
              <a:rPr lang="en-US" sz="1000" b="1" dirty="0">
                <a:solidFill>
                  <a:srgbClr val="F7C85C"/>
                </a:solidFill>
                <a:latin typeface="Courier New" pitchFamily="34" charset="0"/>
                <a:ea typeface="Courier New" pitchFamily="34" charset="-122"/>
                <a:cs typeface="Courier New" pitchFamily="34" charset="-120"/>
              </a:rPr>
              <a:t>tag</a:t>
            </a:r>
            <a:pPr indent="0" marL="0">
              <a:buNone/>
            </a:pPr>
            <a:r>
              <a:rPr lang="en-US" sz="850" dirty="0">
                <a:solidFill>
                  <a:srgbClr val="B5A994"/>
                </a:solidFill>
                <a:latin typeface="Calibri" pitchFamily="34" charset="0"/>
                <a:ea typeface="Calibri" pitchFamily="34" charset="-122"/>
                <a:cs typeface="Calibri" pitchFamily="34" charset="-120"/>
              </a:rPr>
              <a:t>  suggest tags</a:t>
            </a:r>
            <a:endParaRPr lang="en-US" sz="1000" dirty="0"/>
          </a:p>
        </p:txBody>
      </p:sp>
      <p:sp>
        <p:nvSpPr>
          <p:cNvPr id="25" name="Shape 22"/>
          <p:cNvSpPr/>
          <p:nvPr/>
        </p:nvSpPr>
        <p:spPr>
          <a:xfrm>
            <a:off x="7196328" y="2450592"/>
            <a:ext cx="1435608" cy="365760"/>
          </a:xfrm>
          <a:prstGeom prst="roundRect">
            <a:avLst>
              <a:gd name="adj" fmla="val 20000"/>
            </a:avLst>
          </a:prstGeom>
          <a:solidFill>
            <a:srgbClr val="2D241B"/>
          </a:solidFill>
          <a:ln w="9525">
            <a:solidFill>
              <a:srgbClr val="4A3C2C"/>
            </a:solidFill>
            <a:prstDash val="solid"/>
          </a:ln>
        </p:spPr>
      </p:sp>
      <p:sp>
        <p:nvSpPr>
          <p:cNvPr id="26" name="Text 23"/>
          <p:cNvSpPr txBox="1"/>
          <p:nvPr/>
        </p:nvSpPr>
        <p:spPr>
          <a:xfrm>
            <a:off x="7269480" y="2450592"/>
            <a:ext cx="1344168" cy="365760"/>
          </a:xfrm>
          <a:prstGeom prst="rect">
            <a:avLst/>
          </a:prstGeom>
          <a:noFill/>
          <a:ln/>
        </p:spPr>
        <p:txBody>
          <a:bodyPr wrap="square" lIns="0" tIns="0" rIns="0" bIns="0" rtlCol="0" anchor="ctr"/>
          <a:lstStyle/>
          <a:p>
            <a:pPr indent="0" marL="0">
              <a:buNone/>
            </a:pPr>
            <a:r>
              <a:rPr lang="en-US" sz="1000" b="1" dirty="0">
                <a:solidFill>
                  <a:srgbClr val="F7C85C"/>
                </a:solidFill>
                <a:latin typeface="Courier New" pitchFamily="34" charset="0"/>
                <a:ea typeface="Courier New" pitchFamily="34" charset="-122"/>
                <a:cs typeface="Courier New" pitchFamily="34" charset="-120"/>
              </a:rPr>
              <a:t>explain</a:t>
            </a:r>
            <a:pPr indent="0" marL="0">
              <a:buNone/>
            </a:pPr>
            <a:r>
              <a:rPr lang="en-US" sz="850" dirty="0">
                <a:solidFill>
                  <a:srgbClr val="B5A994"/>
                </a:solidFill>
                <a:latin typeface="Calibri" pitchFamily="34" charset="0"/>
                <a:ea typeface="Calibri" pitchFamily="34" charset="-122"/>
                <a:cs typeface="Calibri" pitchFamily="34" charset="-120"/>
              </a:rPr>
              <a:t>  why can I see it</a:t>
            </a:r>
            <a:endParaRPr lang="en-US" sz="1000" dirty="0"/>
          </a:p>
        </p:txBody>
      </p:sp>
      <p:sp>
        <p:nvSpPr>
          <p:cNvPr id="27" name="Text 24"/>
          <p:cNvSpPr txBox="1"/>
          <p:nvPr/>
        </p:nvSpPr>
        <p:spPr>
          <a:xfrm>
            <a:off x="5669280" y="2999232"/>
            <a:ext cx="3017520" cy="182880"/>
          </a:xfrm>
          <a:prstGeom prst="rect">
            <a:avLst/>
          </a:prstGeom>
          <a:noFill/>
          <a:ln/>
        </p:spPr>
        <p:txBody>
          <a:bodyPr wrap="square" lIns="0" tIns="0" rIns="0" bIns="0" rtlCol="0" anchor="t"/>
          <a:lstStyle/>
          <a:p>
            <a:pPr indent="0" marL="0">
              <a:buNone/>
            </a:pPr>
            <a:r>
              <a:rPr lang="en-US" sz="900" b="1" spc="200" kern="0" dirty="0">
                <a:solidFill>
                  <a:srgbClr val="B5A994"/>
                </a:solidFill>
                <a:latin typeface="Calibri" pitchFamily="34" charset="0"/>
                <a:ea typeface="Calibri" pitchFamily="34" charset="-122"/>
                <a:cs typeface="Calibri" pitchFamily="34" charset="-120"/>
              </a:rPr>
              <a:t>SKILLS</a:t>
            </a:r>
            <a:endParaRPr lang="en-US" sz="900" dirty="0"/>
          </a:p>
        </p:txBody>
      </p:sp>
      <p:sp>
        <p:nvSpPr>
          <p:cNvPr id="28" name="Text 25"/>
          <p:cNvSpPr txBox="1"/>
          <p:nvPr/>
        </p:nvSpPr>
        <p:spPr>
          <a:xfrm>
            <a:off x="5669280" y="3218688"/>
            <a:ext cx="3017520" cy="548640"/>
          </a:xfrm>
          <a:prstGeom prst="rect">
            <a:avLst/>
          </a:prstGeom>
          <a:noFill/>
          <a:ln/>
        </p:spPr>
        <p:txBody>
          <a:bodyPr wrap="square" lIns="0" tIns="0" rIns="0" bIns="0" rtlCol="0" anchor="t"/>
          <a:lstStyle/>
          <a:p>
            <a:pPr indent="0" marL="0">
              <a:buNone/>
            </a:pPr>
            <a:r>
              <a:rPr lang="en-US" sz="950" dirty="0">
                <a:solidFill>
                  <a:srgbClr val="F7C85C"/>
                </a:solidFill>
                <a:latin typeface="Courier New" pitchFamily="34" charset="0"/>
                <a:ea typeface="Courier New" pitchFamily="34" charset="-122"/>
                <a:cs typeface="Courier New" pitchFamily="34" charset="-120"/>
              </a:rPr>
              <a:t>find-and-open</a:t>
            </a:r>
            <a:endParaRPr lang="en-US" sz="950" dirty="0"/>
          </a:p>
          <a:p>
            <a:pPr indent="0" marL="0">
              <a:buNone/>
            </a:pPr>
            <a:r>
              <a:rPr lang="en-US" sz="950" dirty="0">
                <a:solidFill>
                  <a:srgbClr val="F7C85C"/>
                </a:solidFill>
                <a:latin typeface="Courier New" pitchFamily="34" charset="0"/>
                <a:ea typeface="Courier New" pitchFamily="34" charset="-122"/>
                <a:cs typeface="Courier New" pitchFamily="34" charset="-120"/>
              </a:rPr>
              <a:t>catch-me-up</a:t>
            </a:r>
            <a:endParaRPr lang="en-US" sz="950" dirty="0"/>
          </a:p>
          <a:p>
            <a:pPr indent="0" marL="0">
              <a:buNone/>
            </a:pPr>
            <a:r>
              <a:rPr lang="en-US" sz="950" dirty="0">
                <a:solidFill>
                  <a:srgbClr val="F7C85C"/>
                </a:solidFill>
                <a:latin typeface="Courier New" pitchFamily="34" charset="0"/>
                <a:ea typeface="Courier New" pitchFamily="34" charset="-122"/>
                <a:cs typeface="Courier New" pitchFamily="34" charset="-120"/>
              </a:rPr>
              <a:t>who-can-see-this</a:t>
            </a:r>
            <a:endParaRPr lang="en-US" sz="950" dirty="0"/>
          </a:p>
        </p:txBody>
      </p:sp>
      <p:sp>
        <p:nvSpPr>
          <p:cNvPr id="29" name="Text 26"/>
          <p:cNvSpPr txBox="1"/>
          <p:nvPr/>
        </p:nvSpPr>
        <p:spPr>
          <a:xfrm>
            <a:off x="5669280" y="3886200"/>
            <a:ext cx="3017520" cy="640080"/>
          </a:xfrm>
          <a:prstGeom prst="rect">
            <a:avLst/>
          </a:prstGeom>
          <a:noFill/>
          <a:ln/>
        </p:spPr>
        <p:txBody>
          <a:bodyPr wrap="square" lIns="0" tIns="0" rIns="0" bIns="0" rtlCol="0" anchor="t"/>
          <a:lstStyle/>
          <a:p>
            <a:pPr indent="0" marL="0">
              <a:buNone/>
            </a:pPr>
            <a:r>
              <a:rPr lang="en-US" sz="1050" dirty="0">
                <a:solidFill>
                  <a:srgbClr val="F5EEE3"/>
                </a:solidFill>
                <a:latin typeface="Calibri" pitchFamily="34" charset="0"/>
                <a:ea typeface="Calibri" pitchFamily="34" charset="-122"/>
                <a:cs typeface="Calibri" pitchFamily="34" charset="-120"/>
              </a:rPr>
              <a:t>Each assistant connects as the signed-in person, with its own admin approval and token budget.</a:t>
            </a:r>
            <a:endParaRPr lang="en-US" sz="1050" dirty="0"/>
          </a:p>
        </p:txBody>
      </p:sp>
      <p:pic>
        <p:nvPicPr>
          <p:cNvPr id="30" name="Image 1" descr="preencoded.png">    </p:cNvPr>
          <p:cNvPicPr>
            <a:picLocks noChangeAspect="1"/>
          </p:cNvPicPr>
          <p:nvPr/>
        </p:nvPicPr>
        <p:blipFill>
          <a:blip r:embed="rId2"/>
          <a:stretch>
            <a:fillRect/>
          </a:stretch>
        </p:blipFill>
        <p:spPr>
          <a:xfrm>
            <a:off x="457200" y="4754880"/>
            <a:ext cx="182880" cy="182880"/>
          </a:xfrm>
          <a:prstGeom prst="rect">
            <a:avLst/>
          </a:prstGeom>
        </p:spPr>
      </p:pic>
      <p:sp>
        <p:nvSpPr>
          <p:cNvPr id="31" name="Text 27"/>
          <p:cNvSpPr txBox="1"/>
          <p:nvPr/>
        </p:nvSpPr>
        <p:spPr>
          <a:xfrm>
            <a:off x="694944" y="4754880"/>
            <a:ext cx="1828800" cy="182880"/>
          </a:xfrm>
          <a:prstGeom prst="rect">
            <a:avLst/>
          </a:prstGeom>
          <a:noFill/>
          <a:ln/>
        </p:spPr>
        <p:txBody>
          <a:bodyPr wrap="square" lIns="0" tIns="0" rIns="0" bIns="0" rtlCol="0" anchor="ctr"/>
          <a:lstStyle/>
          <a:p>
            <a:pPr indent="0" marL="0">
              <a:buNone/>
            </a:pPr>
            <a:r>
              <a:rPr lang="en-US" sz="900" dirty="0">
                <a:solidFill>
                  <a:srgbClr val="B5A994"/>
                </a:solidFill>
                <a:latin typeface="Calibri" pitchFamily="34" charset="0"/>
                <a:ea typeface="Calibri" pitchFamily="34" charset="-122"/>
                <a:cs typeface="Calibri" pitchFamily="34" charset="-120"/>
              </a:rPr>
              <a:t>OpenHoard</a:t>
            </a:r>
            <a:endParaRPr lang="en-US" sz="900" dirty="0"/>
          </a:p>
        </p:txBody>
      </p:sp>
      <p:sp>
        <p:nvSpPr>
          <p:cNvPr id="32" name="Text 28"/>
          <p:cNvSpPr txBox="1"/>
          <p:nvPr/>
        </p:nvSpPr>
        <p:spPr>
          <a:xfrm>
            <a:off x="7772400" y="4754880"/>
            <a:ext cx="914400" cy="182880"/>
          </a:xfrm>
          <a:prstGeom prst="rect">
            <a:avLst/>
          </a:prstGeom>
          <a:noFill/>
          <a:ln/>
        </p:spPr>
        <p:txBody>
          <a:bodyPr wrap="square" lIns="0" tIns="0" rIns="0" bIns="0" rtlCol="0" anchor="ctr"/>
          <a:lstStyle/>
          <a:p>
            <a:pPr algn="r" indent="0" marL="0">
              <a:buNone/>
            </a:pPr>
            <a:r>
              <a:rPr lang="en-US" sz="900" dirty="0">
                <a:solidFill>
                  <a:srgbClr val="B5A99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110D"/>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indent="0" marL="0">
              <a:buNone/>
            </a:pPr>
            <a:r>
              <a:rPr lang="en-US" sz="1000" b="1" spc="400" kern="0" dirty="0">
                <a:solidFill>
                  <a:srgbClr val="F2A93B"/>
                </a:solidFill>
                <a:latin typeface="Calibri" pitchFamily="34" charset="0"/>
                <a:ea typeface="Calibri" pitchFamily="34" charset="-122"/>
                <a:cs typeface="Calibri" pitchFamily="34" charset="-120"/>
              </a:rPr>
              <a:t>OPERATIONS</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800" b="1" dirty="0">
                <a:solidFill>
                  <a:srgbClr val="F5EEE3"/>
                </a:solidFill>
                <a:latin typeface="Cambria" pitchFamily="34" charset="0"/>
                <a:ea typeface="Cambria" pitchFamily="34" charset="-122"/>
                <a:cs typeface="Cambria" pitchFamily="34" charset="-120"/>
              </a:rPr>
              <a:t>Fits your stack: no Docker, no black box</a:t>
            </a:r>
            <a:endParaRPr lang="en-US" sz="2800" dirty="0"/>
          </a:p>
        </p:txBody>
      </p:sp>
      <p:sp>
        <p:nvSpPr>
          <p:cNvPr id="4" name="Shape 2"/>
          <p:cNvSpPr/>
          <p:nvPr/>
        </p:nvSpPr>
        <p:spPr>
          <a:xfrm>
            <a:off x="457200" y="1280160"/>
            <a:ext cx="4069080" cy="2514600"/>
          </a:xfrm>
          <a:prstGeom prst="roundRect">
            <a:avLst>
              <a:gd name="adj" fmla="val 2909"/>
            </a:avLst>
          </a:prstGeom>
          <a:solidFill>
            <a:srgbClr val="221B14"/>
          </a:solidFill>
          <a:ln w="9525">
            <a:solidFill>
              <a:srgbClr val="4A3C2C"/>
            </a:solidFill>
            <a:prstDash val="solid"/>
          </a:ln>
        </p:spPr>
      </p:sp>
      <p:pic>
        <p:nvPicPr>
          <p:cNvPr id="5" name="Image 0" descr="preencoded.png">    </p:cNvPr>
          <p:cNvPicPr>
            <a:picLocks noChangeAspect="1"/>
          </p:cNvPicPr>
          <p:nvPr/>
        </p:nvPicPr>
        <p:blipFill>
          <a:blip r:embed="rId1"/>
          <a:stretch>
            <a:fillRect/>
          </a:stretch>
        </p:blipFill>
        <p:spPr>
          <a:xfrm>
            <a:off x="640080" y="1417320"/>
            <a:ext cx="530352" cy="530352"/>
          </a:xfrm>
          <a:prstGeom prst="rect">
            <a:avLst/>
          </a:prstGeom>
        </p:spPr>
      </p:pic>
      <p:sp>
        <p:nvSpPr>
          <p:cNvPr id="6" name="Text 3"/>
          <p:cNvSpPr txBox="1"/>
          <p:nvPr/>
        </p:nvSpPr>
        <p:spPr>
          <a:xfrm>
            <a:off x="1298448" y="1536192"/>
            <a:ext cx="3017520" cy="292608"/>
          </a:xfrm>
          <a:prstGeom prst="rect">
            <a:avLst/>
          </a:prstGeom>
          <a:noFill/>
          <a:ln/>
        </p:spPr>
        <p:txBody>
          <a:bodyPr wrap="square" lIns="0" tIns="0" rIns="0" bIns="0" rtlCol="0" anchor="t"/>
          <a:lstStyle/>
          <a:p>
            <a:pPr indent="0" marL="0">
              <a:buNone/>
            </a:pPr>
            <a:r>
              <a:rPr lang="en-US" sz="1500" b="1" dirty="0">
                <a:solidFill>
                  <a:srgbClr val="F5EEE3"/>
                </a:solidFill>
                <a:latin typeface="Calibri" pitchFamily="34" charset="0"/>
                <a:ea typeface="Calibri" pitchFamily="34" charset="-122"/>
                <a:cs typeface="Calibri" pitchFamily="34" charset="-120"/>
              </a:rPr>
              <a:t>Identity and admin</a:t>
            </a:r>
            <a:endParaRPr lang="en-US" sz="1500" dirty="0"/>
          </a:p>
        </p:txBody>
      </p:sp>
      <p:sp>
        <p:nvSpPr>
          <p:cNvPr id="7" name="Text 4"/>
          <p:cNvSpPr txBox="1"/>
          <p:nvPr/>
        </p:nvSpPr>
        <p:spPr>
          <a:xfrm>
            <a:off x="640080" y="2103120"/>
            <a:ext cx="3703320" cy="160020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F5EEE3"/>
                </a:solidFill>
                <a:latin typeface="Calibri" pitchFamily="34" charset="0"/>
                <a:ea typeface="Calibri" pitchFamily="34" charset="-122"/>
                <a:cs typeface="Calibri" pitchFamily="34" charset="-120"/>
              </a:rPr>
              <a:t>Entra ID or any OIDC single sign-on</a:t>
            </a:r>
            <a:endParaRPr lang="en-US" sz="1150" dirty="0"/>
          </a:p>
          <a:p>
            <a:pPr marL="152400" indent="-152400">
              <a:spcAft>
                <a:spcPts val="500"/>
              </a:spcAft>
              <a:buSzPct val="100000"/>
              <a:buChar char="•"/>
            </a:pPr>
            <a:r>
              <a:rPr lang="en-US" sz="1150" dirty="0">
                <a:solidFill>
                  <a:srgbClr val="F5EEE3"/>
                </a:solidFill>
                <a:latin typeface="Calibri" pitchFamily="34" charset="0"/>
                <a:ea typeface="Calibri" pitchFamily="34" charset="-122"/>
                <a:cs typeface="Calibri" pitchFamily="34" charset="-120"/>
              </a:rPr>
              <a:t>SCIM 2.0 users and groups</a:t>
            </a:r>
            <a:endParaRPr lang="en-US" sz="1150" dirty="0"/>
          </a:p>
          <a:p>
            <a:pPr marL="152400" indent="-152400">
              <a:spcAft>
                <a:spcPts val="500"/>
              </a:spcAft>
              <a:buSzPct val="100000"/>
              <a:buChar char="•"/>
            </a:pPr>
            <a:r>
              <a:rPr lang="en-US" sz="1150" dirty="0">
                <a:solidFill>
                  <a:srgbClr val="F5EEE3"/>
                </a:solidFill>
                <a:latin typeface="Calibri" pitchFamily="34" charset="0"/>
                <a:ea typeface="Calibri" pitchFamily="34" charset="-122"/>
                <a:cs typeface="Calibri" pitchFamily="34" charset="-120"/>
              </a:rPr>
              <a:t>Admins granted through an IdP group</a:t>
            </a:r>
            <a:endParaRPr lang="en-US" sz="1150" dirty="0"/>
          </a:p>
          <a:p>
            <a:pPr marL="152400" indent="-152400">
              <a:spcAft>
                <a:spcPts val="500"/>
              </a:spcAft>
              <a:buSzPct val="100000"/>
              <a:buChar char="•"/>
            </a:pPr>
            <a:r>
              <a:rPr lang="en-US" sz="1150" dirty="0">
                <a:solidFill>
                  <a:srgbClr val="F5EEE3"/>
                </a:solidFill>
                <a:latin typeface="Calibri" pitchFamily="34" charset="0"/>
                <a:ea typeface="Calibri" pitchFamily="34" charset="-122"/>
                <a:cs typeface="Calibri" pitchFamily="34" charset="-120"/>
              </a:rPr>
              <a:t>Service accounts with scoped API keys</a:t>
            </a:r>
            <a:endParaRPr lang="en-US" sz="1150" dirty="0"/>
          </a:p>
          <a:p>
            <a:pPr marL="152400" indent="-152400">
              <a:spcAft>
                <a:spcPts val="500"/>
              </a:spcAft>
              <a:buSzPct val="100000"/>
              <a:buChar char="•"/>
            </a:pPr>
            <a:r>
              <a:rPr lang="en-US" sz="1150" dirty="0">
                <a:solidFill>
                  <a:srgbClr val="F5EEE3"/>
                </a:solidFill>
                <a:latin typeface="Calibri" pitchFamily="34" charset="0"/>
                <a:ea typeface="Calibri" pitchFamily="34" charset="-122"/>
                <a:cs typeface="Calibri" pitchFamily="34" charset="-120"/>
              </a:rPr>
              <a:t>Admin CLI today, web console next</a:t>
            </a:r>
            <a:endParaRPr lang="en-US" sz="1150" dirty="0"/>
          </a:p>
        </p:txBody>
      </p:sp>
      <p:sp>
        <p:nvSpPr>
          <p:cNvPr id="8" name="Shape 5"/>
          <p:cNvSpPr/>
          <p:nvPr/>
        </p:nvSpPr>
        <p:spPr>
          <a:xfrm>
            <a:off x="4663440" y="1280160"/>
            <a:ext cx="4069080" cy="2514600"/>
          </a:xfrm>
          <a:prstGeom prst="roundRect">
            <a:avLst>
              <a:gd name="adj" fmla="val 2909"/>
            </a:avLst>
          </a:prstGeom>
          <a:solidFill>
            <a:srgbClr val="221B14"/>
          </a:solidFill>
          <a:ln w="9525">
            <a:solidFill>
              <a:srgbClr val="4A3C2C"/>
            </a:solidFill>
            <a:prstDash val="solid"/>
          </a:ln>
        </p:spPr>
      </p:sp>
      <p:pic>
        <p:nvPicPr>
          <p:cNvPr id="9" name="Image 1" descr="preencoded.png">    </p:cNvPr>
          <p:cNvPicPr>
            <a:picLocks noChangeAspect="1"/>
          </p:cNvPicPr>
          <p:nvPr/>
        </p:nvPicPr>
        <p:blipFill>
          <a:blip r:embed="rId2"/>
          <a:stretch>
            <a:fillRect/>
          </a:stretch>
        </p:blipFill>
        <p:spPr>
          <a:xfrm>
            <a:off x="4846320" y="1417320"/>
            <a:ext cx="530352" cy="530352"/>
          </a:xfrm>
          <a:prstGeom prst="rect">
            <a:avLst/>
          </a:prstGeom>
        </p:spPr>
      </p:pic>
      <p:sp>
        <p:nvSpPr>
          <p:cNvPr id="10" name="Text 6"/>
          <p:cNvSpPr txBox="1"/>
          <p:nvPr/>
        </p:nvSpPr>
        <p:spPr>
          <a:xfrm>
            <a:off x="5504688" y="1536192"/>
            <a:ext cx="3017520" cy="292608"/>
          </a:xfrm>
          <a:prstGeom prst="rect">
            <a:avLst/>
          </a:prstGeom>
          <a:noFill/>
          <a:ln/>
        </p:spPr>
        <p:txBody>
          <a:bodyPr wrap="square" lIns="0" tIns="0" rIns="0" bIns="0" rtlCol="0" anchor="t"/>
          <a:lstStyle/>
          <a:p>
            <a:pPr indent="0" marL="0">
              <a:buNone/>
            </a:pPr>
            <a:r>
              <a:rPr lang="en-US" sz="1500" b="1" dirty="0">
                <a:solidFill>
                  <a:srgbClr val="F5EEE3"/>
                </a:solidFill>
                <a:latin typeface="Calibri" pitchFamily="34" charset="0"/>
                <a:ea typeface="Calibri" pitchFamily="34" charset="-122"/>
                <a:cs typeface="Calibri" pitchFamily="34" charset="-120"/>
              </a:rPr>
              <a:t>Runs on</a:t>
            </a:r>
            <a:endParaRPr lang="en-US" sz="1500" dirty="0"/>
          </a:p>
        </p:txBody>
      </p:sp>
      <p:sp>
        <p:nvSpPr>
          <p:cNvPr id="11" name="Text 7"/>
          <p:cNvSpPr txBox="1"/>
          <p:nvPr/>
        </p:nvSpPr>
        <p:spPr>
          <a:xfrm>
            <a:off x="4846320" y="2103120"/>
            <a:ext cx="3703320" cy="160020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F5EEE3"/>
                </a:solidFill>
                <a:latin typeface="Calibri" pitchFamily="34" charset="0"/>
                <a:ea typeface="Calibri" pitchFamily="34" charset="-122"/>
                <a:cs typeface="Calibri" pitchFamily="34" charset="-120"/>
              </a:rPr>
              <a:t>Windows, macOS or Linux</a:t>
            </a:r>
            <a:endParaRPr lang="en-US" sz="1150" dirty="0"/>
          </a:p>
          <a:p>
            <a:pPr marL="152400" indent="-152400">
              <a:spcAft>
                <a:spcPts val="500"/>
              </a:spcAft>
              <a:buSzPct val="100000"/>
              <a:buChar char="•"/>
            </a:pPr>
            <a:r>
              <a:rPr lang="en-US" sz="1150" dirty="0">
                <a:solidFill>
                  <a:srgbClr val="F5EEE3"/>
                </a:solidFill>
                <a:latin typeface="Calibri" pitchFamily="34" charset="0"/>
                <a:ea typeface="Calibri" pitchFamily="34" charset="-122"/>
                <a:cs typeface="Calibri" pitchFamily="34" charset="-120"/>
              </a:rPr>
              <a:t>Node 24 + PostgreSQL 17+ with pgvector</a:t>
            </a:r>
            <a:endParaRPr lang="en-US" sz="1150" dirty="0"/>
          </a:p>
          <a:p>
            <a:pPr marL="152400" indent="-152400">
              <a:spcAft>
                <a:spcPts val="500"/>
              </a:spcAft>
              <a:buSzPct val="100000"/>
              <a:buChar char="•"/>
            </a:pPr>
            <a:r>
              <a:rPr lang="en-US" sz="1150" dirty="0">
                <a:solidFill>
                  <a:srgbClr val="F5EEE3"/>
                </a:solidFill>
                <a:latin typeface="Calibri" pitchFamily="34" charset="0"/>
                <a:ea typeface="Calibri" pitchFamily="34" charset="-122"/>
                <a:cs typeface="Calibri" pitchFamily="34" charset="-120"/>
              </a:rPr>
              <a:t>Single-box mode with embedded Postgres</a:t>
            </a:r>
            <a:endParaRPr lang="en-US" sz="1150" dirty="0"/>
          </a:p>
          <a:p>
            <a:pPr marL="152400" indent="-152400">
              <a:spcAft>
                <a:spcPts val="500"/>
              </a:spcAft>
              <a:buSzPct val="100000"/>
              <a:buChar char="•"/>
            </a:pPr>
            <a:r>
              <a:rPr lang="en-US" sz="1150" dirty="0">
                <a:solidFill>
                  <a:srgbClr val="F5EEE3"/>
                </a:solidFill>
                <a:latin typeface="Calibri" pitchFamily="34" charset="0"/>
                <a:ea typeface="Calibri" pitchFamily="34" charset="-122"/>
                <a:cs typeface="Calibri" pitchFamily="34" charset="-120"/>
              </a:rPr>
              <a:t>Storage: S3, Azure Blob or local disk</a:t>
            </a:r>
            <a:endParaRPr lang="en-US" sz="1150" dirty="0"/>
          </a:p>
          <a:p>
            <a:pPr marL="152400" indent="-152400">
              <a:spcAft>
                <a:spcPts val="500"/>
              </a:spcAft>
              <a:buSzPct val="100000"/>
              <a:buChar char="•"/>
            </a:pPr>
            <a:r>
              <a:rPr lang="en-US" sz="1150" dirty="0">
                <a:solidFill>
                  <a:srgbClr val="F5EEE3"/>
                </a:solidFill>
                <a:latin typeface="Calibri" pitchFamily="34" charset="0"/>
                <a:ea typeface="Calibri" pitchFamily="34" charset="-122"/>
                <a:cs typeface="Calibri" pitchFamily="34" charset="-120"/>
              </a:rPr>
              <a:t>AI: Claude, OpenAI-compatible or local Ollama, with daily token budgets</a:t>
            </a:r>
            <a:endParaRPr lang="en-US" sz="1150" dirty="0"/>
          </a:p>
        </p:txBody>
      </p:sp>
      <p:sp>
        <p:nvSpPr>
          <p:cNvPr id="12" name="Shape 8"/>
          <p:cNvSpPr/>
          <p:nvPr/>
        </p:nvSpPr>
        <p:spPr>
          <a:xfrm>
            <a:off x="457200" y="4069080"/>
            <a:ext cx="950976" cy="329184"/>
          </a:xfrm>
          <a:prstGeom prst="roundRect">
            <a:avLst>
              <a:gd name="adj" fmla="val 27778"/>
            </a:avLst>
          </a:prstGeom>
          <a:solidFill>
            <a:srgbClr val="2D241B"/>
          </a:solidFill>
          <a:ln w="9525">
            <a:solidFill>
              <a:srgbClr val="4A3C2C"/>
            </a:solidFill>
            <a:prstDash val="solid"/>
          </a:ln>
        </p:spPr>
      </p:sp>
      <p:sp>
        <p:nvSpPr>
          <p:cNvPr id="13" name="Text 9"/>
          <p:cNvSpPr txBox="1"/>
          <p:nvPr/>
        </p:nvSpPr>
        <p:spPr>
          <a:xfrm>
            <a:off x="457200" y="4069080"/>
            <a:ext cx="950976" cy="329184"/>
          </a:xfrm>
          <a:prstGeom prst="rect">
            <a:avLst/>
          </a:prstGeom>
          <a:noFill/>
          <a:ln/>
        </p:spPr>
        <p:txBody>
          <a:bodyPr wrap="square" lIns="0" tIns="0" rIns="0" bIns="0" rtlCol="0" anchor="ctr"/>
          <a:lstStyle/>
          <a:p>
            <a:pPr algn="ctr" indent="0" marL="0">
              <a:buNone/>
            </a:pPr>
            <a:r>
              <a:rPr lang="en-US" sz="950" b="1" dirty="0">
                <a:solidFill>
                  <a:srgbClr val="F7C85C"/>
                </a:solidFill>
                <a:latin typeface="Calibri" pitchFamily="34" charset="0"/>
                <a:ea typeface="Calibri" pitchFamily="34" charset="-122"/>
                <a:cs typeface="Calibri" pitchFamily="34" charset="-120"/>
              </a:rPr>
              <a:t>TypeScript</a:t>
            </a:r>
            <a:endParaRPr lang="en-US" sz="950" dirty="0"/>
          </a:p>
        </p:txBody>
      </p:sp>
      <p:sp>
        <p:nvSpPr>
          <p:cNvPr id="14" name="Shape 10"/>
          <p:cNvSpPr/>
          <p:nvPr/>
        </p:nvSpPr>
        <p:spPr>
          <a:xfrm>
            <a:off x="1499616" y="4069080"/>
            <a:ext cx="950976" cy="329184"/>
          </a:xfrm>
          <a:prstGeom prst="roundRect">
            <a:avLst>
              <a:gd name="adj" fmla="val 27778"/>
            </a:avLst>
          </a:prstGeom>
          <a:solidFill>
            <a:srgbClr val="2D241B"/>
          </a:solidFill>
          <a:ln w="9525">
            <a:solidFill>
              <a:srgbClr val="4A3C2C"/>
            </a:solidFill>
            <a:prstDash val="solid"/>
          </a:ln>
        </p:spPr>
      </p:sp>
      <p:sp>
        <p:nvSpPr>
          <p:cNvPr id="15" name="Text 11"/>
          <p:cNvSpPr txBox="1"/>
          <p:nvPr/>
        </p:nvSpPr>
        <p:spPr>
          <a:xfrm>
            <a:off x="1499616" y="4069080"/>
            <a:ext cx="950976" cy="329184"/>
          </a:xfrm>
          <a:prstGeom prst="rect">
            <a:avLst/>
          </a:prstGeom>
          <a:noFill/>
          <a:ln/>
        </p:spPr>
        <p:txBody>
          <a:bodyPr wrap="square" lIns="0" tIns="0" rIns="0" bIns="0" rtlCol="0" anchor="ctr"/>
          <a:lstStyle/>
          <a:p>
            <a:pPr algn="ctr" indent="0" marL="0">
              <a:buNone/>
            </a:pPr>
            <a:r>
              <a:rPr lang="en-US" sz="950" b="1" dirty="0">
                <a:solidFill>
                  <a:srgbClr val="F7C85C"/>
                </a:solidFill>
                <a:latin typeface="Calibri" pitchFamily="34" charset="0"/>
                <a:ea typeface="Calibri" pitchFamily="34" charset="-122"/>
                <a:cs typeface="Calibri" pitchFamily="34" charset="-120"/>
              </a:rPr>
              <a:t>Node 24</a:t>
            </a:r>
            <a:endParaRPr lang="en-US" sz="950" dirty="0"/>
          </a:p>
        </p:txBody>
      </p:sp>
      <p:sp>
        <p:nvSpPr>
          <p:cNvPr id="16" name="Shape 12"/>
          <p:cNvSpPr/>
          <p:nvPr/>
        </p:nvSpPr>
        <p:spPr>
          <a:xfrm>
            <a:off x="2542032" y="4069080"/>
            <a:ext cx="950976" cy="329184"/>
          </a:xfrm>
          <a:prstGeom prst="roundRect">
            <a:avLst>
              <a:gd name="adj" fmla="val 27778"/>
            </a:avLst>
          </a:prstGeom>
          <a:solidFill>
            <a:srgbClr val="2D241B"/>
          </a:solidFill>
          <a:ln w="9525">
            <a:solidFill>
              <a:srgbClr val="4A3C2C"/>
            </a:solidFill>
            <a:prstDash val="solid"/>
          </a:ln>
        </p:spPr>
      </p:sp>
      <p:sp>
        <p:nvSpPr>
          <p:cNvPr id="17" name="Text 13"/>
          <p:cNvSpPr txBox="1"/>
          <p:nvPr/>
        </p:nvSpPr>
        <p:spPr>
          <a:xfrm>
            <a:off x="2542032" y="4069080"/>
            <a:ext cx="950976" cy="329184"/>
          </a:xfrm>
          <a:prstGeom prst="rect">
            <a:avLst/>
          </a:prstGeom>
          <a:noFill/>
          <a:ln/>
        </p:spPr>
        <p:txBody>
          <a:bodyPr wrap="square" lIns="0" tIns="0" rIns="0" bIns="0" rtlCol="0" anchor="ctr"/>
          <a:lstStyle/>
          <a:p>
            <a:pPr algn="ctr" indent="0" marL="0">
              <a:buNone/>
            </a:pPr>
            <a:r>
              <a:rPr lang="en-US" sz="950" b="1" dirty="0">
                <a:solidFill>
                  <a:srgbClr val="F7C85C"/>
                </a:solidFill>
                <a:latin typeface="Calibri" pitchFamily="34" charset="0"/>
                <a:ea typeface="Calibri" pitchFamily="34" charset="-122"/>
                <a:cs typeface="Calibri" pitchFamily="34" charset="-120"/>
              </a:rPr>
              <a:t>PostgreSQL</a:t>
            </a:r>
            <a:endParaRPr lang="en-US" sz="950" dirty="0"/>
          </a:p>
        </p:txBody>
      </p:sp>
      <p:sp>
        <p:nvSpPr>
          <p:cNvPr id="18" name="Shape 14"/>
          <p:cNvSpPr/>
          <p:nvPr/>
        </p:nvSpPr>
        <p:spPr>
          <a:xfrm>
            <a:off x="3584448" y="4069080"/>
            <a:ext cx="950976" cy="329184"/>
          </a:xfrm>
          <a:prstGeom prst="roundRect">
            <a:avLst>
              <a:gd name="adj" fmla="val 27778"/>
            </a:avLst>
          </a:prstGeom>
          <a:solidFill>
            <a:srgbClr val="2D241B"/>
          </a:solidFill>
          <a:ln w="9525">
            <a:solidFill>
              <a:srgbClr val="4A3C2C"/>
            </a:solidFill>
            <a:prstDash val="solid"/>
          </a:ln>
        </p:spPr>
      </p:sp>
      <p:sp>
        <p:nvSpPr>
          <p:cNvPr id="19" name="Text 15"/>
          <p:cNvSpPr txBox="1"/>
          <p:nvPr/>
        </p:nvSpPr>
        <p:spPr>
          <a:xfrm>
            <a:off x="3584448" y="4069080"/>
            <a:ext cx="950976" cy="329184"/>
          </a:xfrm>
          <a:prstGeom prst="rect">
            <a:avLst/>
          </a:prstGeom>
          <a:noFill/>
          <a:ln/>
        </p:spPr>
        <p:txBody>
          <a:bodyPr wrap="square" lIns="0" tIns="0" rIns="0" bIns="0" rtlCol="0" anchor="ctr"/>
          <a:lstStyle/>
          <a:p>
            <a:pPr algn="ctr" indent="0" marL="0">
              <a:buNone/>
            </a:pPr>
            <a:r>
              <a:rPr lang="en-US" sz="950" b="1" dirty="0">
                <a:solidFill>
                  <a:srgbClr val="F7C85C"/>
                </a:solidFill>
                <a:latin typeface="Calibri" pitchFamily="34" charset="0"/>
                <a:ea typeface="Calibri" pitchFamily="34" charset="-122"/>
                <a:cs typeface="Calibri" pitchFamily="34" charset="-120"/>
              </a:rPr>
              <a:t>pgvector</a:t>
            </a:r>
            <a:endParaRPr lang="en-US" sz="950" dirty="0"/>
          </a:p>
        </p:txBody>
      </p:sp>
      <p:sp>
        <p:nvSpPr>
          <p:cNvPr id="20" name="Shape 16"/>
          <p:cNvSpPr/>
          <p:nvPr/>
        </p:nvSpPr>
        <p:spPr>
          <a:xfrm>
            <a:off x="4626864" y="4069080"/>
            <a:ext cx="950976" cy="329184"/>
          </a:xfrm>
          <a:prstGeom prst="roundRect">
            <a:avLst>
              <a:gd name="adj" fmla="val 27778"/>
            </a:avLst>
          </a:prstGeom>
          <a:solidFill>
            <a:srgbClr val="2D241B"/>
          </a:solidFill>
          <a:ln w="9525">
            <a:solidFill>
              <a:srgbClr val="4A3C2C"/>
            </a:solidFill>
            <a:prstDash val="solid"/>
          </a:ln>
        </p:spPr>
      </p:sp>
      <p:sp>
        <p:nvSpPr>
          <p:cNvPr id="21" name="Text 17"/>
          <p:cNvSpPr txBox="1"/>
          <p:nvPr/>
        </p:nvSpPr>
        <p:spPr>
          <a:xfrm>
            <a:off x="4626864" y="4069080"/>
            <a:ext cx="950976" cy="329184"/>
          </a:xfrm>
          <a:prstGeom prst="rect">
            <a:avLst/>
          </a:prstGeom>
          <a:noFill/>
          <a:ln/>
        </p:spPr>
        <p:txBody>
          <a:bodyPr wrap="square" lIns="0" tIns="0" rIns="0" bIns="0" rtlCol="0" anchor="ctr"/>
          <a:lstStyle/>
          <a:p>
            <a:pPr algn="ctr" indent="0" marL="0">
              <a:buNone/>
            </a:pPr>
            <a:r>
              <a:rPr lang="en-US" sz="950" b="1" dirty="0">
                <a:solidFill>
                  <a:srgbClr val="F7C85C"/>
                </a:solidFill>
                <a:latin typeface="Calibri" pitchFamily="34" charset="0"/>
                <a:ea typeface="Calibri" pitchFamily="34" charset="-122"/>
                <a:cs typeface="Calibri" pitchFamily="34" charset="-120"/>
              </a:rPr>
              <a:t>pg-boss</a:t>
            </a:r>
            <a:endParaRPr lang="en-US" sz="950" dirty="0"/>
          </a:p>
        </p:txBody>
      </p:sp>
      <p:sp>
        <p:nvSpPr>
          <p:cNvPr id="22" name="Shape 18"/>
          <p:cNvSpPr/>
          <p:nvPr/>
        </p:nvSpPr>
        <p:spPr>
          <a:xfrm>
            <a:off x="5669280" y="4069080"/>
            <a:ext cx="950976" cy="329184"/>
          </a:xfrm>
          <a:prstGeom prst="roundRect">
            <a:avLst>
              <a:gd name="adj" fmla="val 27778"/>
            </a:avLst>
          </a:prstGeom>
          <a:solidFill>
            <a:srgbClr val="2D241B"/>
          </a:solidFill>
          <a:ln w="9525">
            <a:solidFill>
              <a:srgbClr val="4A3C2C"/>
            </a:solidFill>
            <a:prstDash val="solid"/>
          </a:ln>
        </p:spPr>
      </p:sp>
      <p:sp>
        <p:nvSpPr>
          <p:cNvPr id="23" name="Text 19"/>
          <p:cNvSpPr txBox="1"/>
          <p:nvPr/>
        </p:nvSpPr>
        <p:spPr>
          <a:xfrm>
            <a:off x="5669280" y="4069080"/>
            <a:ext cx="950976" cy="329184"/>
          </a:xfrm>
          <a:prstGeom prst="rect">
            <a:avLst/>
          </a:prstGeom>
          <a:noFill/>
          <a:ln/>
        </p:spPr>
        <p:txBody>
          <a:bodyPr wrap="square" lIns="0" tIns="0" rIns="0" bIns="0" rtlCol="0" anchor="ctr"/>
          <a:lstStyle/>
          <a:p>
            <a:pPr algn="ctr" indent="0" marL="0">
              <a:buNone/>
            </a:pPr>
            <a:r>
              <a:rPr lang="en-US" sz="950" b="1" dirty="0">
                <a:solidFill>
                  <a:srgbClr val="F7C85C"/>
                </a:solidFill>
                <a:latin typeface="Calibri" pitchFamily="34" charset="0"/>
                <a:ea typeface="Calibri" pitchFamily="34" charset="-122"/>
                <a:cs typeface="Calibri" pitchFamily="34" charset="-120"/>
              </a:rPr>
              <a:t>Cedar</a:t>
            </a:r>
            <a:endParaRPr lang="en-US" sz="950" dirty="0"/>
          </a:p>
        </p:txBody>
      </p:sp>
      <p:sp>
        <p:nvSpPr>
          <p:cNvPr id="24" name="Shape 20"/>
          <p:cNvSpPr/>
          <p:nvPr/>
        </p:nvSpPr>
        <p:spPr>
          <a:xfrm>
            <a:off x="6711696" y="4069080"/>
            <a:ext cx="950976" cy="329184"/>
          </a:xfrm>
          <a:prstGeom prst="roundRect">
            <a:avLst>
              <a:gd name="adj" fmla="val 27778"/>
            </a:avLst>
          </a:prstGeom>
          <a:solidFill>
            <a:srgbClr val="2D241B"/>
          </a:solidFill>
          <a:ln w="9525">
            <a:solidFill>
              <a:srgbClr val="4A3C2C"/>
            </a:solidFill>
            <a:prstDash val="solid"/>
          </a:ln>
        </p:spPr>
      </p:sp>
      <p:sp>
        <p:nvSpPr>
          <p:cNvPr id="25" name="Text 21"/>
          <p:cNvSpPr txBox="1"/>
          <p:nvPr/>
        </p:nvSpPr>
        <p:spPr>
          <a:xfrm>
            <a:off x="6711696" y="4069080"/>
            <a:ext cx="950976" cy="329184"/>
          </a:xfrm>
          <a:prstGeom prst="rect">
            <a:avLst/>
          </a:prstGeom>
          <a:noFill/>
          <a:ln/>
        </p:spPr>
        <p:txBody>
          <a:bodyPr wrap="square" lIns="0" tIns="0" rIns="0" bIns="0" rtlCol="0" anchor="ctr"/>
          <a:lstStyle/>
          <a:p>
            <a:pPr algn="ctr" indent="0" marL="0">
              <a:buNone/>
            </a:pPr>
            <a:r>
              <a:rPr lang="en-US" sz="950" b="1" dirty="0">
                <a:solidFill>
                  <a:srgbClr val="F7C85C"/>
                </a:solidFill>
                <a:latin typeface="Calibri" pitchFamily="34" charset="0"/>
                <a:ea typeface="Calibri" pitchFamily="34" charset="-122"/>
                <a:cs typeface="Calibri" pitchFamily="34" charset="-120"/>
              </a:rPr>
              <a:t>MCP</a:t>
            </a:r>
            <a:endParaRPr lang="en-US" sz="950" dirty="0"/>
          </a:p>
        </p:txBody>
      </p:sp>
      <p:sp>
        <p:nvSpPr>
          <p:cNvPr id="26" name="Shape 22"/>
          <p:cNvSpPr/>
          <p:nvPr/>
        </p:nvSpPr>
        <p:spPr>
          <a:xfrm>
            <a:off x="7754112" y="4069080"/>
            <a:ext cx="950976" cy="329184"/>
          </a:xfrm>
          <a:prstGeom prst="roundRect">
            <a:avLst>
              <a:gd name="adj" fmla="val 27778"/>
            </a:avLst>
          </a:prstGeom>
          <a:solidFill>
            <a:srgbClr val="2D241B"/>
          </a:solidFill>
          <a:ln w="9525">
            <a:solidFill>
              <a:srgbClr val="4A3C2C"/>
            </a:solidFill>
            <a:prstDash val="solid"/>
          </a:ln>
        </p:spPr>
      </p:sp>
      <p:sp>
        <p:nvSpPr>
          <p:cNvPr id="27" name="Text 23"/>
          <p:cNvSpPr txBox="1"/>
          <p:nvPr/>
        </p:nvSpPr>
        <p:spPr>
          <a:xfrm>
            <a:off x="7754112" y="4069080"/>
            <a:ext cx="950976" cy="329184"/>
          </a:xfrm>
          <a:prstGeom prst="rect">
            <a:avLst/>
          </a:prstGeom>
          <a:noFill/>
          <a:ln/>
        </p:spPr>
        <p:txBody>
          <a:bodyPr wrap="square" lIns="0" tIns="0" rIns="0" bIns="0" rtlCol="0" anchor="ctr"/>
          <a:lstStyle/>
          <a:p>
            <a:pPr algn="ctr" indent="0" marL="0">
              <a:buNone/>
            </a:pPr>
            <a:r>
              <a:rPr lang="en-US" sz="950" b="1" dirty="0">
                <a:solidFill>
                  <a:srgbClr val="F7C85C"/>
                </a:solidFill>
                <a:latin typeface="Calibri" pitchFamily="34" charset="0"/>
                <a:ea typeface="Calibri" pitchFamily="34" charset="-122"/>
                <a:cs typeface="Calibri" pitchFamily="34" charset="-120"/>
              </a:rPr>
              <a:t>Apache-2.0</a:t>
            </a:r>
            <a:endParaRPr lang="en-US" sz="950" dirty="0"/>
          </a:p>
        </p:txBody>
      </p:sp>
      <p:pic>
        <p:nvPicPr>
          <p:cNvPr id="28" name="Image 2" descr="preencoded.png">    </p:cNvPr>
          <p:cNvPicPr>
            <a:picLocks noChangeAspect="1"/>
          </p:cNvPicPr>
          <p:nvPr/>
        </p:nvPicPr>
        <p:blipFill>
          <a:blip r:embed="rId3"/>
          <a:stretch>
            <a:fillRect/>
          </a:stretch>
        </p:blipFill>
        <p:spPr>
          <a:xfrm>
            <a:off x="457200" y="4754880"/>
            <a:ext cx="182880" cy="182880"/>
          </a:xfrm>
          <a:prstGeom prst="rect">
            <a:avLst/>
          </a:prstGeom>
        </p:spPr>
      </p:pic>
      <p:sp>
        <p:nvSpPr>
          <p:cNvPr id="29" name="Text 24"/>
          <p:cNvSpPr txBox="1"/>
          <p:nvPr/>
        </p:nvSpPr>
        <p:spPr>
          <a:xfrm>
            <a:off x="694944" y="4754880"/>
            <a:ext cx="1828800" cy="182880"/>
          </a:xfrm>
          <a:prstGeom prst="rect">
            <a:avLst/>
          </a:prstGeom>
          <a:noFill/>
          <a:ln/>
        </p:spPr>
        <p:txBody>
          <a:bodyPr wrap="square" lIns="0" tIns="0" rIns="0" bIns="0" rtlCol="0" anchor="ctr"/>
          <a:lstStyle/>
          <a:p>
            <a:pPr indent="0" marL="0">
              <a:buNone/>
            </a:pPr>
            <a:r>
              <a:rPr lang="en-US" sz="900" dirty="0">
                <a:solidFill>
                  <a:srgbClr val="B5A994"/>
                </a:solidFill>
                <a:latin typeface="Calibri" pitchFamily="34" charset="0"/>
                <a:ea typeface="Calibri" pitchFamily="34" charset="-122"/>
                <a:cs typeface="Calibri" pitchFamily="34" charset="-120"/>
              </a:rPr>
              <a:t>OpenHoard</a:t>
            </a:r>
            <a:endParaRPr lang="en-US" sz="900" dirty="0"/>
          </a:p>
        </p:txBody>
      </p:sp>
      <p:sp>
        <p:nvSpPr>
          <p:cNvPr id="30" name="Text 25"/>
          <p:cNvSpPr txBox="1"/>
          <p:nvPr/>
        </p:nvSpPr>
        <p:spPr>
          <a:xfrm>
            <a:off x="7772400" y="4754880"/>
            <a:ext cx="914400" cy="182880"/>
          </a:xfrm>
          <a:prstGeom prst="rect">
            <a:avLst/>
          </a:prstGeom>
          <a:noFill/>
          <a:ln/>
        </p:spPr>
        <p:txBody>
          <a:bodyPr wrap="square" lIns="0" tIns="0" rIns="0" bIns="0" rtlCol="0" anchor="ctr"/>
          <a:lstStyle/>
          <a:p>
            <a:pPr algn="r" indent="0" marL="0">
              <a:buNone/>
            </a:pPr>
            <a:r>
              <a:rPr lang="en-US" sz="900" dirty="0">
                <a:solidFill>
                  <a:srgbClr val="B5A99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110D"/>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indent="0" marL="0">
              <a:buNone/>
            </a:pPr>
            <a:r>
              <a:rPr lang="en-US" sz="1000" b="1" spc="400" kern="0" dirty="0">
                <a:solidFill>
                  <a:srgbClr val="F2A93B"/>
                </a:solidFill>
                <a:latin typeface="Calibri" pitchFamily="34" charset="0"/>
                <a:ea typeface="Calibri" pitchFamily="34" charset="-122"/>
                <a:cs typeface="Calibri" pitchFamily="34" charset="-120"/>
              </a:rPr>
              <a:t>STATUS</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800" b="1" dirty="0">
                <a:solidFill>
                  <a:srgbClr val="F5EEE3"/>
                </a:solidFill>
                <a:latin typeface="Cambria" pitchFamily="34" charset="0"/>
                <a:ea typeface="Cambria" pitchFamily="34" charset="-122"/>
                <a:cs typeface="Cambria" pitchFamily="34" charset="-120"/>
              </a:rPr>
              <a:t>Where it stands: September 2026</a:t>
            </a:r>
            <a:endParaRPr lang="en-US" sz="2800" dirty="0"/>
          </a:p>
        </p:txBody>
      </p:sp>
      <p:sp>
        <p:nvSpPr>
          <p:cNvPr id="4" name="Shape 2"/>
          <p:cNvSpPr/>
          <p:nvPr/>
        </p:nvSpPr>
        <p:spPr>
          <a:xfrm>
            <a:off x="457200" y="1280160"/>
            <a:ext cx="1965960" cy="1463040"/>
          </a:xfrm>
          <a:prstGeom prst="roundRect">
            <a:avLst>
              <a:gd name="adj" fmla="val 5000"/>
            </a:avLst>
          </a:prstGeom>
          <a:solidFill>
            <a:srgbClr val="221B14"/>
          </a:solidFill>
          <a:ln w="9525">
            <a:solidFill>
              <a:srgbClr val="4A3C2C"/>
            </a:solidFill>
            <a:prstDash val="solid"/>
          </a:ln>
        </p:spPr>
      </p:sp>
      <p:sp>
        <p:nvSpPr>
          <p:cNvPr id="5" name="Text 3"/>
          <p:cNvSpPr txBox="1"/>
          <p:nvPr/>
        </p:nvSpPr>
        <p:spPr>
          <a:xfrm>
            <a:off x="621792" y="1444752"/>
            <a:ext cx="1737360" cy="685800"/>
          </a:xfrm>
          <a:prstGeom prst="rect">
            <a:avLst/>
          </a:prstGeom>
          <a:noFill/>
          <a:ln/>
        </p:spPr>
        <p:txBody>
          <a:bodyPr wrap="square" lIns="0" tIns="0" rIns="0" bIns="0" rtlCol="0" anchor="t"/>
          <a:lstStyle/>
          <a:p>
            <a:pPr indent="0" marL="0">
              <a:buNone/>
            </a:pPr>
            <a:r>
              <a:rPr lang="en-US" sz="3400" b="1" dirty="0">
                <a:solidFill>
                  <a:srgbClr val="F2A93B"/>
                </a:solidFill>
                <a:latin typeface="Cambria" pitchFamily="34" charset="0"/>
                <a:ea typeface="Cambria" pitchFamily="34" charset="-122"/>
                <a:cs typeface="Cambria" pitchFamily="34" charset="-120"/>
              </a:rPr>
              <a:t>48</a:t>
            </a:r>
            <a:endParaRPr lang="en-US" sz="3400" dirty="0"/>
          </a:p>
        </p:txBody>
      </p:sp>
      <p:sp>
        <p:nvSpPr>
          <p:cNvPr id="6" name="Text 4"/>
          <p:cNvSpPr txBox="1"/>
          <p:nvPr/>
        </p:nvSpPr>
        <p:spPr>
          <a:xfrm>
            <a:off x="621792" y="2148840"/>
            <a:ext cx="1691640" cy="502920"/>
          </a:xfrm>
          <a:prstGeom prst="rect">
            <a:avLst/>
          </a:prstGeom>
          <a:noFill/>
          <a:ln/>
        </p:spPr>
        <p:txBody>
          <a:bodyPr wrap="square" lIns="0" tIns="0" rIns="0" bIns="0" rtlCol="0" anchor="t"/>
          <a:lstStyle/>
          <a:p>
            <a:pPr indent="0" marL="0">
              <a:buNone/>
            </a:pPr>
            <a:r>
              <a:rPr lang="en-US" sz="1100" dirty="0">
                <a:solidFill>
                  <a:srgbClr val="F5EEE3"/>
                </a:solidFill>
                <a:latin typeface="Calibri" pitchFamily="34" charset="0"/>
                <a:ea typeface="Calibri" pitchFamily="34" charset="-122"/>
                <a:cs typeface="Calibri" pitchFamily="34" charset="-120"/>
              </a:rPr>
              <a:t>pull requests merged</a:t>
            </a:r>
            <a:endParaRPr lang="en-US" sz="1100" dirty="0"/>
          </a:p>
        </p:txBody>
      </p:sp>
      <p:sp>
        <p:nvSpPr>
          <p:cNvPr id="7" name="Shape 5"/>
          <p:cNvSpPr/>
          <p:nvPr/>
        </p:nvSpPr>
        <p:spPr>
          <a:xfrm>
            <a:off x="2560320" y="1280160"/>
            <a:ext cx="1965960" cy="1463040"/>
          </a:xfrm>
          <a:prstGeom prst="roundRect">
            <a:avLst>
              <a:gd name="adj" fmla="val 5000"/>
            </a:avLst>
          </a:prstGeom>
          <a:solidFill>
            <a:srgbClr val="221B14"/>
          </a:solidFill>
          <a:ln w="9525">
            <a:solidFill>
              <a:srgbClr val="4A3C2C"/>
            </a:solidFill>
            <a:prstDash val="solid"/>
          </a:ln>
        </p:spPr>
      </p:sp>
      <p:sp>
        <p:nvSpPr>
          <p:cNvPr id="8" name="Text 6"/>
          <p:cNvSpPr txBox="1"/>
          <p:nvPr/>
        </p:nvSpPr>
        <p:spPr>
          <a:xfrm>
            <a:off x="2724912" y="1444752"/>
            <a:ext cx="1737360" cy="685800"/>
          </a:xfrm>
          <a:prstGeom prst="rect">
            <a:avLst/>
          </a:prstGeom>
          <a:noFill/>
          <a:ln/>
        </p:spPr>
        <p:txBody>
          <a:bodyPr wrap="square" lIns="0" tIns="0" rIns="0" bIns="0" rtlCol="0" anchor="t"/>
          <a:lstStyle/>
          <a:p>
            <a:pPr indent="0" marL="0">
              <a:buNone/>
            </a:pPr>
            <a:r>
              <a:rPr lang="en-US" sz="3400" b="1" dirty="0">
                <a:solidFill>
                  <a:srgbClr val="F2A93B"/>
                </a:solidFill>
                <a:latin typeface="Cambria" pitchFamily="34" charset="0"/>
                <a:ea typeface="Cambria" pitchFamily="34" charset="-122"/>
                <a:cs typeface="Cambria" pitchFamily="34" charset="-120"/>
              </a:rPr>
              <a:t>58</a:t>
            </a:r>
            <a:endParaRPr lang="en-US" sz="3400" dirty="0"/>
          </a:p>
        </p:txBody>
      </p:sp>
      <p:sp>
        <p:nvSpPr>
          <p:cNvPr id="9" name="Text 7"/>
          <p:cNvSpPr txBox="1"/>
          <p:nvPr/>
        </p:nvSpPr>
        <p:spPr>
          <a:xfrm>
            <a:off x="2724912" y="2148840"/>
            <a:ext cx="1691640" cy="502920"/>
          </a:xfrm>
          <a:prstGeom prst="rect">
            <a:avLst/>
          </a:prstGeom>
          <a:noFill/>
          <a:ln/>
        </p:spPr>
        <p:txBody>
          <a:bodyPr wrap="square" lIns="0" tIns="0" rIns="0" bIns="0" rtlCol="0" anchor="t"/>
          <a:lstStyle/>
          <a:p>
            <a:pPr indent="0" marL="0">
              <a:buNone/>
            </a:pPr>
            <a:r>
              <a:rPr lang="en-US" sz="1100" dirty="0">
                <a:solidFill>
                  <a:srgbClr val="F5EEE3"/>
                </a:solidFill>
                <a:latin typeface="Calibri" pitchFamily="34" charset="0"/>
                <a:ea typeface="Calibri" pitchFamily="34" charset="-122"/>
                <a:cs typeface="Calibri" pitchFamily="34" charset="-120"/>
              </a:rPr>
              <a:t>database migrations</a:t>
            </a:r>
            <a:endParaRPr lang="en-US" sz="1100" dirty="0"/>
          </a:p>
        </p:txBody>
      </p:sp>
      <p:sp>
        <p:nvSpPr>
          <p:cNvPr id="10" name="Shape 8"/>
          <p:cNvSpPr/>
          <p:nvPr/>
        </p:nvSpPr>
        <p:spPr>
          <a:xfrm>
            <a:off x="457200" y="2880360"/>
            <a:ext cx="1965960" cy="1463040"/>
          </a:xfrm>
          <a:prstGeom prst="roundRect">
            <a:avLst>
              <a:gd name="adj" fmla="val 5000"/>
            </a:avLst>
          </a:prstGeom>
          <a:solidFill>
            <a:srgbClr val="221B14"/>
          </a:solidFill>
          <a:ln w="9525">
            <a:solidFill>
              <a:srgbClr val="4A3C2C"/>
            </a:solidFill>
            <a:prstDash val="solid"/>
          </a:ln>
        </p:spPr>
      </p:sp>
      <p:sp>
        <p:nvSpPr>
          <p:cNvPr id="11" name="Text 9"/>
          <p:cNvSpPr txBox="1"/>
          <p:nvPr/>
        </p:nvSpPr>
        <p:spPr>
          <a:xfrm>
            <a:off x="621792" y="3044952"/>
            <a:ext cx="1737360" cy="685800"/>
          </a:xfrm>
          <a:prstGeom prst="rect">
            <a:avLst/>
          </a:prstGeom>
          <a:noFill/>
          <a:ln/>
        </p:spPr>
        <p:txBody>
          <a:bodyPr wrap="square" lIns="0" tIns="0" rIns="0" bIns="0" rtlCol="0" anchor="t"/>
          <a:lstStyle/>
          <a:p>
            <a:pPr indent="0" marL="0">
              <a:buNone/>
            </a:pPr>
            <a:r>
              <a:rPr lang="en-US" sz="3400" b="1" dirty="0">
                <a:solidFill>
                  <a:srgbClr val="F2A93B"/>
                </a:solidFill>
                <a:latin typeface="Cambria" pitchFamily="34" charset="0"/>
                <a:ea typeface="Cambria" pitchFamily="34" charset="-122"/>
                <a:cs typeface="Cambria" pitchFamily="34" charset="-120"/>
              </a:rPr>
              <a:t>~83k</a:t>
            </a:r>
            <a:endParaRPr lang="en-US" sz="3400" dirty="0"/>
          </a:p>
        </p:txBody>
      </p:sp>
      <p:sp>
        <p:nvSpPr>
          <p:cNvPr id="12" name="Text 10"/>
          <p:cNvSpPr txBox="1"/>
          <p:nvPr/>
        </p:nvSpPr>
        <p:spPr>
          <a:xfrm>
            <a:off x="621792" y="3749040"/>
            <a:ext cx="1691640" cy="502920"/>
          </a:xfrm>
          <a:prstGeom prst="rect">
            <a:avLst/>
          </a:prstGeom>
          <a:noFill/>
          <a:ln/>
        </p:spPr>
        <p:txBody>
          <a:bodyPr wrap="square" lIns="0" tIns="0" rIns="0" bIns="0" rtlCol="0" anchor="t"/>
          <a:lstStyle/>
          <a:p>
            <a:pPr indent="0" marL="0">
              <a:buNone/>
            </a:pPr>
            <a:r>
              <a:rPr lang="en-US" sz="1100" dirty="0">
                <a:solidFill>
                  <a:srgbClr val="F5EEE3"/>
                </a:solidFill>
                <a:latin typeface="Calibri" pitchFamily="34" charset="0"/>
                <a:ea typeface="Calibri" pitchFamily="34" charset="-122"/>
                <a:cs typeface="Calibri" pitchFamily="34" charset="-120"/>
              </a:rPr>
              <a:t>lines of TypeScript, about half tests</a:t>
            </a:r>
            <a:endParaRPr lang="en-US" sz="1100" dirty="0"/>
          </a:p>
        </p:txBody>
      </p:sp>
      <p:sp>
        <p:nvSpPr>
          <p:cNvPr id="13" name="Shape 11"/>
          <p:cNvSpPr/>
          <p:nvPr/>
        </p:nvSpPr>
        <p:spPr>
          <a:xfrm>
            <a:off x="2560320" y="2880360"/>
            <a:ext cx="1965960" cy="1463040"/>
          </a:xfrm>
          <a:prstGeom prst="roundRect">
            <a:avLst>
              <a:gd name="adj" fmla="val 5000"/>
            </a:avLst>
          </a:prstGeom>
          <a:solidFill>
            <a:srgbClr val="221B14"/>
          </a:solidFill>
          <a:ln w="9525">
            <a:solidFill>
              <a:srgbClr val="4A3C2C"/>
            </a:solidFill>
            <a:prstDash val="solid"/>
          </a:ln>
        </p:spPr>
      </p:sp>
      <p:sp>
        <p:nvSpPr>
          <p:cNvPr id="14" name="Text 12"/>
          <p:cNvSpPr txBox="1"/>
          <p:nvPr/>
        </p:nvSpPr>
        <p:spPr>
          <a:xfrm>
            <a:off x="2724912" y="3044952"/>
            <a:ext cx="1737360" cy="685800"/>
          </a:xfrm>
          <a:prstGeom prst="rect">
            <a:avLst/>
          </a:prstGeom>
          <a:noFill/>
          <a:ln/>
        </p:spPr>
        <p:txBody>
          <a:bodyPr wrap="square" lIns="0" tIns="0" rIns="0" bIns="0" rtlCol="0" anchor="t"/>
          <a:lstStyle/>
          <a:p>
            <a:pPr indent="0" marL="0">
              <a:buNone/>
            </a:pPr>
            <a:r>
              <a:rPr lang="en-US" sz="3400" b="1" dirty="0">
                <a:solidFill>
                  <a:srgbClr val="F2A93B"/>
                </a:solidFill>
                <a:latin typeface="Cambria" pitchFamily="34" charset="0"/>
                <a:ea typeface="Cambria" pitchFamily="34" charset="-122"/>
                <a:cs typeface="Cambria" pitchFamily="34" charset="-120"/>
              </a:rPr>
              <a:t>3 OSes</a:t>
            </a:r>
            <a:endParaRPr lang="en-US" sz="3400" dirty="0"/>
          </a:p>
        </p:txBody>
      </p:sp>
      <p:sp>
        <p:nvSpPr>
          <p:cNvPr id="15" name="Text 13"/>
          <p:cNvSpPr txBox="1"/>
          <p:nvPr/>
        </p:nvSpPr>
        <p:spPr>
          <a:xfrm>
            <a:off x="2724912" y="3749040"/>
            <a:ext cx="1691640" cy="502920"/>
          </a:xfrm>
          <a:prstGeom prst="rect">
            <a:avLst/>
          </a:prstGeom>
          <a:noFill/>
          <a:ln/>
        </p:spPr>
        <p:txBody>
          <a:bodyPr wrap="square" lIns="0" tIns="0" rIns="0" bIns="0" rtlCol="0" anchor="t"/>
          <a:lstStyle/>
          <a:p>
            <a:pPr indent="0" marL="0">
              <a:buNone/>
            </a:pPr>
            <a:r>
              <a:rPr lang="en-US" sz="1100" dirty="0">
                <a:solidFill>
                  <a:srgbClr val="F5EEE3"/>
                </a:solidFill>
                <a:latin typeface="Calibri" pitchFamily="34" charset="0"/>
                <a:ea typeface="Calibri" pitchFamily="34" charset="-122"/>
                <a:cs typeface="Calibri" pitchFamily="34" charset="-120"/>
              </a:rPr>
              <a:t>CI on Windows, macOS and Linux</a:t>
            </a:r>
            <a:endParaRPr lang="en-US" sz="1100" dirty="0"/>
          </a:p>
        </p:txBody>
      </p:sp>
      <p:sp>
        <p:nvSpPr>
          <p:cNvPr id="16" name="Text 14"/>
          <p:cNvSpPr txBox="1"/>
          <p:nvPr/>
        </p:nvSpPr>
        <p:spPr>
          <a:xfrm>
            <a:off x="4892040" y="1280160"/>
            <a:ext cx="3657600" cy="182880"/>
          </a:xfrm>
          <a:prstGeom prst="rect">
            <a:avLst/>
          </a:prstGeom>
          <a:noFill/>
          <a:ln/>
        </p:spPr>
        <p:txBody>
          <a:bodyPr wrap="square" lIns="0" tIns="0" rIns="0" bIns="0" rtlCol="0" anchor="t"/>
          <a:lstStyle/>
          <a:p>
            <a:pPr indent="0" marL="0">
              <a:buNone/>
            </a:pPr>
            <a:r>
              <a:rPr lang="en-US" sz="900" b="1" spc="200" kern="0" dirty="0">
                <a:solidFill>
                  <a:srgbClr val="F2A93B"/>
                </a:solidFill>
                <a:latin typeface="Calibri" pitchFamily="34" charset="0"/>
                <a:ea typeface="Calibri" pitchFamily="34" charset="-122"/>
                <a:cs typeface="Calibri" pitchFamily="34" charset="-120"/>
              </a:rPr>
              <a:t>DONE</a:t>
            </a:r>
            <a:endParaRPr lang="en-US" sz="900" dirty="0"/>
          </a:p>
        </p:txBody>
      </p:sp>
      <p:pic>
        <p:nvPicPr>
          <p:cNvPr id="17" name="Image 0" descr="preencoded.png">    </p:cNvPr>
          <p:cNvPicPr>
            <a:picLocks noChangeAspect="1"/>
          </p:cNvPicPr>
          <p:nvPr/>
        </p:nvPicPr>
        <p:blipFill>
          <a:blip r:embed="rId1"/>
          <a:stretch>
            <a:fillRect/>
          </a:stretch>
        </p:blipFill>
        <p:spPr>
          <a:xfrm>
            <a:off x="4892040" y="1536192"/>
            <a:ext cx="237744" cy="237744"/>
          </a:xfrm>
          <a:prstGeom prst="rect">
            <a:avLst/>
          </a:prstGeom>
        </p:spPr>
      </p:pic>
      <p:sp>
        <p:nvSpPr>
          <p:cNvPr id="18" name="Text 15"/>
          <p:cNvSpPr txBox="1"/>
          <p:nvPr/>
        </p:nvSpPr>
        <p:spPr>
          <a:xfrm>
            <a:off x="5230368" y="1517904"/>
            <a:ext cx="3474720" cy="274320"/>
          </a:xfrm>
          <a:prstGeom prst="rect">
            <a:avLst/>
          </a:prstGeom>
          <a:noFill/>
          <a:ln/>
        </p:spPr>
        <p:txBody>
          <a:bodyPr wrap="square" lIns="0" tIns="0" rIns="0" bIns="0" rtlCol="0" anchor="ctr"/>
          <a:lstStyle/>
          <a:p>
            <a:pPr indent="0" marL="0">
              <a:buNone/>
            </a:pPr>
            <a:r>
              <a:rPr lang="en-US" sz="1100" dirty="0">
                <a:solidFill>
                  <a:srgbClr val="F5EEE3"/>
                </a:solidFill>
                <a:latin typeface="Calibri" pitchFamily="34" charset="0"/>
                <a:ea typeface="Calibri" pitchFamily="34" charset="-122"/>
                <a:cs typeface="Calibri" pitchFamily="34" charset="-120"/>
              </a:rPr>
              <a:t>Single sign-on, SCIM, instant offboarding</a:t>
            </a:r>
            <a:endParaRPr lang="en-US" sz="1100" dirty="0"/>
          </a:p>
        </p:txBody>
      </p:sp>
      <p:pic>
        <p:nvPicPr>
          <p:cNvPr id="19" name="Image 1" descr="preencoded.png">    </p:cNvPr>
          <p:cNvPicPr>
            <a:picLocks noChangeAspect="1"/>
          </p:cNvPicPr>
          <p:nvPr/>
        </p:nvPicPr>
        <p:blipFill>
          <a:blip r:embed="rId2"/>
          <a:stretch>
            <a:fillRect/>
          </a:stretch>
        </p:blipFill>
        <p:spPr>
          <a:xfrm>
            <a:off x="4892040" y="1865376"/>
            <a:ext cx="237744" cy="237744"/>
          </a:xfrm>
          <a:prstGeom prst="rect">
            <a:avLst/>
          </a:prstGeom>
        </p:spPr>
      </p:pic>
      <p:sp>
        <p:nvSpPr>
          <p:cNvPr id="20" name="Text 16"/>
          <p:cNvSpPr txBox="1"/>
          <p:nvPr/>
        </p:nvSpPr>
        <p:spPr>
          <a:xfrm>
            <a:off x="5230368" y="1847088"/>
            <a:ext cx="3474720" cy="274320"/>
          </a:xfrm>
          <a:prstGeom prst="rect">
            <a:avLst/>
          </a:prstGeom>
          <a:noFill/>
          <a:ln/>
        </p:spPr>
        <p:txBody>
          <a:bodyPr wrap="square" lIns="0" tIns="0" rIns="0" bIns="0" rtlCol="0" anchor="ctr"/>
          <a:lstStyle/>
          <a:p>
            <a:pPr indent="0" marL="0">
              <a:buNone/>
            </a:pPr>
            <a:r>
              <a:rPr lang="en-US" sz="1100" dirty="0">
                <a:solidFill>
                  <a:srgbClr val="F5EEE3"/>
                </a:solidFill>
                <a:latin typeface="Calibri" pitchFamily="34" charset="0"/>
                <a:ea typeface="Calibri" pitchFamily="34" charset="-122"/>
                <a:cs typeface="Calibri" pitchFamily="34" charset="-120"/>
              </a:rPr>
              <a:t>OAuth 2.1 + MCP server for AI clients</a:t>
            </a:r>
            <a:endParaRPr lang="en-US" sz="1100" dirty="0"/>
          </a:p>
        </p:txBody>
      </p:sp>
      <p:pic>
        <p:nvPicPr>
          <p:cNvPr id="21" name="Image 2" descr="preencoded.png">    </p:cNvPr>
          <p:cNvPicPr>
            <a:picLocks noChangeAspect="1"/>
          </p:cNvPicPr>
          <p:nvPr/>
        </p:nvPicPr>
        <p:blipFill>
          <a:blip r:embed="rId3"/>
          <a:stretch>
            <a:fillRect/>
          </a:stretch>
        </p:blipFill>
        <p:spPr>
          <a:xfrm>
            <a:off x="4892040" y="2194560"/>
            <a:ext cx="237744" cy="237744"/>
          </a:xfrm>
          <a:prstGeom prst="rect">
            <a:avLst/>
          </a:prstGeom>
        </p:spPr>
      </p:pic>
      <p:sp>
        <p:nvSpPr>
          <p:cNvPr id="22" name="Text 17"/>
          <p:cNvSpPr txBox="1"/>
          <p:nvPr/>
        </p:nvSpPr>
        <p:spPr>
          <a:xfrm>
            <a:off x="5230368" y="2176272"/>
            <a:ext cx="3474720" cy="274320"/>
          </a:xfrm>
          <a:prstGeom prst="rect">
            <a:avLst/>
          </a:prstGeom>
          <a:noFill/>
          <a:ln/>
        </p:spPr>
        <p:txBody>
          <a:bodyPr wrap="square" lIns="0" tIns="0" rIns="0" bIns="0" rtlCol="0" anchor="ctr"/>
          <a:lstStyle/>
          <a:p>
            <a:pPr indent="0" marL="0">
              <a:buNone/>
            </a:pPr>
            <a:r>
              <a:rPr lang="en-US" sz="1100" dirty="0">
                <a:solidFill>
                  <a:srgbClr val="F5EEE3"/>
                </a:solidFill>
                <a:latin typeface="Calibri" pitchFamily="34" charset="0"/>
                <a:ea typeface="Calibri" pitchFamily="34" charset="-122"/>
                <a:cs typeface="Calibri" pitchFamily="34" charset="-120"/>
              </a:rPr>
              <a:t>Catalog, tags, policy engine, audit log</a:t>
            </a:r>
            <a:endParaRPr lang="en-US" sz="1100" dirty="0"/>
          </a:p>
        </p:txBody>
      </p:sp>
      <p:pic>
        <p:nvPicPr>
          <p:cNvPr id="23" name="Image 3" descr="preencoded.png">    </p:cNvPr>
          <p:cNvPicPr>
            <a:picLocks noChangeAspect="1"/>
          </p:cNvPicPr>
          <p:nvPr/>
        </p:nvPicPr>
        <p:blipFill>
          <a:blip r:embed="rId4"/>
          <a:stretch>
            <a:fillRect/>
          </a:stretch>
        </p:blipFill>
        <p:spPr>
          <a:xfrm>
            <a:off x="4892040" y="2523744"/>
            <a:ext cx="237744" cy="237744"/>
          </a:xfrm>
          <a:prstGeom prst="rect">
            <a:avLst/>
          </a:prstGeom>
        </p:spPr>
      </p:pic>
      <p:sp>
        <p:nvSpPr>
          <p:cNvPr id="24" name="Text 18"/>
          <p:cNvSpPr txBox="1"/>
          <p:nvPr/>
        </p:nvSpPr>
        <p:spPr>
          <a:xfrm>
            <a:off x="5230368" y="2505456"/>
            <a:ext cx="3474720" cy="274320"/>
          </a:xfrm>
          <a:prstGeom prst="rect">
            <a:avLst/>
          </a:prstGeom>
          <a:noFill/>
          <a:ln/>
        </p:spPr>
        <p:txBody>
          <a:bodyPr wrap="square" lIns="0" tIns="0" rIns="0" bIns="0" rtlCol="0" anchor="ctr"/>
          <a:lstStyle/>
          <a:p>
            <a:pPr indent="0" marL="0">
              <a:buNone/>
            </a:pPr>
            <a:r>
              <a:rPr lang="en-US" sz="1100" dirty="0">
                <a:solidFill>
                  <a:srgbClr val="F5EEE3"/>
                </a:solidFill>
                <a:latin typeface="Calibri" pitchFamily="34" charset="0"/>
                <a:ea typeface="Calibri" pitchFamily="34" charset="-122"/>
                <a:cs typeface="Calibri" pitchFamily="34" charset="-120"/>
              </a:rPr>
              <a:t>Text extraction + AI summaries + injection screen</a:t>
            </a:r>
            <a:endParaRPr lang="en-US" sz="1100" dirty="0"/>
          </a:p>
        </p:txBody>
      </p:sp>
      <p:pic>
        <p:nvPicPr>
          <p:cNvPr id="25" name="Image 4" descr="preencoded.png">    </p:cNvPr>
          <p:cNvPicPr>
            <a:picLocks noChangeAspect="1"/>
          </p:cNvPicPr>
          <p:nvPr/>
        </p:nvPicPr>
        <p:blipFill>
          <a:blip r:embed="rId5"/>
          <a:stretch>
            <a:fillRect/>
          </a:stretch>
        </p:blipFill>
        <p:spPr>
          <a:xfrm>
            <a:off x="4892040" y="2852928"/>
            <a:ext cx="237744" cy="237744"/>
          </a:xfrm>
          <a:prstGeom prst="rect">
            <a:avLst/>
          </a:prstGeom>
        </p:spPr>
      </p:pic>
      <p:sp>
        <p:nvSpPr>
          <p:cNvPr id="26" name="Text 19"/>
          <p:cNvSpPr txBox="1"/>
          <p:nvPr/>
        </p:nvSpPr>
        <p:spPr>
          <a:xfrm>
            <a:off x="5230368" y="2834640"/>
            <a:ext cx="3474720" cy="274320"/>
          </a:xfrm>
          <a:prstGeom prst="rect">
            <a:avLst/>
          </a:prstGeom>
          <a:noFill/>
          <a:ln/>
        </p:spPr>
        <p:txBody>
          <a:bodyPr wrap="square" lIns="0" tIns="0" rIns="0" bIns="0" rtlCol="0" anchor="ctr"/>
          <a:lstStyle/>
          <a:p>
            <a:pPr indent="0" marL="0">
              <a:buNone/>
            </a:pPr>
            <a:r>
              <a:rPr lang="en-US" sz="1100" dirty="0">
                <a:solidFill>
                  <a:srgbClr val="F5EEE3"/>
                </a:solidFill>
                <a:latin typeface="Calibri" pitchFamily="34" charset="0"/>
                <a:ea typeface="Calibri" pitchFamily="34" charset="-122"/>
                <a:cs typeface="Calibri" pitchFamily="34" charset="-120"/>
              </a:rPr>
              <a:t>Hybrid permission-aware search</a:t>
            </a:r>
            <a:endParaRPr lang="en-US" sz="1100" dirty="0"/>
          </a:p>
        </p:txBody>
      </p:sp>
      <p:pic>
        <p:nvPicPr>
          <p:cNvPr id="27" name="Image 5" descr="preencoded.png">    </p:cNvPr>
          <p:cNvPicPr>
            <a:picLocks noChangeAspect="1"/>
          </p:cNvPicPr>
          <p:nvPr/>
        </p:nvPicPr>
        <p:blipFill>
          <a:blip r:embed="rId6"/>
          <a:stretch>
            <a:fillRect/>
          </a:stretch>
        </p:blipFill>
        <p:spPr>
          <a:xfrm>
            <a:off x="4892040" y="3182112"/>
            <a:ext cx="237744" cy="237744"/>
          </a:xfrm>
          <a:prstGeom prst="rect">
            <a:avLst/>
          </a:prstGeom>
        </p:spPr>
      </p:pic>
      <p:sp>
        <p:nvSpPr>
          <p:cNvPr id="28" name="Text 20"/>
          <p:cNvSpPr txBox="1"/>
          <p:nvPr/>
        </p:nvSpPr>
        <p:spPr>
          <a:xfrm>
            <a:off x="5230368" y="3163824"/>
            <a:ext cx="3474720" cy="274320"/>
          </a:xfrm>
          <a:prstGeom prst="rect">
            <a:avLst/>
          </a:prstGeom>
          <a:noFill/>
          <a:ln/>
        </p:spPr>
        <p:txBody>
          <a:bodyPr wrap="square" lIns="0" tIns="0" rIns="0" bIns="0" rtlCol="0" anchor="ctr"/>
          <a:lstStyle/>
          <a:p>
            <a:pPr indent="0" marL="0">
              <a:buNone/>
            </a:pPr>
            <a:r>
              <a:rPr lang="en-US" sz="1100" dirty="0">
                <a:solidFill>
                  <a:srgbClr val="F5EEE3"/>
                </a:solidFill>
                <a:latin typeface="Calibri" pitchFamily="34" charset="0"/>
                <a:ea typeface="Calibri" pitchFamily="34" charset="-122"/>
                <a:cs typeface="Calibri" pitchFamily="34" charset="-120"/>
              </a:rPr>
              <a:t>MCP tools and skills</a:t>
            </a:r>
            <a:endParaRPr lang="en-US" sz="1100" dirty="0"/>
          </a:p>
        </p:txBody>
      </p:sp>
      <p:pic>
        <p:nvPicPr>
          <p:cNvPr id="29" name="Image 6" descr="preencoded.png">    </p:cNvPr>
          <p:cNvPicPr>
            <a:picLocks noChangeAspect="1"/>
          </p:cNvPicPr>
          <p:nvPr/>
        </p:nvPicPr>
        <p:blipFill>
          <a:blip r:embed="rId7"/>
          <a:stretch>
            <a:fillRect/>
          </a:stretch>
        </p:blipFill>
        <p:spPr>
          <a:xfrm>
            <a:off x="4892040" y="3511296"/>
            <a:ext cx="237744" cy="237744"/>
          </a:xfrm>
          <a:prstGeom prst="rect">
            <a:avLst/>
          </a:prstGeom>
        </p:spPr>
      </p:pic>
      <p:sp>
        <p:nvSpPr>
          <p:cNvPr id="30" name="Text 21"/>
          <p:cNvSpPr txBox="1"/>
          <p:nvPr/>
        </p:nvSpPr>
        <p:spPr>
          <a:xfrm>
            <a:off x="5230368" y="3493008"/>
            <a:ext cx="3474720" cy="274320"/>
          </a:xfrm>
          <a:prstGeom prst="rect">
            <a:avLst/>
          </a:prstGeom>
          <a:noFill/>
          <a:ln/>
        </p:spPr>
        <p:txBody>
          <a:bodyPr wrap="square" lIns="0" tIns="0" rIns="0" bIns="0" rtlCol="0" anchor="ctr"/>
          <a:lstStyle/>
          <a:p>
            <a:pPr indent="0" marL="0">
              <a:buNone/>
            </a:pPr>
            <a:r>
              <a:rPr lang="en-US" sz="1100" dirty="0">
                <a:solidFill>
                  <a:srgbClr val="F5EEE3"/>
                </a:solidFill>
                <a:latin typeface="Calibri" pitchFamily="34" charset="0"/>
                <a:ea typeface="Calibri" pitchFamily="34" charset="-122"/>
                <a:cs typeface="Calibri" pitchFamily="34" charset="-120"/>
              </a:rPr>
              <a:t>Scheduled sync of local folders</a:t>
            </a:r>
            <a:endParaRPr lang="en-US" sz="1100" dirty="0"/>
          </a:p>
        </p:txBody>
      </p:sp>
      <p:sp>
        <p:nvSpPr>
          <p:cNvPr id="31" name="Text 22"/>
          <p:cNvSpPr txBox="1"/>
          <p:nvPr/>
        </p:nvSpPr>
        <p:spPr>
          <a:xfrm>
            <a:off x="4892040" y="3931920"/>
            <a:ext cx="3657600" cy="182880"/>
          </a:xfrm>
          <a:prstGeom prst="rect">
            <a:avLst/>
          </a:prstGeom>
          <a:noFill/>
          <a:ln/>
        </p:spPr>
        <p:txBody>
          <a:bodyPr wrap="square" lIns="0" tIns="0" rIns="0" bIns="0" rtlCol="0" anchor="t"/>
          <a:lstStyle/>
          <a:p>
            <a:pPr indent="0" marL="0">
              <a:buNone/>
            </a:pPr>
            <a:r>
              <a:rPr lang="en-US" sz="900" b="1" spc="200" kern="0" dirty="0">
                <a:solidFill>
                  <a:srgbClr val="E2603F"/>
                </a:solidFill>
                <a:latin typeface="Calibri" pitchFamily="34" charset="0"/>
                <a:ea typeface="Calibri" pitchFamily="34" charset="-122"/>
                <a:cs typeface="Calibri" pitchFamily="34" charset="-120"/>
              </a:rPr>
              <a:t>NEEDS A LIVE TEST</a:t>
            </a:r>
            <a:endParaRPr lang="en-US" sz="900" dirty="0"/>
          </a:p>
        </p:txBody>
      </p:sp>
      <p:sp>
        <p:nvSpPr>
          <p:cNvPr id="32" name="Text 23"/>
          <p:cNvSpPr txBox="1"/>
          <p:nvPr/>
        </p:nvSpPr>
        <p:spPr>
          <a:xfrm>
            <a:off x="4892040" y="4133088"/>
            <a:ext cx="3794760" cy="411480"/>
          </a:xfrm>
          <a:prstGeom prst="rect">
            <a:avLst/>
          </a:prstGeom>
          <a:noFill/>
          <a:ln/>
        </p:spPr>
        <p:txBody>
          <a:bodyPr wrap="square" lIns="0" tIns="0" rIns="0" bIns="0" rtlCol="0" anchor="t"/>
          <a:lstStyle/>
          <a:p>
            <a:pPr indent="0" marL="0">
              <a:buNone/>
            </a:pPr>
            <a:r>
              <a:rPr lang="en-US" sz="1050" dirty="0">
                <a:solidFill>
                  <a:srgbClr val="B5A994"/>
                </a:solidFill>
                <a:latin typeface="Calibri" pitchFamily="34" charset="0"/>
                <a:ea typeface="Calibri" pitchFamily="34" charset="-122"/>
                <a:cs typeface="Calibri" pitchFamily="34" charset="-120"/>
              </a:rPr>
              <a:t>Sign-in against a real Entra tenant, and real AI clients over a public URL.</a:t>
            </a:r>
            <a:endParaRPr lang="en-US" sz="1050" dirty="0"/>
          </a:p>
        </p:txBody>
      </p:sp>
      <p:pic>
        <p:nvPicPr>
          <p:cNvPr id="33" name="Image 7" descr="preencoded.png">    </p:cNvPr>
          <p:cNvPicPr>
            <a:picLocks noChangeAspect="1"/>
          </p:cNvPicPr>
          <p:nvPr/>
        </p:nvPicPr>
        <p:blipFill>
          <a:blip r:embed="rId8"/>
          <a:stretch>
            <a:fillRect/>
          </a:stretch>
        </p:blipFill>
        <p:spPr>
          <a:xfrm>
            <a:off x="457200" y="4754880"/>
            <a:ext cx="182880" cy="182880"/>
          </a:xfrm>
          <a:prstGeom prst="rect">
            <a:avLst/>
          </a:prstGeom>
        </p:spPr>
      </p:pic>
      <p:sp>
        <p:nvSpPr>
          <p:cNvPr id="34" name="Text 24"/>
          <p:cNvSpPr txBox="1"/>
          <p:nvPr/>
        </p:nvSpPr>
        <p:spPr>
          <a:xfrm>
            <a:off x="694944" y="4754880"/>
            <a:ext cx="1828800" cy="182880"/>
          </a:xfrm>
          <a:prstGeom prst="rect">
            <a:avLst/>
          </a:prstGeom>
          <a:noFill/>
          <a:ln/>
        </p:spPr>
        <p:txBody>
          <a:bodyPr wrap="square" lIns="0" tIns="0" rIns="0" bIns="0" rtlCol="0" anchor="ctr"/>
          <a:lstStyle/>
          <a:p>
            <a:pPr indent="0" marL="0">
              <a:buNone/>
            </a:pPr>
            <a:r>
              <a:rPr lang="en-US" sz="900" dirty="0">
                <a:solidFill>
                  <a:srgbClr val="B5A994"/>
                </a:solidFill>
                <a:latin typeface="Calibri" pitchFamily="34" charset="0"/>
                <a:ea typeface="Calibri" pitchFamily="34" charset="-122"/>
                <a:cs typeface="Calibri" pitchFamily="34" charset="-120"/>
              </a:rPr>
              <a:t>OpenHoard</a:t>
            </a:r>
            <a:endParaRPr lang="en-US" sz="900" dirty="0"/>
          </a:p>
        </p:txBody>
      </p:sp>
      <p:sp>
        <p:nvSpPr>
          <p:cNvPr id="35" name="Text 25"/>
          <p:cNvSpPr txBox="1"/>
          <p:nvPr/>
        </p:nvSpPr>
        <p:spPr>
          <a:xfrm>
            <a:off x="7772400" y="4754880"/>
            <a:ext cx="914400" cy="182880"/>
          </a:xfrm>
          <a:prstGeom prst="rect">
            <a:avLst/>
          </a:prstGeom>
          <a:noFill/>
          <a:ln/>
        </p:spPr>
        <p:txBody>
          <a:bodyPr wrap="square" lIns="0" tIns="0" rIns="0" bIns="0" rtlCol="0" anchor="ctr"/>
          <a:lstStyle/>
          <a:p>
            <a:pPr algn="r" indent="0" marL="0">
              <a:buNone/>
            </a:pPr>
            <a:r>
              <a:rPr lang="en-US" sz="900" dirty="0">
                <a:solidFill>
                  <a:srgbClr val="B5A99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110D"/>
        </a:solidFill>
      </p:bgPr>
    </p:bg>
    <p:spTree>
      <p:nvGrpSpPr>
        <p:cNvPr id="1" name=""/>
        <p:cNvGrpSpPr/>
        <p:nvPr/>
      </p:nvGrpSpPr>
      <p:grpSpPr>
        <a:xfrm>
          <a:off x="0" y="0"/>
          <a:ext cx="0" cy="0"/>
          <a:chOff x="0" y="0"/>
          <a:chExt cx="0" cy="0"/>
        </a:xfrm>
      </p:grpSpPr>
      <p:sp>
        <p:nvSpPr>
          <p:cNvPr id="2" name="Text 0"/>
          <p:cNvSpPr txBox="1"/>
          <p:nvPr/>
        </p:nvSpPr>
        <p:spPr>
          <a:xfrm>
            <a:off x="457200" y="310896"/>
            <a:ext cx="8229600" cy="228600"/>
          </a:xfrm>
          <a:prstGeom prst="rect">
            <a:avLst/>
          </a:prstGeom>
          <a:noFill/>
          <a:ln/>
        </p:spPr>
        <p:txBody>
          <a:bodyPr wrap="square" lIns="0" tIns="0" rIns="0" bIns="0" rtlCol="0" anchor="t"/>
          <a:lstStyle/>
          <a:p>
            <a:pPr indent="0" marL="0">
              <a:buNone/>
            </a:pPr>
            <a:r>
              <a:rPr lang="en-US" sz="1000" b="1" spc="400" kern="0" dirty="0">
                <a:solidFill>
                  <a:srgbClr val="F2A93B"/>
                </a:solidFill>
                <a:latin typeface="Calibri" pitchFamily="34" charset="0"/>
                <a:ea typeface="Calibri" pitchFamily="34" charset="-122"/>
                <a:cs typeface="Calibri" pitchFamily="34" charset="-120"/>
              </a:rPr>
              <a:t>ROADMAP</a:t>
            </a:r>
            <a:endParaRPr lang="en-US" sz="10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800" b="1" dirty="0">
                <a:solidFill>
                  <a:srgbClr val="F5EEE3"/>
                </a:solidFill>
                <a:latin typeface="Cambria" pitchFamily="34" charset="0"/>
                <a:ea typeface="Cambria" pitchFamily="34" charset="-122"/>
                <a:cs typeface="Cambria" pitchFamily="34" charset="-120"/>
              </a:rPr>
              <a:t>What's next</a:t>
            </a:r>
            <a:endParaRPr lang="en-US" sz="2800" dirty="0"/>
          </a:p>
        </p:txBody>
      </p:sp>
      <p:sp>
        <p:nvSpPr>
          <p:cNvPr id="4" name="Shape 2"/>
          <p:cNvSpPr/>
          <p:nvPr/>
        </p:nvSpPr>
        <p:spPr>
          <a:xfrm>
            <a:off x="822960" y="1874520"/>
            <a:ext cx="7498080" cy="914"/>
          </a:xfrm>
          <a:prstGeom prst="line">
            <a:avLst/>
          </a:prstGeom>
          <a:noFill/>
          <a:ln w="25400">
            <a:solidFill>
              <a:srgbClr val="4A3C2C"/>
            </a:solidFill>
            <a:prstDash val="solid"/>
          </a:ln>
        </p:spPr>
      </p:sp>
      <p:pic>
        <p:nvPicPr>
          <p:cNvPr id="5" name="Image 0" descr="preencoded.png">    </p:cNvPr>
          <p:cNvPicPr>
            <a:picLocks noChangeAspect="1"/>
          </p:cNvPicPr>
          <p:nvPr/>
        </p:nvPicPr>
        <p:blipFill>
          <a:blip r:embed="rId1"/>
          <a:stretch>
            <a:fillRect/>
          </a:stretch>
        </p:blipFill>
        <p:spPr>
          <a:xfrm>
            <a:off x="886968" y="1554480"/>
            <a:ext cx="640080" cy="640080"/>
          </a:xfrm>
          <a:prstGeom prst="rect">
            <a:avLst/>
          </a:prstGeom>
        </p:spPr>
      </p:pic>
      <p:sp>
        <p:nvSpPr>
          <p:cNvPr id="6" name="Text 3"/>
          <p:cNvSpPr txBox="1"/>
          <p:nvPr/>
        </p:nvSpPr>
        <p:spPr>
          <a:xfrm>
            <a:off x="457200" y="1280160"/>
            <a:ext cx="1499616" cy="182880"/>
          </a:xfrm>
          <a:prstGeom prst="rect">
            <a:avLst/>
          </a:prstGeom>
          <a:noFill/>
          <a:ln/>
        </p:spPr>
        <p:txBody>
          <a:bodyPr wrap="square" lIns="0" tIns="0" rIns="0" bIns="0" rtlCol="0" anchor="t"/>
          <a:lstStyle/>
          <a:p>
            <a:pPr algn="ctr" indent="0" marL="0">
              <a:buNone/>
            </a:pPr>
            <a:r>
              <a:rPr lang="en-US" sz="900" b="1" spc="200" kern="0" dirty="0">
                <a:solidFill>
                  <a:srgbClr val="F2A93B"/>
                </a:solidFill>
                <a:latin typeface="Calibri" pitchFamily="34" charset="0"/>
                <a:ea typeface="Calibri" pitchFamily="34" charset="-122"/>
                <a:cs typeface="Calibri" pitchFamily="34" charset="-120"/>
              </a:rPr>
              <a:t>NOW</a:t>
            </a:r>
            <a:endParaRPr lang="en-US" sz="900" dirty="0"/>
          </a:p>
        </p:txBody>
      </p:sp>
      <p:sp>
        <p:nvSpPr>
          <p:cNvPr id="7" name="Shape 4"/>
          <p:cNvSpPr/>
          <p:nvPr/>
        </p:nvSpPr>
        <p:spPr>
          <a:xfrm>
            <a:off x="457200" y="2377440"/>
            <a:ext cx="1499616" cy="1325880"/>
          </a:xfrm>
          <a:prstGeom prst="roundRect">
            <a:avLst>
              <a:gd name="adj" fmla="val 5517"/>
            </a:avLst>
          </a:prstGeom>
          <a:solidFill>
            <a:srgbClr val="2D241B"/>
          </a:solidFill>
          <a:ln w="9525">
            <a:solidFill>
              <a:srgbClr val="F2A93B"/>
            </a:solidFill>
            <a:prstDash val="solid"/>
          </a:ln>
        </p:spPr>
      </p:sp>
      <p:sp>
        <p:nvSpPr>
          <p:cNvPr id="8" name="Text 5"/>
          <p:cNvSpPr txBox="1"/>
          <p:nvPr/>
        </p:nvSpPr>
        <p:spPr>
          <a:xfrm>
            <a:off x="566928" y="2487168"/>
            <a:ext cx="1298448" cy="457200"/>
          </a:xfrm>
          <a:prstGeom prst="rect">
            <a:avLst/>
          </a:prstGeom>
          <a:noFill/>
          <a:ln/>
        </p:spPr>
        <p:txBody>
          <a:bodyPr wrap="square" lIns="0" tIns="0" rIns="0" bIns="0" rtlCol="0" anchor="t"/>
          <a:lstStyle/>
          <a:p>
            <a:pPr indent="0" marL="0">
              <a:buNone/>
            </a:pPr>
            <a:r>
              <a:rPr lang="en-US" sz="1200" b="1" dirty="0">
                <a:solidFill>
                  <a:srgbClr val="F5EEE3"/>
                </a:solidFill>
                <a:latin typeface="Calibri" pitchFamily="34" charset="0"/>
                <a:ea typeface="Calibri" pitchFamily="34" charset="-122"/>
                <a:cs typeface="Calibri" pitchFamily="34" charset="-120"/>
              </a:rPr>
              <a:t>Dogfood</a:t>
            </a:r>
            <a:endParaRPr lang="en-US" sz="1200" dirty="0"/>
          </a:p>
        </p:txBody>
      </p:sp>
      <p:sp>
        <p:nvSpPr>
          <p:cNvPr id="9" name="Text 6"/>
          <p:cNvSpPr txBox="1"/>
          <p:nvPr/>
        </p:nvSpPr>
        <p:spPr>
          <a:xfrm>
            <a:off x="566928" y="2971800"/>
            <a:ext cx="1298448" cy="914400"/>
          </a:xfrm>
          <a:prstGeom prst="rect">
            <a:avLst/>
          </a:prstGeom>
          <a:noFill/>
          <a:ln/>
        </p:spPr>
        <p:txBody>
          <a:bodyPr wrap="square" lIns="0" tIns="0" rIns="0" bIns="0" rtlCol="0" anchor="t"/>
          <a:lstStyle/>
          <a:p>
            <a:pPr indent="0" marL="0">
              <a:buNone/>
            </a:pPr>
            <a:r>
              <a:rPr lang="en-US" sz="1000" dirty="0">
                <a:solidFill>
                  <a:srgbClr val="B5A994"/>
                </a:solidFill>
                <a:latin typeface="Calibri" pitchFamily="34" charset="0"/>
                <a:ea typeface="Calibri" pitchFamily="34" charset="-122"/>
                <a:cs typeface="Calibri" pitchFamily="34" charset="-120"/>
              </a:rPr>
              <a:t>Local folders searchable from Claude</a:t>
            </a:r>
            <a:endParaRPr lang="en-US" sz="1000" dirty="0"/>
          </a:p>
        </p:txBody>
      </p:sp>
      <p:pic>
        <p:nvPicPr>
          <p:cNvPr id="10" name="Image 1" descr="preencoded.png">    </p:cNvPr>
          <p:cNvPicPr>
            <a:picLocks noChangeAspect="1"/>
          </p:cNvPicPr>
          <p:nvPr/>
        </p:nvPicPr>
        <p:blipFill>
          <a:blip r:embed="rId2"/>
          <a:stretch>
            <a:fillRect/>
          </a:stretch>
        </p:blipFill>
        <p:spPr>
          <a:xfrm>
            <a:off x="2569464" y="1554480"/>
            <a:ext cx="640080" cy="640080"/>
          </a:xfrm>
          <a:prstGeom prst="rect">
            <a:avLst/>
          </a:prstGeom>
        </p:spPr>
      </p:pic>
      <p:sp>
        <p:nvSpPr>
          <p:cNvPr id="11" name="Text 7"/>
          <p:cNvSpPr txBox="1"/>
          <p:nvPr/>
        </p:nvSpPr>
        <p:spPr>
          <a:xfrm>
            <a:off x="2139696" y="1280160"/>
            <a:ext cx="1499616" cy="182880"/>
          </a:xfrm>
          <a:prstGeom prst="rect">
            <a:avLst/>
          </a:prstGeom>
          <a:noFill/>
          <a:ln/>
        </p:spPr>
        <p:txBody>
          <a:bodyPr wrap="square" lIns="0" tIns="0" rIns="0" bIns="0" rtlCol="0" anchor="t"/>
          <a:lstStyle/>
          <a:p>
            <a:pPr algn="ctr" indent="0" marL="0">
              <a:buNone/>
            </a:pPr>
            <a:r>
              <a:rPr lang="en-US" sz="900" b="1" spc="200" kern="0" dirty="0">
                <a:solidFill>
                  <a:srgbClr val="B5A994"/>
                </a:solidFill>
                <a:latin typeface="Calibri" pitchFamily="34" charset="0"/>
                <a:ea typeface="Calibri" pitchFamily="34" charset="-122"/>
                <a:cs typeface="Calibri" pitchFamily="34" charset="-120"/>
              </a:rPr>
              <a:t>NEXT</a:t>
            </a:r>
            <a:endParaRPr lang="en-US" sz="900" dirty="0"/>
          </a:p>
        </p:txBody>
      </p:sp>
      <p:sp>
        <p:nvSpPr>
          <p:cNvPr id="12" name="Shape 8"/>
          <p:cNvSpPr/>
          <p:nvPr/>
        </p:nvSpPr>
        <p:spPr>
          <a:xfrm>
            <a:off x="2139696" y="2377440"/>
            <a:ext cx="1499616" cy="1325880"/>
          </a:xfrm>
          <a:prstGeom prst="roundRect">
            <a:avLst>
              <a:gd name="adj" fmla="val 5517"/>
            </a:avLst>
          </a:prstGeom>
          <a:solidFill>
            <a:srgbClr val="221B14"/>
          </a:solidFill>
          <a:ln w="9525">
            <a:solidFill>
              <a:srgbClr val="4A3C2C"/>
            </a:solidFill>
            <a:prstDash val="solid"/>
          </a:ln>
        </p:spPr>
      </p:sp>
      <p:sp>
        <p:nvSpPr>
          <p:cNvPr id="13" name="Text 9"/>
          <p:cNvSpPr txBox="1"/>
          <p:nvPr/>
        </p:nvSpPr>
        <p:spPr>
          <a:xfrm>
            <a:off x="2249424" y="2487168"/>
            <a:ext cx="1298448" cy="457200"/>
          </a:xfrm>
          <a:prstGeom prst="rect">
            <a:avLst/>
          </a:prstGeom>
          <a:noFill/>
          <a:ln/>
        </p:spPr>
        <p:txBody>
          <a:bodyPr wrap="square" lIns="0" tIns="0" rIns="0" bIns="0" rtlCol="0" anchor="t"/>
          <a:lstStyle/>
          <a:p>
            <a:pPr indent="0" marL="0">
              <a:buNone/>
            </a:pPr>
            <a:r>
              <a:rPr lang="en-US" sz="1200" b="1" dirty="0">
                <a:solidFill>
                  <a:srgbClr val="F5EEE3"/>
                </a:solidFill>
                <a:latin typeface="Calibri" pitchFamily="34" charset="0"/>
                <a:ea typeface="Calibri" pitchFamily="34" charset="-122"/>
                <a:cs typeface="Calibri" pitchFamily="34" charset="-120"/>
              </a:rPr>
              <a:t>SharePoint &amp; OneDrive</a:t>
            </a:r>
            <a:endParaRPr lang="en-US" sz="1200" dirty="0"/>
          </a:p>
        </p:txBody>
      </p:sp>
      <p:sp>
        <p:nvSpPr>
          <p:cNvPr id="14" name="Text 10"/>
          <p:cNvSpPr txBox="1"/>
          <p:nvPr/>
        </p:nvSpPr>
        <p:spPr>
          <a:xfrm>
            <a:off x="2249424" y="2971800"/>
            <a:ext cx="1298448" cy="914400"/>
          </a:xfrm>
          <a:prstGeom prst="rect">
            <a:avLst/>
          </a:prstGeom>
          <a:noFill/>
          <a:ln/>
        </p:spPr>
        <p:txBody>
          <a:bodyPr wrap="square" lIns="0" tIns="0" rIns="0" bIns="0" rtlCol="0" anchor="t"/>
          <a:lstStyle/>
          <a:p>
            <a:pPr indent="0" marL="0">
              <a:buNone/>
            </a:pPr>
            <a:r>
              <a:rPr lang="en-US" sz="1000" dirty="0">
                <a:solidFill>
                  <a:srgbClr val="B5A994"/>
                </a:solidFill>
                <a:latin typeface="Calibri" pitchFamily="34" charset="0"/>
                <a:ea typeface="Calibri" pitchFamily="34" charset="-122"/>
                <a:cs typeface="Calibri" pitchFamily="34" charset="-120"/>
              </a:rPr>
              <a:t>Indexed in place, permissions imported</a:t>
            </a:r>
            <a:endParaRPr lang="en-US" sz="1000" dirty="0"/>
          </a:p>
        </p:txBody>
      </p:sp>
      <p:pic>
        <p:nvPicPr>
          <p:cNvPr id="15" name="Image 2" descr="preencoded.png">    </p:cNvPr>
          <p:cNvPicPr>
            <a:picLocks noChangeAspect="1"/>
          </p:cNvPicPr>
          <p:nvPr/>
        </p:nvPicPr>
        <p:blipFill>
          <a:blip r:embed="rId3"/>
          <a:stretch>
            <a:fillRect/>
          </a:stretch>
        </p:blipFill>
        <p:spPr>
          <a:xfrm>
            <a:off x="4251960" y="1554480"/>
            <a:ext cx="640080" cy="640080"/>
          </a:xfrm>
          <a:prstGeom prst="rect">
            <a:avLst/>
          </a:prstGeom>
        </p:spPr>
      </p:pic>
      <p:sp>
        <p:nvSpPr>
          <p:cNvPr id="16" name="Text 11"/>
          <p:cNvSpPr txBox="1"/>
          <p:nvPr/>
        </p:nvSpPr>
        <p:spPr>
          <a:xfrm>
            <a:off x="3822192" y="1280160"/>
            <a:ext cx="1499616" cy="182880"/>
          </a:xfrm>
          <a:prstGeom prst="rect">
            <a:avLst/>
          </a:prstGeom>
          <a:noFill/>
          <a:ln/>
        </p:spPr>
        <p:txBody>
          <a:bodyPr wrap="square" lIns="0" tIns="0" rIns="0" bIns="0" rtlCol="0" anchor="t"/>
          <a:lstStyle/>
          <a:p>
            <a:pPr algn="ctr" indent="0" marL="0">
              <a:buNone/>
            </a:pPr>
            <a:r>
              <a:rPr lang="en-US" sz="900" b="1" spc="200" kern="0" dirty="0">
                <a:solidFill>
                  <a:srgbClr val="B5A994"/>
                </a:solidFill>
                <a:latin typeface="Calibri" pitchFamily="34" charset="0"/>
                <a:ea typeface="Calibri" pitchFamily="34" charset="-122"/>
                <a:cs typeface="Calibri" pitchFamily="34" charset="-120"/>
              </a:rPr>
              <a:t>THEN</a:t>
            </a:r>
            <a:endParaRPr lang="en-US" sz="900" dirty="0"/>
          </a:p>
        </p:txBody>
      </p:sp>
      <p:sp>
        <p:nvSpPr>
          <p:cNvPr id="17" name="Shape 12"/>
          <p:cNvSpPr/>
          <p:nvPr/>
        </p:nvSpPr>
        <p:spPr>
          <a:xfrm>
            <a:off x="3822192" y="2377440"/>
            <a:ext cx="1499616" cy="1325880"/>
          </a:xfrm>
          <a:prstGeom prst="roundRect">
            <a:avLst>
              <a:gd name="adj" fmla="val 5517"/>
            </a:avLst>
          </a:prstGeom>
          <a:solidFill>
            <a:srgbClr val="221B14"/>
          </a:solidFill>
          <a:ln w="9525">
            <a:solidFill>
              <a:srgbClr val="4A3C2C"/>
            </a:solidFill>
            <a:prstDash val="solid"/>
          </a:ln>
        </p:spPr>
      </p:sp>
      <p:sp>
        <p:nvSpPr>
          <p:cNvPr id="18" name="Text 13"/>
          <p:cNvSpPr txBox="1"/>
          <p:nvPr/>
        </p:nvSpPr>
        <p:spPr>
          <a:xfrm>
            <a:off x="3931920" y="2487168"/>
            <a:ext cx="1298448" cy="457200"/>
          </a:xfrm>
          <a:prstGeom prst="rect">
            <a:avLst/>
          </a:prstGeom>
          <a:noFill/>
          <a:ln/>
        </p:spPr>
        <p:txBody>
          <a:bodyPr wrap="square" lIns="0" tIns="0" rIns="0" bIns="0" rtlCol="0" anchor="t"/>
          <a:lstStyle/>
          <a:p>
            <a:pPr indent="0" marL="0">
              <a:buNone/>
            </a:pPr>
            <a:r>
              <a:rPr lang="en-US" sz="1200" b="1" dirty="0">
                <a:solidFill>
                  <a:srgbClr val="F5EEE3"/>
                </a:solidFill>
                <a:latin typeface="Calibri" pitchFamily="34" charset="0"/>
                <a:ea typeface="Calibri" pitchFamily="34" charset="-122"/>
                <a:cs typeface="Calibri" pitchFamily="34" charset="-120"/>
              </a:rPr>
              <a:t>M1 release</a:t>
            </a:r>
            <a:endParaRPr lang="en-US" sz="1200" dirty="0"/>
          </a:p>
        </p:txBody>
      </p:sp>
      <p:sp>
        <p:nvSpPr>
          <p:cNvPr id="19" name="Text 14"/>
          <p:cNvSpPr txBox="1"/>
          <p:nvPr/>
        </p:nvSpPr>
        <p:spPr>
          <a:xfrm>
            <a:off x="3931920" y="2971800"/>
            <a:ext cx="1298448" cy="914400"/>
          </a:xfrm>
          <a:prstGeom prst="rect">
            <a:avLst/>
          </a:prstGeom>
          <a:noFill/>
          <a:ln/>
        </p:spPr>
        <p:txBody>
          <a:bodyPr wrap="square" lIns="0" tIns="0" rIns="0" bIns="0" rtlCol="0" anchor="t"/>
          <a:lstStyle/>
          <a:p>
            <a:pPr indent="0" marL="0">
              <a:buNone/>
            </a:pPr>
            <a:r>
              <a:rPr lang="en-US" sz="1000" dirty="0">
                <a:solidFill>
                  <a:srgbClr val="B5A994"/>
                </a:solidFill>
                <a:latin typeface="Calibri" pitchFamily="34" charset="0"/>
                <a:ea typeface="Calibri" pitchFamily="34" charset="-122"/>
                <a:cs typeface="Calibri" pitchFamily="34" charset="-120"/>
              </a:rPr>
              <a:t>Admin web console, health report, one-command install</a:t>
            </a:r>
            <a:endParaRPr lang="en-US" sz="1000" dirty="0"/>
          </a:p>
        </p:txBody>
      </p:sp>
      <p:pic>
        <p:nvPicPr>
          <p:cNvPr id="20" name="Image 3" descr="preencoded.png">    </p:cNvPr>
          <p:cNvPicPr>
            <a:picLocks noChangeAspect="1"/>
          </p:cNvPicPr>
          <p:nvPr/>
        </p:nvPicPr>
        <p:blipFill>
          <a:blip r:embed="rId4"/>
          <a:stretch>
            <a:fillRect/>
          </a:stretch>
        </p:blipFill>
        <p:spPr>
          <a:xfrm>
            <a:off x="5934456" y="1554480"/>
            <a:ext cx="640080" cy="640080"/>
          </a:xfrm>
          <a:prstGeom prst="rect">
            <a:avLst/>
          </a:prstGeom>
        </p:spPr>
      </p:pic>
      <p:sp>
        <p:nvSpPr>
          <p:cNvPr id="21" name="Text 15"/>
          <p:cNvSpPr txBox="1"/>
          <p:nvPr/>
        </p:nvSpPr>
        <p:spPr>
          <a:xfrm>
            <a:off x="5504688" y="1280160"/>
            <a:ext cx="1499616" cy="182880"/>
          </a:xfrm>
          <a:prstGeom prst="rect">
            <a:avLst/>
          </a:prstGeom>
          <a:noFill/>
          <a:ln/>
        </p:spPr>
        <p:txBody>
          <a:bodyPr wrap="square" lIns="0" tIns="0" rIns="0" bIns="0" rtlCol="0" anchor="t"/>
          <a:lstStyle/>
          <a:p>
            <a:pPr algn="ctr" indent="0" marL="0">
              <a:buNone/>
            </a:pPr>
            <a:r>
              <a:rPr lang="en-US" sz="900" b="1" spc="200" kern="0" dirty="0">
                <a:solidFill>
                  <a:srgbClr val="B5A994"/>
                </a:solidFill>
                <a:latin typeface="Calibri" pitchFamily="34" charset="0"/>
                <a:ea typeface="Calibri" pitchFamily="34" charset="-122"/>
                <a:cs typeface="Calibri" pitchFamily="34" charset="-120"/>
              </a:rPr>
              <a:t>M2</a:t>
            </a:r>
            <a:endParaRPr lang="en-US" sz="900" dirty="0"/>
          </a:p>
        </p:txBody>
      </p:sp>
      <p:sp>
        <p:nvSpPr>
          <p:cNvPr id="22" name="Shape 16"/>
          <p:cNvSpPr/>
          <p:nvPr/>
        </p:nvSpPr>
        <p:spPr>
          <a:xfrm>
            <a:off x="5504688" y="2377440"/>
            <a:ext cx="1499616" cy="1325880"/>
          </a:xfrm>
          <a:prstGeom prst="roundRect">
            <a:avLst>
              <a:gd name="adj" fmla="val 5517"/>
            </a:avLst>
          </a:prstGeom>
          <a:solidFill>
            <a:srgbClr val="221B14"/>
          </a:solidFill>
          <a:ln w="9525">
            <a:solidFill>
              <a:srgbClr val="4A3C2C"/>
            </a:solidFill>
            <a:prstDash val="solid"/>
          </a:ln>
        </p:spPr>
      </p:sp>
      <p:sp>
        <p:nvSpPr>
          <p:cNvPr id="23" name="Text 17"/>
          <p:cNvSpPr txBox="1"/>
          <p:nvPr/>
        </p:nvSpPr>
        <p:spPr>
          <a:xfrm>
            <a:off x="5614416" y="2487168"/>
            <a:ext cx="1298448" cy="457200"/>
          </a:xfrm>
          <a:prstGeom prst="rect">
            <a:avLst/>
          </a:prstGeom>
          <a:noFill/>
          <a:ln/>
        </p:spPr>
        <p:txBody>
          <a:bodyPr wrap="square" lIns="0" tIns="0" rIns="0" bIns="0" rtlCol="0" anchor="t"/>
          <a:lstStyle/>
          <a:p>
            <a:pPr indent="0" marL="0">
              <a:buNone/>
            </a:pPr>
            <a:r>
              <a:rPr lang="en-US" sz="1200" b="1" dirty="0">
                <a:solidFill>
                  <a:srgbClr val="F5EEE3"/>
                </a:solidFill>
                <a:latin typeface="Calibri" pitchFamily="34" charset="0"/>
                <a:ea typeface="Calibri" pitchFamily="34" charset="-122"/>
                <a:cs typeface="Calibri" pitchFamily="34" charset="-120"/>
              </a:rPr>
              <a:t>Open in native app</a:t>
            </a:r>
            <a:endParaRPr lang="en-US" sz="1200" dirty="0"/>
          </a:p>
        </p:txBody>
      </p:sp>
      <p:sp>
        <p:nvSpPr>
          <p:cNvPr id="24" name="Text 18"/>
          <p:cNvSpPr txBox="1"/>
          <p:nvPr/>
        </p:nvSpPr>
        <p:spPr>
          <a:xfrm>
            <a:off x="5614416" y="2971800"/>
            <a:ext cx="1298448" cy="914400"/>
          </a:xfrm>
          <a:prstGeom prst="rect">
            <a:avLst/>
          </a:prstGeom>
          <a:noFill/>
          <a:ln/>
        </p:spPr>
        <p:txBody>
          <a:bodyPr wrap="square" lIns="0" tIns="0" rIns="0" bIns="0" rtlCol="0" anchor="t"/>
          <a:lstStyle/>
          <a:p>
            <a:pPr indent="0" marL="0">
              <a:buNone/>
            </a:pPr>
            <a:r>
              <a:rPr lang="en-US" sz="1000" dirty="0">
                <a:solidFill>
                  <a:srgbClr val="B5A994"/>
                </a:solidFill>
                <a:latin typeface="Calibri" pitchFamily="34" charset="0"/>
                <a:ea typeface="Calibri" pitchFamily="34" charset="-122"/>
                <a:cs typeface="Calibri" pitchFamily="34" charset="-120"/>
              </a:rPr>
              <a:t>Word, Excel and friends via a local agent</a:t>
            </a:r>
            <a:endParaRPr lang="en-US" sz="1000" dirty="0"/>
          </a:p>
        </p:txBody>
      </p:sp>
      <p:pic>
        <p:nvPicPr>
          <p:cNvPr id="25" name="Image 4" descr="preencoded.png">    </p:cNvPr>
          <p:cNvPicPr>
            <a:picLocks noChangeAspect="1"/>
          </p:cNvPicPr>
          <p:nvPr/>
        </p:nvPicPr>
        <p:blipFill>
          <a:blip r:embed="rId5"/>
          <a:stretch>
            <a:fillRect/>
          </a:stretch>
        </p:blipFill>
        <p:spPr>
          <a:xfrm>
            <a:off x="7616952" y="1554480"/>
            <a:ext cx="640080" cy="640080"/>
          </a:xfrm>
          <a:prstGeom prst="rect">
            <a:avLst/>
          </a:prstGeom>
        </p:spPr>
      </p:pic>
      <p:sp>
        <p:nvSpPr>
          <p:cNvPr id="26" name="Text 19"/>
          <p:cNvSpPr txBox="1"/>
          <p:nvPr/>
        </p:nvSpPr>
        <p:spPr>
          <a:xfrm>
            <a:off x="7187184" y="1280160"/>
            <a:ext cx="1499616" cy="182880"/>
          </a:xfrm>
          <a:prstGeom prst="rect">
            <a:avLst/>
          </a:prstGeom>
          <a:noFill/>
          <a:ln/>
        </p:spPr>
        <p:txBody>
          <a:bodyPr wrap="square" lIns="0" tIns="0" rIns="0" bIns="0" rtlCol="0" anchor="t"/>
          <a:lstStyle/>
          <a:p>
            <a:pPr algn="ctr" indent="0" marL="0">
              <a:buNone/>
            </a:pPr>
            <a:r>
              <a:rPr lang="en-US" sz="900" b="1" spc="200" kern="0" dirty="0">
                <a:solidFill>
                  <a:srgbClr val="B5A994"/>
                </a:solidFill>
                <a:latin typeface="Calibri" pitchFamily="34" charset="0"/>
                <a:ea typeface="Calibri" pitchFamily="34" charset="-122"/>
                <a:cs typeface="Calibri" pitchFamily="34" charset="-120"/>
              </a:rPr>
              <a:t>LATER</a:t>
            </a:r>
            <a:endParaRPr lang="en-US" sz="900" dirty="0"/>
          </a:p>
        </p:txBody>
      </p:sp>
      <p:sp>
        <p:nvSpPr>
          <p:cNvPr id="27" name="Shape 20"/>
          <p:cNvSpPr/>
          <p:nvPr/>
        </p:nvSpPr>
        <p:spPr>
          <a:xfrm>
            <a:off x="7187184" y="2377440"/>
            <a:ext cx="1499616" cy="1325880"/>
          </a:xfrm>
          <a:prstGeom prst="roundRect">
            <a:avLst>
              <a:gd name="adj" fmla="val 5517"/>
            </a:avLst>
          </a:prstGeom>
          <a:solidFill>
            <a:srgbClr val="221B14"/>
          </a:solidFill>
          <a:ln w="9525">
            <a:solidFill>
              <a:srgbClr val="4A3C2C"/>
            </a:solidFill>
            <a:prstDash val="solid"/>
          </a:ln>
        </p:spPr>
      </p:sp>
      <p:sp>
        <p:nvSpPr>
          <p:cNvPr id="28" name="Text 21"/>
          <p:cNvSpPr txBox="1"/>
          <p:nvPr/>
        </p:nvSpPr>
        <p:spPr>
          <a:xfrm>
            <a:off x="7296912" y="2487168"/>
            <a:ext cx="1298448" cy="457200"/>
          </a:xfrm>
          <a:prstGeom prst="rect">
            <a:avLst/>
          </a:prstGeom>
          <a:noFill/>
          <a:ln/>
        </p:spPr>
        <p:txBody>
          <a:bodyPr wrap="square" lIns="0" tIns="0" rIns="0" bIns="0" rtlCol="0" anchor="t"/>
          <a:lstStyle/>
          <a:p>
            <a:pPr indent="0" marL="0">
              <a:buNone/>
            </a:pPr>
            <a:r>
              <a:rPr lang="en-US" sz="1200" b="1" dirty="0">
                <a:solidFill>
                  <a:srgbClr val="F5EEE3"/>
                </a:solidFill>
                <a:latin typeface="Calibri" pitchFamily="34" charset="0"/>
                <a:ea typeface="Calibri" pitchFamily="34" charset="-122"/>
                <a:cs typeface="Calibri" pitchFamily="34" charset="-120"/>
              </a:rPr>
              <a:t>Packs and apps</a:t>
            </a:r>
            <a:endParaRPr lang="en-US" sz="1200" dirty="0"/>
          </a:p>
        </p:txBody>
      </p:sp>
      <p:sp>
        <p:nvSpPr>
          <p:cNvPr id="29" name="Text 22"/>
          <p:cNvSpPr txBox="1"/>
          <p:nvPr/>
        </p:nvSpPr>
        <p:spPr>
          <a:xfrm>
            <a:off x="7296912" y="2971800"/>
            <a:ext cx="1298448" cy="914400"/>
          </a:xfrm>
          <a:prstGeom prst="rect">
            <a:avLst/>
          </a:prstGeom>
          <a:noFill/>
          <a:ln/>
        </p:spPr>
        <p:txBody>
          <a:bodyPr wrap="square" lIns="0" tIns="0" rIns="0" bIns="0" rtlCol="0" anchor="t"/>
          <a:lstStyle/>
          <a:p>
            <a:pPr indent="0" marL="0">
              <a:buNone/>
            </a:pPr>
            <a:r>
              <a:rPr lang="en-US" sz="1000" dirty="0">
                <a:solidFill>
                  <a:srgbClr val="B5A994"/>
                </a:solidFill>
                <a:latin typeface="Calibri" pitchFamily="34" charset="0"/>
                <a:ea typeface="Calibri" pitchFamily="34" charset="-122"/>
                <a:cs typeface="Calibri" pitchFamily="34" charset="-120"/>
              </a:rPr>
              <a:t>Policy packs (HIPAA, SOC 2, legal hold), hosted apps</a:t>
            </a:r>
            <a:endParaRPr lang="en-US" sz="1000" dirty="0"/>
          </a:p>
        </p:txBody>
      </p:sp>
      <p:sp>
        <p:nvSpPr>
          <p:cNvPr id="30" name="Text 23"/>
          <p:cNvSpPr txBox="1"/>
          <p:nvPr/>
        </p:nvSpPr>
        <p:spPr>
          <a:xfrm>
            <a:off x="457200" y="4023360"/>
            <a:ext cx="8229600" cy="274320"/>
          </a:xfrm>
          <a:prstGeom prst="rect">
            <a:avLst/>
          </a:prstGeom>
          <a:noFill/>
          <a:ln/>
        </p:spPr>
        <p:txBody>
          <a:bodyPr wrap="square" lIns="0" tIns="0" rIns="0" bIns="0" rtlCol="0" anchor="t"/>
          <a:lstStyle/>
          <a:p>
            <a:pPr indent="0" marL="0">
              <a:buNone/>
            </a:pPr>
            <a:r>
              <a:rPr lang="en-US" sz="1000" i="1" dirty="0">
                <a:solidFill>
                  <a:srgbClr val="B5A994"/>
                </a:solidFill>
                <a:latin typeface="Calibri" pitchFamily="34" charset="0"/>
                <a:ea typeface="Calibri" pitchFamily="34" charset="-122"/>
                <a:cs typeface="Calibri" pitchFamily="34" charset="-120"/>
              </a:rPr>
              <a:t>Order set by the maintainer: usable through Claude first, then SharePoint, then the admin console.</a:t>
            </a:r>
            <a:endParaRPr lang="en-US" sz="1000" dirty="0"/>
          </a:p>
        </p:txBody>
      </p:sp>
      <p:pic>
        <p:nvPicPr>
          <p:cNvPr id="31" name="Image 5" descr="preencoded.png">    </p:cNvPr>
          <p:cNvPicPr>
            <a:picLocks noChangeAspect="1"/>
          </p:cNvPicPr>
          <p:nvPr/>
        </p:nvPicPr>
        <p:blipFill>
          <a:blip r:embed="rId6"/>
          <a:stretch>
            <a:fillRect/>
          </a:stretch>
        </p:blipFill>
        <p:spPr>
          <a:xfrm>
            <a:off x="457200" y="4754880"/>
            <a:ext cx="182880" cy="182880"/>
          </a:xfrm>
          <a:prstGeom prst="rect">
            <a:avLst/>
          </a:prstGeom>
        </p:spPr>
      </p:pic>
      <p:sp>
        <p:nvSpPr>
          <p:cNvPr id="32" name="Text 24"/>
          <p:cNvSpPr txBox="1"/>
          <p:nvPr/>
        </p:nvSpPr>
        <p:spPr>
          <a:xfrm>
            <a:off x="694944" y="4754880"/>
            <a:ext cx="1828800" cy="182880"/>
          </a:xfrm>
          <a:prstGeom prst="rect">
            <a:avLst/>
          </a:prstGeom>
          <a:noFill/>
          <a:ln/>
        </p:spPr>
        <p:txBody>
          <a:bodyPr wrap="square" lIns="0" tIns="0" rIns="0" bIns="0" rtlCol="0" anchor="ctr"/>
          <a:lstStyle/>
          <a:p>
            <a:pPr indent="0" marL="0">
              <a:buNone/>
            </a:pPr>
            <a:r>
              <a:rPr lang="en-US" sz="900" dirty="0">
                <a:solidFill>
                  <a:srgbClr val="B5A994"/>
                </a:solidFill>
                <a:latin typeface="Calibri" pitchFamily="34" charset="0"/>
                <a:ea typeface="Calibri" pitchFamily="34" charset="-122"/>
                <a:cs typeface="Calibri" pitchFamily="34" charset="-120"/>
              </a:rPr>
              <a:t>OpenHoard</a:t>
            </a:r>
            <a:endParaRPr lang="en-US" sz="900" dirty="0"/>
          </a:p>
        </p:txBody>
      </p:sp>
      <p:sp>
        <p:nvSpPr>
          <p:cNvPr id="33" name="Text 25"/>
          <p:cNvSpPr txBox="1"/>
          <p:nvPr/>
        </p:nvSpPr>
        <p:spPr>
          <a:xfrm>
            <a:off x="7772400" y="4754880"/>
            <a:ext cx="914400" cy="182880"/>
          </a:xfrm>
          <a:prstGeom prst="rect">
            <a:avLst/>
          </a:prstGeom>
          <a:noFill/>
          <a:ln/>
        </p:spPr>
        <p:txBody>
          <a:bodyPr wrap="square" lIns="0" tIns="0" rIns="0" bIns="0" rtlCol="0" anchor="ctr"/>
          <a:lstStyle/>
          <a:p>
            <a:pPr algn="r" indent="0" marL="0">
              <a:buNone/>
            </a:pPr>
            <a:r>
              <a:rPr lang="en-US" sz="900" dirty="0">
                <a:solidFill>
                  <a:srgbClr val="B5A99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6035040" y="1234440"/>
            <a:ext cx="2468880" cy="2468880"/>
          </a:xfrm>
          <a:prstGeom prst="rect">
            <a:avLst/>
          </a:prstGeom>
        </p:spPr>
      </p:pic>
      <p:sp>
        <p:nvSpPr>
          <p:cNvPr id="3" name="Text 0"/>
          <p:cNvSpPr txBox="1"/>
          <p:nvPr/>
        </p:nvSpPr>
        <p:spPr>
          <a:xfrm>
            <a:off x="457200" y="914400"/>
            <a:ext cx="5303520" cy="1463040"/>
          </a:xfrm>
          <a:prstGeom prst="rect">
            <a:avLst/>
          </a:prstGeom>
          <a:noFill/>
          <a:ln/>
        </p:spPr>
        <p:txBody>
          <a:bodyPr wrap="square" lIns="0" tIns="0" rIns="0" bIns="0" rtlCol="0" anchor="t"/>
          <a:lstStyle/>
          <a:p>
            <a:pPr indent="0" marL="0">
              <a:buNone/>
            </a:pPr>
            <a:r>
              <a:rPr lang="en-US" sz="4400" b="1" dirty="0">
                <a:solidFill>
                  <a:srgbClr val="F5EEE3"/>
                </a:solidFill>
                <a:latin typeface="Cambria" pitchFamily="34" charset="0"/>
                <a:ea typeface="Cambria" pitchFamily="34" charset="-122"/>
                <a:cs typeface="Cambria" pitchFamily="34" charset="-120"/>
              </a:rPr>
              <a:t>Stop filing.</a:t>
            </a:r>
            <a:endParaRPr lang="en-US" sz="4400" dirty="0"/>
          </a:p>
          <a:p>
            <a:pPr indent="0" marL="0">
              <a:buNone/>
            </a:pPr>
            <a:r>
              <a:rPr lang="en-US" sz="4400" b="1" dirty="0">
                <a:solidFill>
                  <a:srgbClr val="F5EEE3"/>
                </a:solidFill>
                <a:latin typeface="Cambria" pitchFamily="34" charset="0"/>
                <a:ea typeface="Cambria" pitchFamily="34" charset="-122"/>
                <a:cs typeface="Cambria" pitchFamily="34" charset="-120"/>
              </a:rPr>
              <a:t>Start finding.</a:t>
            </a:r>
            <a:endParaRPr lang="en-US" sz="4400" dirty="0"/>
          </a:p>
        </p:txBody>
      </p:sp>
      <p:sp>
        <p:nvSpPr>
          <p:cNvPr id="4" name="Text 1"/>
          <p:cNvSpPr txBox="1"/>
          <p:nvPr/>
        </p:nvSpPr>
        <p:spPr>
          <a:xfrm>
            <a:off x="457200" y="2423160"/>
            <a:ext cx="5303520" cy="411480"/>
          </a:xfrm>
          <a:prstGeom prst="rect">
            <a:avLst/>
          </a:prstGeom>
          <a:noFill/>
          <a:ln/>
        </p:spPr>
        <p:txBody>
          <a:bodyPr wrap="square" lIns="0" tIns="0" rIns="0" bIns="0" rtlCol="0" anchor="t"/>
          <a:lstStyle/>
          <a:p>
            <a:pPr indent="0" marL="0">
              <a:buNone/>
            </a:pPr>
            <a:r>
              <a:rPr lang="en-US" sz="1800" i="1" dirty="0">
                <a:solidFill>
                  <a:srgbClr val="F2A93B"/>
                </a:solidFill>
                <a:latin typeface="Cambria" pitchFamily="34" charset="0"/>
                <a:ea typeface="Cambria" pitchFamily="34" charset="-122"/>
                <a:cs typeface="Cambria" pitchFamily="34" charset="-120"/>
              </a:rPr>
              <a:t>Keep your storage. Lose the chaos.</a:t>
            </a:r>
            <a:endParaRPr lang="en-US" sz="1800" dirty="0"/>
          </a:p>
        </p:txBody>
      </p:sp>
      <p:pic>
        <p:nvPicPr>
          <p:cNvPr id="5" name="Image 1" descr="preencoded.png">    </p:cNvPr>
          <p:cNvPicPr>
            <a:picLocks noChangeAspect="1"/>
          </p:cNvPicPr>
          <p:nvPr/>
        </p:nvPicPr>
        <p:blipFill>
          <a:blip r:embed="rId3"/>
          <a:stretch>
            <a:fillRect/>
          </a:stretch>
        </p:blipFill>
        <p:spPr>
          <a:xfrm>
            <a:off x="457200" y="3063240"/>
            <a:ext cx="347472" cy="347472"/>
          </a:xfrm>
          <a:prstGeom prst="rect">
            <a:avLst/>
          </a:prstGeom>
        </p:spPr>
      </p:pic>
      <p:sp>
        <p:nvSpPr>
          <p:cNvPr id="6" name="Text 2"/>
          <p:cNvSpPr txBox="1"/>
          <p:nvPr/>
        </p:nvSpPr>
        <p:spPr>
          <a:xfrm>
            <a:off x="914400" y="3063240"/>
            <a:ext cx="4572000" cy="347472"/>
          </a:xfrm>
          <a:prstGeom prst="rect">
            <a:avLst/>
          </a:prstGeom>
          <a:noFill/>
          <a:ln/>
        </p:spPr>
        <p:txBody>
          <a:bodyPr wrap="square" lIns="0" tIns="0" rIns="0" bIns="0" rtlCol="0" anchor="ctr"/>
          <a:lstStyle/>
          <a:p>
            <a:pPr indent="0" marL="0">
              <a:buNone/>
            </a:pPr>
            <a:r>
              <a:rPr lang="en-US" sz="1300" dirty="0">
                <a:solidFill>
                  <a:srgbClr val="F5EEE3"/>
                </a:solidFill>
                <a:latin typeface="Calibri" pitchFamily="34" charset="0"/>
                <a:ea typeface="Calibri" pitchFamily="34" charset="-122"/>
                <a:cs typeface="Calibri" pitchFamily="34" charset="-120"/>
              </a:rPr>
              <a:t>Pilot idea: one team share, one AI assistant</a:t>
            </a:r>
            <a:endParaRPr lang="en-US" sz="1300" dirty="0"/>
          </a:p>
        </p:txBody>
      </p:sp>
      <p:pic>
        <p:nvPicPr>
          <p:cNvPr id="7" name="Image 2" descr="preencoded.png">    </p:cNvPr>
          <p:cNvPicPr>
            <a:picLocks noChangeAspect="1"/>
          </p:cNvPicPr>
          <p:nvPr/>
        </p:nvPicPr>
        <p:blipFill>
          <a:blip r:embed="rId4"/>
          <a:stretch>
            <a:fillRect/>
          </a:stretch>
        </p:blipFill>
        <p:spPr>
          <a:xfrm>
            <a:off x="457200" y="3520440"/>
            <a:ext cx="347472" cy="347472"/>
          </a:xfrm>
          <a:prstGeom prst="rect">
            <a:avLst/>
          </a:prstGeom>
        </p:spPr>
      </p:pic>
      <p:sp>
        <p:nvSpPr>
          <p:cNvPr id="8" name="Text 3"/>
          <p:cNvSpPr txBox="1"/>
          <p:nvPr/>
        </p:nvSpPr>
        <p:spPr>
          <a:xfrm>
            <a:off x="914400" y="3520440"/>
            <a:ext cx="4572000" cy="347472"/>
          </a:xfrm>
          <a:prstGeom prst="rect">
            <a:avLst/>
          </a:prstGeom>
          <a:noFill/>
          <a:ln/>
        </p:spPr>
        <p:txBody>
          <a:bodyPr wrap="square" lIns="0" tIns="0" rIns="0" bIns="0" rtlCol="0" anchor="ctr"/>
          <a:lstStyle/>
          <a:p>
            <a:pPr indent="0" marL="0">
              <a:buNone/>
            </a:pPr>
            <a:r>
              <a:rPr lang="en-US" sz="1300" dirty="0">
                <a:solidFill>
                  <a:srgbClr val="F5EEE3"/>
                </a:solidFill>
                <a:latin typeface="Calibri" pitchFamily="34" charset="0"/>
                <a:ea typeface="Calibri" pitchFamily="34" charset="-122"/>
                <a:cs typeface="Calibri" pitchFamily="34" charset="-120"/>
              </a:rPr>
              <a:t>Tell us what your security review would ask</a:t>
            </a:r>
            <a:endParaRPr lang="en-US" sz="1300" dirty="0"/>
          </a:p>
        </p:txBody>
      </p:sp>
      <p:pic>
        <p:nvPicPr>
          <p:cNvPr id="9" name="Image 3" descr="preencoded.png">    </p:cNvPr>
          <p:cNvPicPr>
            <a:picLocks noChangeAspect="1"/>
          </p:cNvPicPr>
          <p:nvPr/>
        </p:nvPicPr>
        <p:blipFill>
          <a:blip r:embed="rId5"/>
          <a:stretch>
            <a:fillRect/>
          </a:stretch>
        </p:blipFill>
        <p:spPr>
          <a:xfrm>
            <a:off x="457200" y="3977640"/>
            <a:ext cx="347472" cy="347472"/>
          </a:xfrm>
          <a:prstGeom prst="rect">
            <a:avLst/>
          </a:prstGeom>
        </p:spPr>
      </p:pic>
      <p:sp>
        <p:nvSpPr>
          <p:cNvPr id="10" name="Text 4"/>
          <p:cNvSpPr txBox="1"/>
          <p:nvPr/>
        </p:nvSpPr>
        <p:spPr>
          <a:xfrm>
            <a:off x="914400" y="3977640"/>
            <a:ext cx="4572000" cy="347472"/>
          </a:xfrm>
          <a:prstGeom prst="rect">
            <a:avLst/>
          </a:prstGeom>
          <a:noFill/>
          <a:ln/>
        </p:spPr>
        <p:txBody>
          <a:bodyPr wrap="square" lIns="0" tIns="0" rIns="0" bIns="0" rtlCol="0" anchor="ctr"/>
          <a:lstStyle/>
          <a:p>
            <a:pPr indent="0" marL="0">
              <a:buNone/>
            </a:pPr>
            <a:r>
              <a:rPr lang="en-US" sz="1300" dirty="0">
                <a:solidFill>
                  <a:srgbClr val="F5EEE3"/>
                </a:solidFill>
                <a:latin typeface="Calibri" pitchFamily="34" charset="0"/>
                <a:ea typeface="Calibri" pitchFamily="34" charset="-122"/>
                <a:cs typeface="Calibri" pitchFamily="34" charset="-120"/>
              </a:rPr>
              <a:t>github.com/openhoard/openhoard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OpenHoard: the AI filesystem (IT overview)</dc:title>
  <dc:subject>PptxGenJS Presentation</dc:subject>
  <dc:creator>Steve Cook</dc:creator>
  <cp:lastModifiedBy>Steve Cook</cp:lastModifiedBy>
  <cp:revision>1</cp:revision>
  <dcterms:created xsi:type="dcterms:W3CDTF">2026-09-28T18:31:54Z</dcterms:created>
  <dcterms:modified xsi:type="dcterms:W3CDTF">2026-09-28T18:31:54Z</dcterms:modified>
</cp:coreProperties>
</file>